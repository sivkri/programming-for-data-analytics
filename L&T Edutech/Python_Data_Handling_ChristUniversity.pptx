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262" autoAdjust="0"/>
  </p:normalViewPr>
  <p:slideViewPr>
    <p:cSldViewPr snapToGrid="0" snapToObjects="1">
      <p:cViewPr varScale="1">
        <p:scale>
          <a:sx n="87" d="100"/>
          <a:sy n="87" d="100"/>
        </p:scale>
        <p:origin x="108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448E9C-4F4D-447A-ADF9-7E5DC547DE7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43B56B-4DBD-4081-B1AC-577493A334CE}">
      <dgm:prSet/>
      <dgm:spPr/>
      <dgm:t>
        <a:bodyPr/>
        <a:lstStyle/>
        <a:p>
          <a:r>
            <a:rPr lang="en-GB"/>
            <a:t>Introduction</a:t>
          </a:r>
          <a:endParaRPr lang="en-US"/>
        </a:p>
      </dgm:t>
    </dgm:pt>
    <dgm:pt modelId="{169F375E-AD2A-4171-AD22-375A8DA2978D}" type="parTrans" cxnId="{1FB20B1D-61AF-4447-BE65-5BD929395E3D}">
      <dgm:prSet/>
      <dgm:spPr/>
      <dgm:t>
        <a:bodyPr/>
        <a:lstStyle/>
        <a:p>
          <a:endParaRPr lang="en-US"/>
        </a:p>
      </dgm:t>
    </dgm:pt>
    <dgm:pt modelId="{A9E4D07B-BD31-4726-AE19-31C49A3C6864}" type="sibTrans" cxnId="{1FB20B1D-61AF-4447-BE65-5BD929395E3D}">
      <dgm:prSet/>
      <dgm:spPr/>
      <dgm:t>
        <a:bodyPr/>
        <a:lstStyle/>
        <a:p>
          <a:endParaRPr lang="en-US"/>
        </a:p>
      </dgm:t>
    </dgm:pt>
    <dgm:pt modelId="{FB8ABA17-73BB-42EE-BBA6-BCEE01D32C72}">
      <dgm:prSet/>
      <dgm:spPr/>
      <dgm:t>
        <a:bodyPr/>
        <a:lstStyle/>
        <a:p>
          <a:r>
            <a:rPr lang="en-GB"/>
            <a:t>Python Ecosystem</a:t>
          </a:r>
          <a:endParaRPr lang="en-US"/>
        </a:p>
      </dgm:t>
    </dgm:pt>
    <dgm:pt modelId="{53F6C473-7DD2-4074-95E7-1B76A8840EA4}" type="parTrans" cxnId="{5B905C67-DAC8-4648-9DF8-F2C2F0EA7E4C}">
      <dgm:prSet/>
      <dgm:spPr/>
      <dgm:t>
        <a:bodyPr/>
        <a:lstStyle/>
        <a:p>
          <a:endParaRPr lang="en-US"/>
        </a:p>
      </dgm:t>
    </dgm:pt>
    <dgm:pt modelId="{2B59AEAB-3A50-435E-BB1B-C9801C8B2742}" type="sibTrans" cxnId="{5B905C67-DAC8-4648-9DF8-F2C2F0EA7E4C}">
      <dgm:prSet/>
      <dgm:spPr/>
      <dgm:t>
        <a:bodyPr/>
        <a:lstStyle/>
        <a:p>
          <a:endParaRPr lang="en-US"/>
        </a:p>
      </dgm:t>
    </dgm:pt>
    <dgm:pt modelId="{D7825A0B-10D6-445D-8766-56FBB0909ACE}">
      <dgm:prSet/>
      <dgm:spPr/>
      <dgm:t>
        <a:bodyPr/>
        <a:lstStyle/>
        <a:p>
          <a:r>
            <a:rPr lang="en-GB"/>
            <a:t>Data Handling</a:t>
          </a:r>
          <a:endParaRPr lang="en-US"/>
        </a:p>
      </dgm:t>
    </dgm:pt>
    <dgm:pt modelId="{ED74FD49-70CA-4E8A-B7F7-633DEB20F0F2}" type="parTrans" cxnId="{9B7344B5-35E0-4774-8A41-967C13C8F0A7}">
      <dgm:prSet/>
      <dgm:spPr/>
      <dgm:t>
        <a:bodyPr/>
        <a:lstStyle/>
        <a:p>
          <a:endParaRPr lang="en-US"/>
        </a:p>
      </dgm:t>
    </dgm:pt>
    <dgm:pt modelId="{DB19E684-CAA6-403C-9826-FC34644939B4}" type="sibTrans" cxnId="{9B7344B5-35E0-4774-8A41-967C13C8F0A7}">
      <dgm:prSet/>
      <dgm:spPr/>
      <dgm:t>
        <a:bodyPr/>
        <a:lstStyle/>
        <a:p>
          <a:endParaRPr lang="en-US"/>
        </a:p>
      </dgm:t>
    </dgm:pt>
    <dgm:pt modelId="{6D987B81-0ABD-482E-AD94-D0637D9FF5DF}">
      <dgm:prSet/>
      <dgm:spPr/>
      <dgm:t>
        <a:bodyPr/>
        <a:lstStyle/>
        <a:p>
          <a:r>
            <a:rPr lang="en-GB"/>
            <a:t>Data Preprocessing</a:t>
          </a:r>
          <a:endParaRPr lang="en-US"/>
        </a:p>
      </dgm:t>
    </dgm:pt>
    <dgm:pt modelId="{6C4EE183-74CC-4AB2-8AA2-09A9790150C0}" type="parTrans" cxnId="{E58B63A1-943C-4B23-AB75-75503EAA1298}">
      <dgm:prSet/>
      <dgm:spPr/>
      <dgm:t>
        <a:bodyPr/>
        <a:lstStyle/>
        <a:p>
          <a:endParaRPr lang="en-US"/>
        </a:p>
      </dgm:t>
    </dgm:pt>
    <dgm:pt modelId="{61047696-7DC2-4C73-B22B-936592A90BF7}" type="sibTrans" cxnId="{E58B63A1-943C-4B23-AB75-75503EAA1298}">
      <dgm:prSet/>
      <dgm:spPr/>
      <dgm:t>
        <a:bodyPr/>
        <a:lstStyle/>
        <a:p>
          <a:endParaRPr lang="en-US"/>
        </a:p>
      </dgm:t>
    </dgm:pt>
    <dgm:pt modelId="{945DB945-019D-4A1D-8B98-F6242C5F8298}">
      <dgm:prSet/>
      <dgm:spPr/>
      <dgm:t>
        <a:bodyPr/>
        <a:lstStyle/>
        <a:p>
          <a:r>
            <a:rPr lang="en-GB"/>
            <a:t>Mini Demo / Example</a:t>
          </a:r>
          <a:endParaRPr lang="en-US"/>
        </a:p>
      </dgm:t>
    </dgm:pt>
    <dgm:pt modelId="{7D68445E-79B4-456F-A773-4BABFCA04391}" type="parTrans" cxnId="{8E587ECF-F4E3-4CA1-BAE3-4D08D910A2FF}">
      <dgm:prSet/>
      <dgm:spPr/>
      <dgm:t>
        <a:bodyPr/>
        <a:lstStyle/>
        <a:p>
          <a:endParaRPr lang="en-US"/>
        </a:p>
      </dgm:t>
    </dgm:pt>
    <dgm:pt modelId="{F62ABB66-C353-44DB-85C7-CD55923820FA}" type="sibTrans" cxnId="{8E587ECF-F4E3-4CA1-BAE3-4D08D910A2FF}">
      <dgm:prSet/>
      <dgm:spPr/>
      <dgm:t>
        <a:bodyPr/>
        <a:lstStyle/>
        <a:p>
          <a:endParaRPr lang="en-US"/>
        </a:p>
      </dgm:t>
    </dgm:pt>
    <dgm:pt modelId="{6F6E9591-EE5E-4991-8920-268C4DEAA328}">
      <dgm:prSet/>
      <dgm:spPr/>
      <dgm:t>
        <a:bodyPr/>
        <a:lstStyle/>
        <a:p>
          <a:r>
            <a:rPr lang="en-GB"/>
            <a:t>Conclusion &amp; Q/A</a:t>
          </a:r>
          <a:endParaRPr lang="en-US"/>
        </a:p>
      </dgm:t>
    </dgm:pt>
    <dgm:pt modelId="{A8B4A9DC-341E-4345-9E92-3490D9E38FA6}" type="parTrans" cxnId="{C6D2098A-8F02-4133-9213-E556C66BE0C7}">
      <dgm:prSet/>
      <dgm:spPr/>
      <dgm:t>
        <a:bodyPr/>
        <a:lstStyle/>
        <a:p>
          <a:endParaRPr lang="en-US"/>
        </a:p>
      </dgm:t>
    </dgm:pt>
    <dgm:pt modelId="{97C1C2E8-BF1B-4EE6-A379-57819448C117}" type="sibTrans" cxnId="{C6D2098A-8F02-4133-9213-E556C66BE0C7}">
      <dgm:prSet/>
      <dgm:spPr/>
      <dgm:t>
        <a:bodyPr/>
        <a:lstStyle/>
        <a:p>
          <a:endParaRPr lang="en-US"/>
        </a:p>
      </dgm:t>
    </dgm:pt>
    <dgm:pt modelId="{0F2683B7-0BB3-4970-81C5-CE5C04319A3D}" type="pres">
      <dgm:prSet presAssocID="{48448E9C-4F4D-447A-ADF9-7E5DC547DE76}" presName="linear" presStyleCnt="0">
        <dgm:presLayoutVars>
          <dgm:animLvl val="lvl"/>
          <dgm:resizeHandles val="exact"/>
        </dgm:presLayoutVars>
      </dgm:prSet>
      <dgm:spPr/>
    </dgm:pt>
    <dgm:pt modelId="{67CF541E-FEA6-42FC-8CD6-316B34389071}" type="pres">
      <dgm:prSet presAssocID="{5243B56B-4DBD-4081-B1AC-577493A334C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C8161D3-6C90-45C0-8DA0-0BA612CDE5E9}" type="pres">
      <dgm:prSet presAssocID="{A9E4D07B-BD31-4726-AE19-31C49A3C6864}" presName="spacer" presStyleCnt="0"/>
      <dgm:spPr/>
    </dgm:pt>
    <dgm:pt modelId="{9CF82910-1396-4998-8DA1-933DE13D9C4E}" type="pres">
      <dgm:prSet presAssocID="{FB8ABA17-73BB-42EE-BBA6-BCEE01D32C7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D4C92B0-31F8-4EB6-BE6A-89B17585CBD6}" type="pres">
      <dgm:prSet presAssocID="{2B59AEAB-3A50-435E-BB1B-C9801C8B2742}" presName="spacer" presStyleCnt="0"/>
      <dgm:spPr/>
    </dgm:pt>
    <dgm:pt modelId="{7FD553BE-4254-4B4D-871C-CDF54A09E4FA}" type="pres">
      <dgm:prSet presAssocID="{D7825A0B-10D6-445D-8766-56FBB0909AC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EFB88D0-9CDD-4249-8143-47E9B831B3B3}" type="pres">
      <dgm:prSet presAssocID="{DB19E684-CAA6-403C-9826-FC34644939B4}" presName="spacer" presStyleCnt="0"/>
      <dgm:spPr/>
    </dgm:pt>
    <dgm:pt modelId="{5240B375-1C2D-4C7E-BDC2-3679DD5208D3}" type="pres">
      <dgm:prSet presAssocID="{6D987B81-0ABD-482E-AD94-D0637D9FF5D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14BEA7D-40E8-416F-95AE-F001BF6D4E2B}" type="pres">
      <dgm:prSet presAssocID="{61047696-7DC2-4C73-B22B-936592A90BF7}" presName="spacer" presStyleCnt="0"/>
      <dgm:spPr/>
    </dgm:pt>
    <dgm:pt modelId="{C8C18F62-EC74-4600-99ED-0CE3D1625E63}" type="pres">
      <dgm:prSet presAssocID="{945DB945-019D-4A1D-8B98-F6242C5F829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BBC591E-953E-4B2A-A0F5-2C543A5C8DDD}" type="pres">
      <dgm:prSet presAssocID="{F62ABB66-C353-44DB-85C7-CD55923820FA}" presName="spacer" presStyleCnt="0"/>
      <dgm:spPr/>
    </dgm:pt>
    <dgm:pt modelId="{E0CF9486-A07A-4D26-9C0D-D148A0C95329}" type="pres">
      <dgm:prSet presAssocID="{6F6E9591-EE5E-4991-8920-268C4DEAA32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49F7D03-05DD-495F-A3D9-F4AFC3BE2DB6}" type="presOf" srcId="{FB8ABA17-73BB-42EE-BBA6-BCEE01D32C72}" destId="{9CF82910-1396-4998-8DA1-933DE13D9C4E}" srcOrd="0" destOrd="0" presId="urn:microsoft.com/office/officeart/2005/8/layout/vList2"/>
    <dgm:cxn modelId="{1C55E403-1D27-4E7D-8FFD-B848889D6DA3}" type="presOf" srcId="{6D987B81-0ABD-482E-AD94-D0637D9FF5DF}" destId="{5240B375-1C2D-4C7E-BDC2-3679DD5208D3}" srcOrd="0" destOrd="0" presId="urn:microsoft.com/office/officeart/2005/8/layout/vList2"/>
    <dgm:cxn modelId="{57DBB107-5A90-401F-A8B4-18BC1802D203}" type="presOf" srcId="{945DB945-019D-4A1D-8B98-F6242C5F8298}" destId="{C8C18F62-EC74-4600-99ED-0CE3D1625E63}" srcOrd="0" destOrd="0" presId="urn:microsoft.com/office/officeart/2005/8/layout/vList2"/>
    <dgm:cxn modelId="{1FB20B1D-61AF-4447-BE65-5BD929395E3D}" srcId="{48448E9C-4F4D-447A-ADF9-7E5DC547DE76}" destId="{5243B56B-4DBD-4081-B1AC-577493A334CE}" srcOrd="0" destOrd="0" parTransId="{169F375E-AD2A-4171-AD22-375A8DA2978D}" sibTransId="{A9E4D07B-BD31-4726-AE19-31C49A3C6864}"/>
    <dgm:cxn modelId="{2A64F241-E6ED-4101-B1AD-47E5976E17AB}" type="presOf" srcId="{D7825A0B-10D6-445D-8766-56FBB0909ACE}" destId="{7FD553BE-4254-4B4D-871C-CDF54A09E4FA}" srcOrd="0" destOrd="0" presId="urn:microsoft.com/office/officeart/2005/8/layout/vList2"/>
    <dgm:cxn modelId="{5B905C67-DAC8-4648-9DF8-F2C2F0EA7E4C}" srcId="{48448E9C-4F4D-447A-ADF9-7E5DC547DE76}" destId="{FB8ABA17-73BB-42EE-BBA6-BCEE01D32C72}" srcOrd="1" destOrd="0" parTransId="{53F6C473-7DD2-4074-95E7-1B76A8840EA4}" sibTransId="{2B59AEAB-3A50-435E-BB1B-C9801C8B2742}"/>
    <dgm:cxn modelId="{F1234549-500D-42B5-826B-E7F2421F084C}" type="presOf" srcId="{48448E9C-4F4D-447A-ADF9-7E5DC547DE76}" destId="{0F2683B7-0BB3-4970-81C5-CE5C04319A3D}" srcOrd="0" destOrd="0" presId="urn:microsoft.com/office/officeart/2005/8/layout/vList2"/>
    <dgm:cxn modelId="{8F054155-C20B-4A31-B75A-E8446BDD1D93}" type="presOf" srcId="{5243B56B-4DBD-4081-B1AC-577493A334CE}" destId="{67CF541E-FEA6-42FC-8CD6-316B34389071}" srcOrd="0" destOrd="0" presId="urn:microsoft.com/office/officeart/2005/8/layout/vList2"/>
    <dgm:cxn modelId="{1B602981-4C1D-466F-9659-7875C8B8E843}" type="presOf" srcId="{6F6E9591-EE5E-4991-8920-268C4DEAA328}" destId="{E0CF9486-A07A-4D26-9C0D-D148A0C95329}" srcOrd="0" destOrd="0" presId="urn:microsoft.com/office/officeart/2005/8/layout/vList2"/>
    <dgm:cxn modelId="{C6D2098A-8F02-4133-9213-E556C66BE0C7}" srcId="{48448E9C-4F4D-447A-ADF9-7E5DC547DE76}" destId="{6F6E9591-EE5E-4991-8920-268C4DEAA328}" srcOrd="5" destOrd="0" parTransId="{A8B4A9DC-341E-4345-9E92-3490D9E38FA6}" sibTransId="{97C1C2E8-BF1B-4EE6-A379-57819448C117}"/>
    <dgm:cxn modelId="{E58B63A1-943C-4B23-AB75-75503EAA1298}" srcId="{48448E9C-4F4D-447A-ADF9-7E5DC547DE76}" destId="{6D987B81-0ABD-482E-AD94-D0637D9FF5DF}" srcOrd="3" destOrd="0" parTransId="{6C4EE183-74CC-4AB2-8AA2-09A9790150C0}" sibTransId="{61047696-7DC2-4C73-B22B-936592A90BF7}"/>
    <dgm:cxn modelId="{9B7344B5-35E0-4774-8A41-967C13C8F0A7}" srcId="{48448E9C-4F4D-447A-ADF9-7E5DC547DE76}" destId="{D7825A0B-10D6-445D-8766-56FBB0909ACE}" srcOrd="2" destOrd="0" parTransId="{ED74FD49-70CA-4E8A-B7F7-633DEB20F0F2}" sibTransId="{DB19E684-CAA6-403C-9826-FC34644939B4}"/>
    <dgm:cxn modelId="{8E587ECF-F4E3-4CA1-BAE3-4D08D910A2FF}" srcId="{48448E9C-4F4D-447A-ADF9-7E5DC547DE76}" destId="{945DB945-019D-4A1D-8B98-F6242C5F8298}" srcOrd="4" destOrd="0" parTransId="{7D68445E-79B4-456F-A773-4BABFCA04391}" sibTransId="{F62ABB66-C353-44DB-85C7-CD55923820FA}"/>
    <dgm:cxn modelId="{1D20E2E0-DCB0-43FE-832F-90AB9FE2913E}" type="presParOf" srcId="{0F2683B7-0BB3-4970-81C5-CE5C04319A3D}" destId="{67CF541E-FEA6-42FC-8CD6-316B34389071}" srcOrd="0" destOrd="0" presId="urn:microsoft.com/office/officeart/2005/8/layout/vList2"/>
    <dgm:cxn modelId="{1B3F92A5-3E23-4906-BA28-EB2334964854}" type="presParOf" srcId="{0F2683B7-0BB3-4970-81C5-CE5C04319A3D}" destId="{8C8161D3-6C90-45C0-8DA0-0BA612CDE5E9}" srcOrd="1" destOrd="0" presId="urn:microsoft.com/office/officeart/2005/8/layout/vList2"/>
    <dgm:cxn modelId="{2474E44D-8BF9-4498-A197-1B830CD996C1}" type="presParOf" srcId="{0F2683B7-0BB3-4970-81C5-CE5C04319A3D}" destId="{9CF82910-1396-4998-8DA1-933DE13D9C4E}" srcOrd="2" destOrd="0" presId="urn:microsoft.com/office/officeart/2005/8/layout/vList2"/>
    <dgm:cxn modelId="{9C23B8D7-9B9F-4893-A527-2DF488443E23}" type="presParOf" srcId="{0F2683B7-0BB3-4970-81C5-CE5C04319A3D}" destId="{FD4C92B0-31F8-4EB6-BE6A-89B17585CBD6}" srcOrd="3" destOrd="0" presId="urn:microsoft.com/office/officeart/2005/8/layout/vList2"/>
    <dgm:cxn modelId="{22AE25E4-4471-4F7E-B6B0-B3AAA0533114}" type="presParOf" srcId="{0F2683B7-0BB3-4970-81C5-CE5C04319A3D}" destId="{7FD553BE-4254-4B4D-871C-CDF54A09E4FA}" srcOrd="4" destOrd="0" presId="urn:microsoft.com/office/officeart/2005/8/layout/vList2"/>
    <dgm:cxn modelId="{7F75D25D-5B40-43B9-8C4E-1005DD90AAF3}" type="presParOf" srcId="{0F2683B7-0BB3-4970-81C5-CE5C04319A3D}" destId="{3EFB88D0-9CDD-4249-8143-47E9B831B3B3}" srcOrd="5" destOrd="0" presId="urn:microsoft.com/office/officeart/2005/8/layout/vList2"/>
    <dgm:cxn modelId="{244F5DEC-C73E-4710-AA38-0CC1A28CC2BF}" type="presParOf" srcId="{0F2683B7-0BB3-4970-81C5-CE5C04319A3D}" destId="{5240B375-1C2D-4C7E-BDC2-3679DD5208D3}" srcOrd="6" destOrd="0" presId="urn:microsoft.com/office/officeart/2005/8/layout/vList2"/>
    <dgm:cxn modelId="{A4DA2F7A-52D8-484A-B81E-68FEFB3CBA2B}" type="presParOf" srcId="{0F2683B7-0BB3-4970-81C5-CE5C04319A3D}" destId="{014BEA7D-40E8-416F-95AE-F001BF6D4E2B}" srcOrd="7" destOrd="0" presId="urn:microsoft.com/office/officeart/2005/8/layout/vList2"/>
    <dgm:cxn modelId="{1ED21D4E-5AEC-4F4D-9E12-71ACD4F4D205}" type="presParOf" srcId="{0F2683B7-0BB3-4970-81C5-CE5C04319A3D}" destId="{C8C18F62-EC74-4600-99ED-0CE3D1625E63}" srcOrd="8" destOrd="0" presId="urn:microsoft.com/office/officeart/2005/8/layout/vList2"/>
    <dgm:cxn modelId="{BF00A163-F054-4FEA-B386-0ABF3A097E8B}" type="presParOf" srcId="{0F2683B7-0BB3-4970-81C5-CE5C04319A3D}" destId="{7BBC591E-953E-4B2A-A0F5-2C543A5C8DDD}" srcOrd="9" destOrd="0" presId="urn:microsoft.com/office/officeart/2005/8/layout/vList2"/>
    <dgm:cxn modelId="{2F4FA5AE-3217-4327-8E2A-ACA110742C75}" type="presParOf" srcId="{0F2683B7-0BB3-4970-81C5-CE5C04319A3D}" destId="{E0CF9486-A07A-4D26-9C0D-D148A0C9532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F541E-FEA6-42FC-8CD6-316B34389071}">
      <dsp:nvSpPr>
        <dsp:cNvPr id="0" name=""/>
        <dsp:cNvSpPr/>
      </dsp:nvSpPr>
      <dsp:spPr>
        <a:xfrm>
          <a:off x="0" y="76800"/>
          <a:ext cx="5175384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Introduction</a:t>
          </a:r>
          <a:endParaRPr lang="en-US" sz="3400" kern="1200"/>
        </a:p>
      </dsp:txBody>
      <dsp:txXfrm>
        <a:off x="39809" y="116609"/>
        <a:ext cx="5095766" cy="735872"/>
      </dsp:txXfrm>
    </dsp:sp>
    <dsp:sp modelId="{9CF82910-1396-4998-8DA1-933DE13D9C4E}">
      <dsp:nvSpPr>
        <dsp:cNvPr id="0" name=""/>
        <dsp:cNvSpPr/>
      </dsp:nvSpPr>
      <dsp:spPr>
        <a:xfrm>
          <a:off x="0" y="990210"/>
          <a:ext cx="5175384" cy="815490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Python Ecosystem</a:t>
          </a:r>
          <a:endParaRPr lang="en-US" sz="3400" kern="1200"/>
        </a:p>
      </dsp:txBody>
      <dsp:txXfrm>
        <a:off x="39809" y="1030019"/>
        <a:ext cx="5095766" cy="735872"/>
      </dsp:txXfrm>
    </dsp:sp>
    <dsp:sp modelId="{7FD553BE-4254-4B4D-871C-CDF54A09E4FA}">
      <dsp:nvSpPr>
        <dsp:cNvPr id="0" name=""/>
        <dsp:cNvSpPr/>
      </dsp:nvSpPr>
      <dsp:spPr>
        <a:xfrm>
          <a:off x="0" y="1903620"/>
          <a:ext cx="5175384" cy="815490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Data Handling</a:t>
          </a:r>
          <a:endParaRPr lang="en-US" sz="3400" kern="1200"/>
        </a:p>
      </dsp:txBody>
      <dsp:txXfrm>
        <a:off x="39809" y="1943429"/>
        <a:ext cx="5095766" cy="735872"/>
      </dsp:txXfrm>
    </dsp:sp>
    <dsp:sp modelId="{5240B375-1C2D-4C7E-BDC2-3679DD5208D3}">
      <dsp:nvSpPr>
        <dsp:cNvPr id="0" name=""/>
        <dsp:cNvSpPr/>
      </dsp:nvSpPr>
      <dsp:spPr>
        <a:xfrm>
          <a:off x="0" y="2817030"/>
          <a:ext cx="5175384" cy="815490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Data Preprocessing</a:t>
          </a:r>
          <a:endParaRPr lang="en-US" sz="3400" kern="1200"/>
        </a:p>
      </dsp:txBody>
      <dsp:txXfrm>
        <a:off x="39809" y="2856839"/>
        <a:ext cx="5095766" cy="735872"/>
      </dsp:txXfrm>
    </dsp:sp>
    <dsp:sp modelId="{C8C18F62-EC74-4600-99ED-0CE3D1625E63}">
      <dsp:nvSpPr>
        <dsp:cNvPr id="0" name=""/>
        <dsp:cNvSpPr/>
      </dsp:nvSpPr>
      <dsp:spPr>
        <a:xfrm>
          <a:off x="0" y="3730440"/>
          <a:ext cx="5175384" cy="815490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Mini Demo / Example</a:t>
          </a:r>
          <a:endParaRPr lang="en-US" sz="3400" kern="1200"/>
        </a:p>
      </dsp:txBody>
      <dsp:txXfrm>
        <a:off x="39809" y="3770249"/>
        <a:ext cx="5095766" cy="735872"/>
      </dsp:txXfrm>
    </dsp:sp>
    <dsp:sp modelId="{E0CF9486-A07A-4D26-9C0D-D148A0C95329}">
      <dsp:nvSpPr>
        <dsp:cNvPr id="0" name=""/>
        <dsp:cNvSpPr/>
      </dsp:nvSpPr>
      <dsp:spPr>
        <a:xfrm>
          <a:off x="0" y="4643850"/>
          <a:ext cx="5175384" cy="8154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Conclusion &amp; Q/A</a:t>
          </a:r>
          <a:endParaRPr lang="en-US" sz="3400" kern="1200"/>
        </a:p>
      </dsp:txBody>
      <dsp:txXfrm>
        <a:off x="39809" y="4683659"/>
        <a:ext cx="5095766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ABEC1-9DE5-4311-ABE0-6C326CA68EF5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10F76-97E2-4700-8376-D172D3DFE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080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“Data is the foundation of any data science or machine learning project. But raw data is rarely ready to use — it’s often messy, incomplete, or inconsistent.</a:t>
            </a:r>
            <a:br>
              <a:rPr lang="en-GB" dirty="0"/>
            </a:br>
            <a:r>
              <a:rPr lang="en-GB" dirty="0"/>
              <a:t>Python, with its rich ecosystem, makes data handling and preprocessing efficient, reproducible, and readable.”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10F76-97E2-4700-8376-D172D3DFEE8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30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“For this task, we rely on a few core Python libraries:</a:t>
            </a:r>
          </a:p>
          <a:p>
            <a:r>
              <a:rPr lang="en-GB" b="1" dirty="0"/>
              <a:t>NumPy</a:t>
            </a:r>
            <a:r>
              <a:rPr lang="en-GB" dirty="0"/>
              <a:t> – handles numerical operations and arrays</a:t>
            </a:r>
          </a:p>
          <a:p>
            <a:r>
              <a:rPr lang="en-GB" b="1" dirty="0"/>
              <a:t>Pandas</a:t>
            </a:r>
            <a:r>
              <a:rPr lang="en-GB" dirty="0"/>
              <a:t> – data manipulation using </a:t>
            </a:r>
            <a:r>
              <a:rPr lang="en-GB" dirty="0" err="1"/>
              <a:t>DataFrames</a:t>
            </a:r>
            <a:endParaRPr lang="en-GB" dirty="0"/>
          </a:p>
          <a:p>
            <a:r>
              <a:rPr lang="en-GB" b="1" dirty="0"/>
              <a:t>Scikit-learn</a:t>
            </a:r>
            <a:r>
              <a:rPr lang="en-GB" dirty="0"/>
              <a:t> – preprocessing utilities like scaling and encoding</a:t>
            </a:r>
          </a:p>
          <a:p>
            <a:r>
              <a:rPr lang="en-GB" dirty="0"/>
              <a:t>(Optionally) </a:t>
            </a:r>
            <a:r>
              <a:rPr lang="en-GB" b="1" dirty="0"/>
              <a:t>Matplotlib/Seaborn</a:t>
            </a:r>
            <a:r>
              <a:rPr lang="en-GB" dirty="0"/>
              <a:t> – for quick visual checks.”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10F76-97E2-4700-8376-D172D3DFEE8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596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320040"/>
            <a:ext cx="5019620" cy="3892669"/>
          </a:xfrm>
        </p:spPr>
        <p:txBody>
          <a:bodyPr>
            <a:normAutofit/>
          </a:bodyPr>
          <a:lstStyle/>
          <a:p>
            <a:pPr algn="l"/>
            <a:r>
              <a:rPr lang="en-GB" sz="5300"/>
              <a:t>Python Programming for Data Handling &amp; Preprocessing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" y="4631161"/>
            <a:ext cx="5019620" cy="1569486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1500"/>
              <a:t>Presented by: </a:t>
            </a:r>
          </a:p>
          <a:p>
            <a:pPr algn="l">
              <a:lnSpc>
                <a:spcPct val="90000"/>
              </a:lnSpc>
            </a:pPr>
            <a:r>
              <a:rPr lang="en-GB" sz="1500"/>
              <a:t>Sivakumar Krishnamoorthy</a:t>
            </a:r>
          </a:p>
          <a:p>
            <a:pPr algn="l">
              <a:lnSpc>
                <a:spcPct val="90000"/>
              </a:lnSpc>
            </a:pPr>
            <a:endParaRPr lang="en-GB" sz="1500"/>
          </a:p>
          <a:p>
            <a:pPr algn="l">
              <a:lnSpc>
                <a:spcPct val="90000"/>
              </a:lnSpc>
            </a:pPr>
            <a:endParaRPr lang="en-GB" sz="1500"/>
          </a:p>
          <a:p>
            <a:pPr algn="l">
              <a:lnSpc>
                <a:spcPct val="90000"/>
              </a:lnSpc>
            </a:pPr>
            <a:r>
              <a:rPr lang="en-GB" sz="1500"/>
              <a:t>Christ University, Bangalore</a:t>
            </a:r>
          </a:p>
          <a:p>
            <a:pPr algn="l">
              <a:lnSpc>
                <a:spcPct val="90000"/>
              </a:lnSpc>
            </a:pPr>
            <a:r>
              <a:rPr lang="en-GB" sz="1500"/>
              <a:t>October 2025 Workshop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921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749FE6DE-A5A4-ACBE-D973-D1F0E4F4F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6158" y="1627589"/>
            <a:ext cx="3065526" cy="336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359AF-3FA3-396C-EFDD-A36965B2A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700"/>
              <a:t>Synopsis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3992D8-0046-F17A-B319-0551140E0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54352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051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Why Data Preprocessing Matters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sz="4000" dirty="0"/>
              <a:t>Raw data is often messy and inconsistent.</a:t>
            </a:r>
          </a:p>
          <a:p>
            <a:r>
              <a:rPr sz="4000" dirty="0"/>
              <a:t>Ensures quality and reliability for analysis and ML.</a:t>
            </a:r>
          </a:p>
          <a:p>
            <a:r>
              <a:rPr sz="4000" dirty="0"/>
              <a:t>80% of data science work is data cleaning.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Python Ecosystem for Data Handling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sz="4000" dirty="0"/>
              <a:t>NumPy: numerical operations</a:t>
            </a:r>
          </a:p>
          <a:p>
            <a:r>
              <a:rPr sz="4000" dirty="0"/>
              <a:t>Pandas: </a:t>
            </a:r>
            <a:r>
              <a:rPr sz="4000" dirty="0" err="1"/>
              <a:t>dataframes</a:t>
            </a:r>
            <a:endParaRPr sz="4000" dirty="0"/>
          </a:p>
          <a:p>
            <a:r>
              <a:rPr sz="4000" dirty="0"/>
              <a:t>Scikit-learn: preprocessing &amp; ML</a:t>
            </a:r>
          </a:p>
          <a:p>
            <a:r>
              <a:rPr sz="4000" dirty="0"/>
              <a:t>Matplotlib/Seaborn: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Data Handling with Pandas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0" y="591344"/>
            <a:ext cx="5689249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3600" dirty="0"/>
              <a:t>Example:</a:t>
            </a:r>
          </a:p>
          <a:p>
            <a:r>
              <a:rPr sz="3600" dirty="0"/>
              <a:t>import pandas as pd</a:t>
            </a:r>
          </a:p>
          <a:p>
            <a:r>
              <a:rPr sz="3600" dirty="0" err="1"/>
              <a:t>df</a:t>
            </a:r>
            <a:r>
              <a:rPr sz="3600" dirty="0"/>
              <a:t> = </a:t>
            </a:r>
            <a:r>
              <a:rPr sz="3600" dirty="0" err="1"/>
              <a:t>pd.read_csv</a:t>
            </a:r>
            <a:r>
              <a:rPr sz="3600" dirty="0"/>
              <a:t>('data.csv')</a:t>
            </a:r>
          </a:p>
          <a:p>
            <a:r>
              <a:rPr sz="3600" dirty="0"/>
              <a:t>df.info()</a:t>
            </a:r>
          </a:p>
          <a:p>
            <a:r>
              <a:rPr sz="3600" dirty="0" err="1"/>
              <a:t>df.dropna</a:t>
            </a:r>
            <a:r>
              <a:rPr sz="3600" dirty="0"/>
              <a:t>(</a:t>
            </a:r>
            <a:r>
              <a:rPr sz="3600" dirty="0" err="1"/>
              <a:t>inplace</a:t>
            </a:r>
            <a:r>
              <a:rPr sz="3600" dirty="0"/>
              <a:t>=True)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Preprocessing Techniques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sz="3600" dirty="0"/>
              <a:t>Handle missing values</a:t>
            </a:r>
          </a:p>
          <a:p>
            <a:r>
              <a:rPr sz="3600" dirty="0"/>
              <a:t>Encode categorical data</a:t>
            </a:r>
          </a:p>
          <a:p>
            <a:r>
              <a:rPr sz="3600" dirty="0"/>
              <a:t>Scale numerical features</a:t>
            </a:r>
          </a:p>
          <a:p>
            <a:r>
              <a:rPr sz="3600" dirty="0"/>
              <a:t>Detect outliers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Mini Workflow Example (Titanic Dataset)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sz="3600" dirty="0"/>
              <a:t>Load data</a:t>
            </a:r>
          </a:p>
          <a:p>
            <a:r>
              <a:rPr sz="3600" dirty="0"/>
              <a:t>Clean missing values</a:t>
            </a:r>
          </a:p>
          <a:p>
            <a:r>
              <a:rPr sz="3600" dirty="0"/>
              <a:t>Encode categorical features</a:t>
            </a:r>
          </a:p>
          <a:p>
            <a:r>
              <a:rPr sz="3600" dirty="0"/>
              <a:t>Scale numeric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GB" sz="370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sz="3600" dirty="0"/>
              <a:t>Python simplifies data cleaning and preprocessing</a:t>
            </a:r>
          </a:p>
          <a:p>
            <a:r>
              <a:rPr sz="3600" dirty="0"/>
              <a:t>Pandas + Scikit-learn are essential</a:t>
            </a:r>
          </a:p>
          <a:p>
            <a:r>
              <a:rPr sz="3600" dirty="0"/>
              <a:t>Practice on real datasets in </a:t>
            </a:r>
            <a:r>
              <a:rPr sz="3600" dirty="0" err="1"/>
              <a:t>Colab</a:t>
            </a:r>
            <a:endParaRPr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274</Words>
  <Application>Microsoft Office PowerPoint</Application>
  <PresentationFormat>On-screen Show (4:3)</PresentationFormat>
  <Paragraphs>51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Python Programming for Data Handling &amp; Preprocessing</vt:lpstr>
      <vt:lpstr>Synopsis</vt:lpstr>
      <vt:lpstr>Why Data Preprocessing Matters</vt:lpstr>
      <vt:lpstr>Python Ecosystem for Data Handling</vt:lpstr>
      <vt:lpstr>Data Handling with Pandas</vt:lpstr>
      <vt:lpstr>Preprocessing Techniques</vt:lpstr>
      <vt:lpstr>Mini Workflow Example (Titanic Dataset)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Sivakumar Krishnamoorthy</cp:lastModifiedBy>
  <cp:revision>13</cp:revision>
  <dcterms:created xsi:type="dcterms:W3CDTF">2013-01-27T09:14:16Z</dcterms:created>
  <dcterms:modified xsi:type="dcterms:W3CDTF">2025-10-15T10:25:47Z</dcterms:modified>
  <cp:category/>
</cp:coreProperties>
</file>