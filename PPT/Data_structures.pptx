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370" r:id="rId2"/>
    <p:sldId id="371" r:id="rId3"/>
    <p:sldId id="372" r:id="rId4"/>
    <p:sldId id="282" r:id="rId5"/>
    <p:sldId id="373" r:id="rId6"/>
    <p:sldId id="374" r:id="rId7"/>
    <p:sldId id="375" r:id="rId8"/>
    <p:sldId id="376" r:id="rId9"/>
    <p:sldId id="378" r:id="rId10"/>
    <p:sldId id="380" r:id="rId11"/>
    <p:sldId id="381" r:id="rId12"/>
    <p:sldId id="382" r:id="rId13"/>
    <p:sldId id="399" r:id="rId14"/>
    <p:sldId id="384" r:id="rId15"/>
    <p:sldId id="385" r:id="rId16"/>
    <p:sldId id="386" r:id="rId17"/>
    <p:sldId id="284" r:id="rId18"/>
    <p:sldId id="387" r:id="rId19"/>
    <p:sldId id="388" r:id="rId20"/>
    <p:sldId id="389" r:id="rId21"/>
    <p:sldId id="390" r:id="rId22"/>
    <p:sldId id="391" r:id="rId23"/>
    <p:sldId id="392" r:id="rId24"/>
    <p:sldId id="393" r:id="rId25"/>
    <p:sldId id="394" r:id="rId26"/>
    <p:sldId id="395" r:id="rId27"/>
    <p:sldId id="396" r:id="rId28"/>
    <p:sldId id="397" r:id="rId29"/>
    <p:sldId id="398"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799" autoAdjust="0"/>
  </p:normalViewPr>
  <p:slideViewPr>
    <p:cSldViewPr snapToGrid="0" snapToObjects="1">
      <p:cViewPr varScale="1">
        <p:scale>
          <a:sx n="77" d="100"/>
          <a:sy n="77" d="100"/>
        </p:scale>
        <p:origin x="825" y="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53EA9D-E187-402C-89D4-432C12577125}"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E8382381-B9D2-4086-8B46-F6E9C538573C}">
      <dgm:prSet/>
      <dgm:spPr/>
      <dgm:t>
        <a:bodyPr/>
        <a:lstStyle/>
        <a:p>
          <a:pPr>
            <a:defRPr cap="all"/>
          </a:pPr>
          <a:r>
            <a:rPr lang="en-GB"/>
            <a:t>String</a:t>
          </a:r>
          <a:endParaRPr lang="en-US"/>
        </a:p>
      </dgm:t>
    </dgm:pt>
    <dgm:pt modelId="{C9892C4A-22FA-49B4-9D4E-86EF068D19FF}" type="parTrans" cxnId="{0CBC99CD-68D0-4458-8EC4-0CB877E90C45}">
      <dgm:prSet/>
      <dgm:spPr/>
      <dgm:t>
        <a:bodyPr/>
        <a:lstStyle/>
        <a:p>
          <a:endParaRPr lang="en-US"/>
        </a:p>
      </dgm:t>
    </dgm:pt>
    <dgm:pt modelId="{704D4AA4-EC42-4D63-ADB0-F8B033B9E2BD}" type="sibTrans" cxnId="{0CBC99CD-68D0-4458-8EC4-0CB877E90C45}">
      <dgm:prSet/>
      <dgm:spPr/>
      <dgm:t>
        <a:bodyPr/>
        <a:lstStyle/>
        <a:p>
          <a:endParaRPr lang="en-US"/>
        </a:p>
      </dgm:t>
    </dgm:pt>
    <dgm:pt modelId="{CEAD1BD2-CA5E-480C-9463-650DA26EB17C}">
      <dgm:prSet/>
      <dgm:spPr/>
      <dgm:t>
        <a:bodyPr/>
        <a:lstStyle/>
        <a:p>
          <a:pPr>
            <a:defRPr cap="all"/>
          </a:pPr>
          <a:r>
            <a:rPr lang="en-GB"/>
            <a:t>Lists</a:t>
          </a:r>
          <a:endParaRPr lang="en-US"/>
        </a:p>
      </dgm:t>
    </dgm:pt>
    <dgm:pt modelId="{8DF78492-907C-4639-A5CC-87B89F3A212D}" type="parTrans" cxnId="{06EF2FA5-2DF4-43A3-8D5B-5CCBBCDBE50F}">
      <dgm:prSet/>
      <dgm:spPr/>
      <dgm:t>
        <a:bodyPr/>
        <a:lstStyle/>
        <a:p>
          <a:endParaRPr lang="en-US"/>
        </a:p>
      </dgm:t>
    </dgm:pt>
    <dgm:pt modelId="{48C48249-46E3-4036-A57C-6170EE8B51AF}" type="sibTrans" cxnId="{06EF2FA5-2DF4-43A3-8D5B-5CCBBCDBE50F}">
      <dgm:prSet/>
      <dgm:spPr/>
      <dgm:t>
        <a:bodyPr/>
        <a:lstStyle/>
        <a:p>
          <a:endParaRPr lang="en-US"/>
        </a:p>
      </dgm:t>
    </dgm:pt>
    <dgm:pt modelId="{C3BA88F0-891E-45ED-85D9-BCE2A2F68210}">
      <dgm:prSet/>
      <dgm:spPr/>
      <dgm:t>
        <a:bodyPr/>
        <a:lstStyle/>
        <a:p>
          <a:pPr>
            <a:defRPr cap="all"/>
          </a:pPr>
          <a:r>
            <a:rPr lang="en-GB"/>
            <a:t>Tuples</a:t>
          </a:r>
          <a:endParaRPr lang="en-US"/>
        </a:p>
      </dgm:t>
    </dgm:pt>
    <dgm:pt modelId="{AFF99319-5D19-43E0-B910-2115BC468B46}" type="parTrans" cxnId="{E07B3679-1A6A-428A-80EC-51CF9D375BBC}">
      <dgm:prSet/>
      <dgm:spPr/>
      <dgm:t>
        <a:bodyPr/>
        <a:lstStyle/>
        <a:p>
          <a:endParaRPr lang="en-US"/>
        </a:p>
      </dgm:t>
    </dgm:pt>
    <dgm:pt modelId="{995FE284-27A7-4B12-9182-DFEB71619978}" type="sibTrans" cxnId="{E07B3679-1A6A-428A-80EC-51CF9D375BBC}">
      <dgm:prSet/>
      <dgm:spPr/>
      <dgm:t>
        <a:bodyPr/>
        <a:lstStyle/>
        <a:p>
          <a:endParaRPr lang="en-US"/>
        </a:p>
      </dgm:t>
    </dgm:pt>
    <dgm:pt modelId="{3017DE7B-A1A4-4E4F-89DB-F8677712394E}">
      <dgm:prSet/>
      <dgm:spPr/>
      <dgm:t>
        <a:bodyPr/>
        <a:lstStyle/>
        <a:p>
          <a:pPr>
            <a:defRPr cap="all"/>
          </a:pPr>
          <a:r>
            <a:rPr lang="en-GB"/>
            <a:t>Dictionary</a:t>
          </a:r>
          <a:endParaRPr lang="en-US"/>
        </a:p>
      </dgm:t>
    </dgm:pt>
    <dgm:pt modelId="{AF365197-9888-4686-92D6-B4E8767C2D3D}" type="parTrans" cxnId="{7F488C37-0595-4BF7-8935-6E385F49CA33}">
      <dgm:prSet/>
      <dgm:spPr/>
      <dgm:t>
        <a:bodyPr/>
        <a:lstStyle/>
        <a:p>
          <a:endParaRPr lang="en-US"/>
        </a:p>
      </dgm:t>
    </dgm:pt>
    <dgm:pt modelId="{27F7935C-6E55-4D23-BC91-EDC9F9DD4CC5}" type="sibTrans" cxnId="{7F488C37-0595-4BF7-8935-6E385F49CA33}">
      <dgm:prSet/>
      <dgm:spPr/>
      <dgm:t>
        <a:bodyPr/>
        <a:lstStyle/>
        <a:p>
          <a:endParaRPr lang="en-US"/>
        </a:p>
      </dgm:t>
    </dgm:pt>
    <dgm:pt modelId="{9CEE55D8-B0CC-412E-94C1-39A9B6DCF821}">
      <dgm:prSet/>
      <dgm:spPr/>
      <dgm:t>
        <a:bodyPr/>
        <a:lstStyle/>
        <a:p>
          <a:pPr>
            <a:defRPr cap="all"/>
          </a:pPr>
          <a:r>
            <a:rPr lang="en-GB"/>
            <a:t>Sets</a:t>
          </a:r>
          <a:endParaRPr lang="en-US"/>
        </a:p>
      </dgm:t>
    </dgm:pt>
    <dgm:pt modelId="{C8544D4C-DFCE-4A59-B418-9A870B4C2398}" type="parTrans" cxnId="{AB0A4987-3DC0-45C9-8095-D0FCF8E9F668}">
      <dgm:prSet/>
      <dgm:spPr/>
      <dgm:t>
        <a:bodyPr/>
        <a:lstStyle/>
        <a:p>
          <a:endParaRPr lang="en-US"/>
        </a:p>
      </dgm:t>
    </dgm:pt>
    <dgm:pt modelId="{81D588D0-C299-4466-B378-7603D31CF8F7}" type="sibTrans" cxnId="{AB0A4987-3DC0-45C9-8095-D0FCF8E9F668}">
      <dgm:prSet/>
      <dgm:spPr/>
      <dgm:t>
        <a:bodyPr/>
        <a:lstStyle/>
        <a:p>
          <a:endParaRPr lang="en-US"/>
        </a:p>
      </dgm:t>
    </dgm:pt>
    <dgm:pt modelId="{F1B274EB-9A9B-47BF-8389-38F43BACCDD3}">
      <dgm:prSet/>
      <dgm:spPr/>
      <dgm:t>
        <a:bodyPr/>
        <a:lstStyle/>
        <a:p>
          <a:pPr>
            <a:defRPr cap="all"/>
          </a:pPr>
          <a:r>
            <a:rPr lang="en-GB"/>
            <a:t>File handling</a:t>
          </a:r>
          <a:endParaRPr lang="en-US"/>
        </a:p>
      </dgm:t>
    </dgm:pt>
    <dgm:pt modelId="{5429896F-3090-4579-A334-65AB3BC95615}" type="parTrans" cxnId="{570C830D-0086-4EDE-9967-1DAB7FC4A569}">
      <dgm:prSet/>
      <dgm:spPr/>
      <dgm:t>
        <a:bodyPr/>
        <a:lstStyle/>
        <a:p>
          <a:endParaRPr lang="en-US"/>
        </a:p>
      </dgm:t>
    </dgm:pt>
    <dgm:pt modelId="{916C59FD-2373-44FF-A81A-4C42AC0DD248}" type="sibTrans" cxnId="{570C830D-0086-4EDE-9967-1DAB7FC4A569}">
      <dgm:prSet/>
      <dgm:spPr/>
      <dgm:t>
        <a:bodyPr/>
        <a:lstStyle/>
        <a:p>
          <a:endParaRPr lang="en-US"/>
        </a:p>
      </dgm:t>
    </dgm:pt>
    <dgm:pt modelId="{EF7AA4DF-ACB9-4B03-A101-66DF5D12AEA0}" type="pres">
      <dgm:prSet presAssocID="{AA53EA9D-E187-402C-89D4-432C12577125}" presName="root" presStyleCnt="0">
        <dgm:presLayoutVars>
          <dgm:dir/>
          <dgm:resizeHandles val="exact"/>
        </dgm:presLayoutVars>
      </dgm:prSet>
      <dgm:spPr/>
    </dgm:pt>
    <dgm:pt modelId="{B246D490-DE93-4BAD-A468-3DDC320A6079}" type="pres">
      <dgm:prSet presAssocID="{E8382381-B9D2-4086-8B46-F6E9C538573C}" presName="compNode" presStyleCnt="0"/>
      <dgm:spPr/>
    </dgm:pt>
    <dgm:pt modelId="{8AD51099-3D22-4BF2-AE49-F9319D2A6C23}" type="pres">
      <dgm:prSet presAssocID="{E8382381-B9D2-4086-8B46-F6E9C538573C}" presName="iconBgRect" presStyleLbl="bgShp" presStyleIdx="0" presStyleCnt="6"/>
      <dgm:spPr>
        <a:prstGeom prst="round2DiagRect">
          <a:avLst>
            <a:gd name="adj1" fmla="val 29727"/>
            <a:gd name="adj2" fmla="val 0"/>
          </a:avLst>
        </a:prstGeom>
      </dgm:spPr>
    </dgm:pt>
    <dgm:pt modelId="{3E34DE18-009F-4617-8F17-EE8C1E9BCB46}" type="pres">
      <dgm:prSet presAssocID="{E8382381-B9D2-4086-8B46-F6E9C538573C}"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Violin"/>
        </a:ext>
      </dgm:extLst>
    </dgm:pt>
    <dgm:pt modelId="{44E395F0-7714-4427-84FC-301B19A19814}" type="pres">
      <dgm:prSet presAssocID="{E8382381-B9D2-4086-8B46-F6E9C538573C}" presName="spaceRect" presStyleCnt="0"/>
      <dgm:spPr/>
    </dgm:pt>
    <dgm:pt modelId="{336C6049-5520-4478-A404-0B38126FACA0}" type="pres">
      <dgm:prSet presAssocID="{E8382381-B9D2-4086-8B46-F6E9C538573C}" presName="textRect" presStyleLbl="revTx" presStyleIdx="0" presStyleCnt="6">
        <dgm:presLayoutVars>
          <dgm:chMax val="1"/>
          <dgm:chPref val="1"/>
        </dgm:presLayoutVars>
      </dgm:prSet>
      <dgm:spPr/>
    </dgm:pt>
    <dgm:pt modelId="{CE699BAF-7260-40D9-94C9-E312E163514E}" type="pres">
      <dgm:prSet presAssocID="{704D4AA4-EC42-4D63-ADB0-F8B033B9E2BD}" presName="sibTrans" presStyleCnt="0"/>
      <dgm:spPr/>
    </dgm:pt>
    <dgm:pt modelId="{3BF8FE82-3A7E-48C8-B490-05596C46EFBE}" type="pres">
      <dgm:prSet presAssocID="{CEAD1BD2-CA5E-480C-9463-650DA26EB17C}" presName="compNode" presStyleCnt="0"/>
      <dgm:spPr/>
    </dgm:pt>
    <dgm:pt modelId="{CECA41FC-0276-4527-ACAF-11AAA4ED59F1}" type="pres">
      <dgm:prSet presAssocID="{CEAD1BD2-CA5E-480C-9463-650DA26EB17C}" presName="iconBgRect" presStyleLbl="bgShp" presStyleIdx="1" presStyleCnt="6"/>
      <dgm:spPr>
        <a:prstGeom prst="round2DiagRect">
          <a:avLst>
            <a:gd name="adj1" fmla="val 29727"/>
            <a:gd name="adj2" fmla="val 0"/>
          </a:avLst>
        </a:prstGeom>
      </dgm:spPr>
    </dgm:pt>
    <dgm:pt modelId="{8D2F8045-B0A2-4294-97D6-7C69E7B3E160}" type="pres">
      <dgm:prSet presAssocID="{CEAD1BD2-CA5E-480C-9463-650DA26EB17C}"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List"/>
        </a:ext>
      </dgm:extLst>
    </dgm:pt>
    <dgm:pt modelId="{2BD2A4E1-58FF-4F26-BA45-11CD6C49249F}" type="pres">
      <dgm:prSet presAssocID="{CEAD1BD2-CA5E-480C-9463-650DA26EB17C}" presName="spaceRect" presStyleCnt="0"/>
      <dgm:spPr/>
    </dgm:pt>
    <dgm:pt modelId="{8064F61F-690A-4242-9A69-2B7D7900B8DA}" type="pres">
      <dgm:prSet presAssocID="{CEAD1BD2-CA5E-480C-9463-650DA26EB17C}" presName="textRect" presStyleLbl="revTx" presStyleIdx="1" presStyleCnt="6">
        <dgm:presLayoutVars>
          <dgm:chMax val="1"/>
          <dgm:chPref val="1"/>
        </dgm:presLayoutVars>
      </dgm:prSet>
      <dgm:spPr/>
    </dgm:pt>
    <dgm:pt modelId="{289AB34A-88A7-4908-9DC7-F93D8B001877}" type="pres">
      <dgm:prSet presAssocID="{48C48249-46E3-4036-A57C-6170EE8B51AF}" presName="sibTrans" presStyleCnt="0"/>
      <dgm:spPr/>
    </dgm:pt>
    <dgm:pt modelId="{CDB5A4FC-D9EC-45E1-8F51-A3BCFBF3000C}" type="pres">
      <dgm:prSet presAssocID="{C3BA88F0-891E-45ED-85D9-BCE2A2F68210}" presName="compNode" presStyleCnt="0"/>
      <dgm:spPr/>
    </dgm:pt>
    <dgm:pt modelId="{24015378-F481-4406-877A-B26529708A10}" type="pres">
      <dgm:prSet presAssocID="{C3BA88F0-891E-45ED-85D9-BCE2A2F68210}" presName="iconBgRect" presStyleLbl="bgShp" presStyleIdx="2" presStyleCnt="6"/>
      <dgm:spPr>
        <a:prstGeom prst="round2DiagRect">
          <a:avLst>
            <a:gd name="adj1" fmla="val 29727"/>
            <a:gd name="adj2" fmla="val 0"/>
          </a:avLst>
        </a:prstGeom>
      </dgm:spPr>
    </dgm:pt>
    <dgm:pt modelId="{CE8B233D-6022-4CFF-8299-800DB4424071}" type="pres">
      <dgm:prSet presAssocID="{C3BA88F0-891E-45ED-85D9-BCE2A2F68210}"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w"/>
        </a:ext>
      </dgm:extLst>
    </dgm:pt>
    <dgm:pt modelId="{57B39D58-2E85-49B6-BE01-B2D948D1AD49}" type="pres">
      <dgm:prSet presAssocID="{C3BA88F0-891E-45ED-85D9-BCE2A2F68210}" presName="spaceRect" presStyleCnt="0"/>
      <dgm:spPr/>
    </dgm:pt>
    <dgm:pt modelId="{ED080EA2-BC8D-4977-B024-2F8E3657B0AC}" type="pres">
      <dgm:prSet presAssocID="{C3BA88F0-891E-45ED-85D9-BCE2A2F68210}" presName="textRect" presStyleLbl="revTx" presStyleIdx="2" presStyleCnt="6">
        <dgm:presLayoutVars>
          <dgm:chMax val="1"/>
          <dgm:chPref val="1"/>
        </dgm:presLayoutVars>
      </dgm:prSet>
      <dgm:spPr/>
    </dgm:pt>
    <dgm:pt modelId="{CE9FF228-482A-44BD-A050-EA583E55EBEF}" type="pres">
      <dgm:prSet presAssocID="{995FE284-27A7-4B12-9182-DFEB71619978}" presName="sibTrans" presStyleCnt="0"/>
      <dgm:spPr/>
    </dgm:pt>
    <dgm:pt modelId="{43EA3463-5F18-41C3-BB64-AE120E5AE6DD}" type="pres">
      <dgm:prSet presAssocID="{3017DE7B-A1A4-4E4F-89DB-F8677712394E}" presName="compNode" presStyleCnt="0"/>
      <dgm:spPr/>
    </dgm:pt>
    <dgm:pt modelId="{CA4E178B-07B9-409F-B569-A694F23A9C91}" type="pres">
      <dgm:prSet presAssocID="{3017DE7B-A1A4-4E4F-89DB-F8677712394E}" presName="iconBgRect" presStyleLbl="bgShp" presStyleIdx="3" presStyleCnt="6"/>
      <dgm:spPr>
        <a:prstGeom prst="round2DiagRect">
          <a:avLst>
            <a:gd name="adj1" fmla="val 29727"/>
            <a:gd name="adj2" fmla="val 0"/>
          </a:avLst>
        </a:prstGeom>
      </dgm:spPr>
    </dgm:pt>
    <dgm:pt modelId="{94DF53E7-ACA5-4E68-ACDC-EFF9C1A915A8}" type="pres">
      <dgm:prSet presAssocID="{3017DE7B-A1A4-4E4F-89DB-F8677712394E}"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ooks"/>
        </a:ext>
      </dgm:extLst>
    </dgm:pt>
    <dgm:pt modelId="{2271BF37-AC16-4210-AEAA-35DCAED39BB6}" type="pres">
      <dgm:prSet presAssocID="{3017DE7B-A1A4-4E4F-89DB-F8677712394E}" presName="spaceRect" presStyleCnt="0"/>
      <dgm:spPr/>
    </dgm:pt>
    <dgm:pt modelId="{9D4CEAB5-7F6C-4A36-998B-3F3451517B69}" type="pres">
      <dgm:prSet presAssocID="{3017DE7B-A1A4-4E4F-89DB-F8677712394E}" presName="textRect" presStyleLbl="revTx" presStyleIdx="3" presStyleCnt="6">
        <dgm:presLayoutVars>
          <dgm:chMax val="1"/>
          <dgm:chPref val="1"/>
        </dgm:presLayoutVars>
      </dgm:prSet>
      <dgm:spPr/>
    </dgm:pt>
    <dgm:pt modelId="{4932464F-8B8E-4CA7-BA69-37D4E874A7A3}" type="pres">
      <dgm:prSet presAssocID="{27F7935C-6E55-4D23-BC91-EDC9F9DD4CC5}" presName="sibTrans" presStyleCnt="0"/>
      <dgm:spPr/>
    </dgm:pt>
    <dgm:pt modelId="{4FF69AED-B5AD-454B-8906-EE826A651951}" type="pres">
      <dgm:prSet presAssocID="{9CEE55D8-B0CC-412E-94C1-39A9B6DCF821}" presName="compNode" presStyleCnt="0"/>
      <dgm:spPr/>
    </dgm:pt>
    <dgm:pt modelId="{4912AD40-ADC1-497B-ADED-6EDB629CD6E1}" type="pres">
      <dgm:prSet presAssocID="{9CEE55D8-B0CC-412E-94C1-39A9B6DCF821}" presName="iconBgRect" presStyleLbl="bgShp" presStyleIdx="4" presStyleCnt="6"/>
      <dgm:spPr>
        <a:prstGeom prst="round2DiagRect">
          <a:avLst>
            <a:gd name="adj1" fmla="val 29727"/>
            <a:gd name="adj2" fmla="val 0"/>
          </a:avLst>
        </a:prstGeom>
      </dgm:spPr>
    </dgm:pt>
    <dgm:pt modelId="{E47D6D3F-D242-4C8E-8313-A70306008036}" type="pres">
      <dgm:prSet presAssocID="{9CEE55D8-B0CC-412E-94C1-39A9B6DCF821}"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cument"/>
        </a:ext>
      </dgm:extLst>
    </dgm:pt>
    <dgm:pt modelId="{0BD7DDE8-9AD0-436F-B443-CA3539A2CA15}" type="pres">
      <dgm:prSet presAssocID="{9CEE55D8-B0CC-412E-94C1-39A9B6DCF821}" presName="spaceRect" presStyleCnt="0"/>
      <dgm:spPr/>
    </dgm:pt>
    <dgm:pt modelId="{EC82F79E-9817-4A98-BB03-0958C87565DA}" type="pres">
      <dgm:prSet presAssocID="{9CEE55D8-B0CC-412E-94C1-39A9B6DCF821}" presName="textRect" presStyleLbl="revTx" presStyleIdx="4" presStyleCnt="6">
        <dgm:presLayoutVars>
          <dgm:chMax val="1"/>
          <dgm:chPref val="1"/>
        </dgm:presLayoutVars>
      </dgm:prSet>
      <dgm:spPr/>
    </dgm:pt>
    <dgm:pt modelId="{89508698-18F1-47BF-A814-D4C537712ED0}" type="pres">
      <dgm:prSet presAssocID="{81D588D0-C299-4466-B378-7603D31CF8F7}" presName="sibTrans" presStyleCnt="0"/>
      <dgm:spPr/>
    </dgm:pt>
    <dgm:pt modelId="{FE49AAC4-21A0-4D90-8648-2889BCBB6E12}" type="pres">
      <dgm:prSet presAssocID="{F1B274EB-9A9B-47BF-8389-38F43BACCDD3}" presName="compNode" presStyleCnt="0"/>
      <dgm:spPr/>
    </dgm:pt>
    <dgm:pt modelId="{9F659C1F-BDEC-42CB-9230-31655EB66D16}" type="pres">
      <dgm:prSet presAssocID="{F1B274EB-9A9B-47BF-8389-38F43BACCDD3}" presName="iconBgRect" presStyleLbl="bgShp" presStyleIdx="5" presStyleCnt="6"/>
      <dgm:spPr>
        <a:prstGeom prst="round2DiagRect">
          <a:avLst>
            <a:gd name="adj1" fmla="val 29727"/>
            <a:gd name="adj2" fmla="val 0"/>
          </a:avLst>
        </a:prstGeom>
      </dgm:spPr>
    </dgm:pt>
    <dgm:pt modelId="{20D83771-A4D4-4259-9B66-BCB9DD577BEB}" type="pres">
      <dgm:prSet presAssocID="{F1B274EB-9A9B-47BF-8389-38F43BACCDD3}"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Open Folder"/>
        </a:ext>
      </dgm:extLst>
    </dgm:pt>
    <dgm:pt modelId="{F7F8AAE5-5E81-467B-99AC-DDFBAC1A98A1}" type="pres">
      <dgm:prSet presAssocID="{F1B274EB-9A9B-47BF-8389-38F43BACCDD3}" presName="spaceRect" presStyleCnt="0"/>
      <dgm:spPr/>
    </dgm:pt>
    <dgm:pt modelId="{45CBE3BF-7960-41B8-8C5E-D735C85674FA}" type="pres">
      <dgm:prSet presAssocID="{F1B274EB-9A9B-47BF-8389-38F43BACCDD3}" presName="textRect" presStyleLbl="revTx" presStyleIdx="5" presStyleCnt="6">
        <dgm:presLayoutVars>
          <dgm:chMax val="1"/>
          <dgm:chPref val="1"/>
        </dgm:presLayoutVars>
      </dgm:prSet>
      <dgm:spPr/>
    </dgm:pt>
  </dgm:ptLst>
  <dgm:cxnLst>
    <dgm:cxn modelId="{570C830D-0086-4EDE-9967-1DAB7FC4A569}" srcId="{AA53EA9D-E187-402C-89D4-432C12577125}" destId="{F1B274EB-9A9B-47BF-8389-38F43BACCDD3}" srcOrd="5" destOrd="0" parTransId="{5429896F-3090-4579-A334-65AB3BC95615}" sibTransId="{916C59FD-2373-44FF-A81A-4C42AC0DD248}"/>
    <dgm:cxn modelId="{74CCD610-30B2-48A3-A4B7-955604F1CD34}" type="presOf" srcId="{3017DE7B-A1A4-4E4F-89DB-F8677712394E}" destId="{9D4CEAB5-7F6C-4A36-998B-3F3451517B69}" srcOrd="0" destOrd="0" presId="urn:microsoft.com/office/officeart/2018/5/layout/IconLeafLabelList"/>
    <dgm:cxn modelId="{2329E035-AE6F-43C6-A68B-511441FF1DDC}" type="presOf" srcId="{CEAD1BD2-CA5E-480C-9463-650DA26EB17C}" destId="{8064F61F-690A-4242-9A69-2B7D7900B8DA}" srcOrd="0" destOrd="0" presId="urn:microsoft.com/office/officeart/2018/5/layout/IconLeafLabelList"/>
    <dgm:cxn modelId="{7F488C37-0595-4BF7-8935-6E385F49CA33}" srcId="{AA53EA9D-E187-402C-89D4-432C12577125}" destId="{3017DE7B-A1A4-4E4F-89DB-F8677712394E}" srcOrd="3" destOrd="0" parTransId="{AF365197-9888-4686-92D6-B4E8767C2D3D}" sibTransId="{27F7935C-6E55-4D23-BC91-EDC9F9DD4CC5}"/>
    <dgm:cxn modelId="{5B61F940-A9FB-4B44-8A65-0ED019066744}" type="presOf" srcId="{F1B274EB-9A9B-47BF-8389-38F43BACCDD3}" destId="{45CBE3BF-7960-41B8-8C5E-D735C85674FA}" srcOrd="0" destOrd="0" presId="urn:microsoft.com/office/officeart/2018/5/layout/IconLeafLabelList"/>
    <dgm:cxn modelId="{6DC72764-1567-40AA-A499-0F2373241527}" type="presOf" srcId="{C3BA88F0-891E-45ED-85D9-BCE2A2F68210}" destId="{ED080EA2-BC8D-4977-B024-2F8E3657B0AC}" srcOrd="0" destOrd="0" presId="urn:microsoft.com/office/officeart/2018/5/layout/IconLeafLabelList"/>
    <dgm:cxn modelId="{E07B3679-1A6A-428A-80EC-51CF9D375BBC}" srcId="{AA53EA9D-E187-402C-89D4-432C12577125}" destId="{C3BA88F0-891E-45ED-85D9-BCE2A2F68210}" srcOrd="2" destOrd="0" parTransId="{AFF99319-5D19-43E0-B910-2115BC468B46}" sibTransId="{995FE284-27A7-4B12-9182-DFEB71619978}"/>
    <dgm:cxn modelId="{AB0A4987-3DC0-45C9-8095-D0FCF8E9F668}" srcId="{AA53EA9D-E187-402C-89D4-432C12577125}" destId="{9CEE55D8-B0CC-412E-94C1-39A9B6DCF821}" srcOrd="4" destOrd="0" parTransId="{C8544D4C-DFCE-4A59-B418-9A870B4C2398}" sibTransId="{81D588D0-C299-4466-B378-7603D31CF8F7}"/>
    <dgm:cxn modelId="{7BB6928B-A901-47DF-86ED-CCDF9170539F}" type="presOf" srcId="{E8382381-B9D2-4086-8B46-F6E9C538573C}" destId="{336C6049-5520-4478-A404-0B38126FACA0}" srcOrd="0" destOrd="0" presId="urn:microsoft.com/office/officeart/2018/5/layout/IconLeafLabelList"/>
    <dgm:cxn modelId="{06EF2FA5-2DF4-43A3-8D5B-5CCBBCDBE50F}" srcId="{AA53EA9D-E187-402C-89D4-432C12577125}" destId="{CEAD1BD2-CA5E-480C-9463-650DA26EB17C}" srcOrd="1" destOrd="0" parTransId="{8DF78492-907C-4639-A5CC-87B89F3A212D}" sibTransId="{48C48249-46E3-4036-A57C-6170EE8B51AF}"/>
    <dgm:cxn modelId="{71C63BB2-DC42-450B-A44B-52811B43D90B}" type="presOf" srcId="{AA53EA9D-E187-402C-89D4-432C12577125}" destId="{EF7AA4DF-ACB9-4B03-A101-66DF5D12AEA0}" srcOrd="0" destOrd="0" presId="urn:microsoft.com/office/officeart/2018/5/layout/IconLeafLabelList"/>
    <dgm:cxn modelId="{5A8E8DC1-275C-473E-A5C6-12FA93372F83}" type="presOf" srcId="{9CEE55D8-B0CC-412E-94C1-39A9B6DCF821}" destId="{EC82F79E-9817-4A98-BB03-0958C87565DA}" srcOrd="0" destOrd="0" presId="urn:microsoft.com/office/officeart/2018/5/layout/IconLeafLabelList"/>
    <dgm:cxn modelId="{0CBC99CD-68D0-4458-8EC4-0CB877E90C45}" srcId="{AA53EA9D-E187-402C-89D4-432C12577125}" destId="{E8382381-B9D2-4086-8B46-F6E9C538573C}" srcOrd="0" destOrd="0" parTransId="{C9892C4A-22FA-49B4-9D4E-86EF068D19FF}" sibTransId="{704D4AA4-EC42-4D63-ADB0-F8B033B9E2BD}"/>
    <dgm:cxn modelId="{6948C515-EA43-43BA-9901-F67B4D40EBDB}" type="presParOf" srcId="{EF7AA4DF-ACB9-4B03-A101-66DF5D12AEA0}" destId="{B246D490-DE93-4BAD-A468-3DDC320A6079}" srcOrd="0" destOrd="0" presId="urn:microsoft.com/office/officeart/2018/5/layout/IconLeafLabelList"/>
    <dgm:cxn modelId="{2E5FF7A5-BBBF-4ED2-AB36-0712C37BE3E1}" type="presParOf" srcId="{B246D490-DE93-4BAD-A468-3DDC320A6079}" destId="{8AD51099-3D22-4BF2-AE49-F9319D2A6C23}" srcOrd="0" destOrd="0" presId="urn:microsoft.com/office/officeart/2018/5/layout/IconLeafLabelList"/>
    <dgm:cxn modelId="{63DCB920-1DC1-4E41-B718-B5D4BAE7F570}" type="presParOf" srcId="{B246D490-DE93-4BAD-A468-3DDC320A6079}" destId="{3E34DE18-009F-4617-8F17-EE8C1E9BCB46}" srcOrd="1" destOrd="0" presId="urn:microsoft.com/office/officeart/2018/5/layout/IconLeafLabelList"/>
    <dgm:cxn modelId="{F1383102-581F-4142-9E34-38B4184921E9}" type="presParOf" srcId="{B246D490-DE93-4BAD-A468-3DDC320A6079}" destId="{44E395F0-7714-4427-84FC-301B19A19814}" srcOrd="2" destOrd="0" presId="urn:microsoft.com/office/officeart/2018/5/layout/IconLeafLabelList"/>
    <dgm:cxn modelId="{E77FD9E1-C630-48A5-8E4E-4F480B5CCBC5}" type="presParOf" srcId="{B246D490-DE93-4BAD-A468-3DDC320A6079}" destId="{336C6049-5520-4478-A404-0B38126FACA0}" srcOrd="3" destOrd="0" presId="urn:microsoft.com/office/officeart/2018/5/layout/IconLeafLabelList"/>
    <dgm:cxn modelId="{1D092E4B-6A23-4DCB-A2C0-423F3791E51D}" type="presParOf" srcId="{EF7AA4DF-ACB9-4B03-A101-66DF5D12AEA0}" destId="{CE699BAF-7260-40D9-94C9-E312E163514E}" srcOrd="1" destOrd="0" presId="urn:microsoft.com/office/officeart/2018/5/layout/IconLeafLabelList"/>
    <dgm:cxn modelId="{5AD6C515-CAB2-41C2-A80A-DC2E0D23C4A7}" type="presParOf" srcId="{EF7AA4DF-ACB9-4B03-A101-66DF5D12AEA0}" destId="{3BF8FE82-3A7E-48C8-B490-05596C46EFBE}" srcOrd="2" destOrd="0" presId="urn:microsoft.com/office/officeart/2018/5/layout/IconLeafLabelList"/>
    <dgm:cxn modelId="{30E04E70-BF37-476B-8BBF-172AC28B0598}" type="presParOf" srcId="{3BF8FE82-3A7E-48C8-B490-05596C46EFBE}" destId="{CECA41FC-0276-4527-ACAF-11AAA4ED59F1}" srcOrd="0" destOrd="0" presId="urn:microsoft.com/office/officeart/2018/5/layout/IconLeafLabelList"/>
    <dgm:cxn modelId="{22274590-59A3-4B26-B966-D4FB196EBB87}" type="presParOf" srcId="{3BF8FE82-3A7E-48C8-B490-05596C46EFBE}" destId="{8D2F8045-B0A2-4294-97D6-7C69E7B3E160}" srcOrd="1" destOrd="0" presId="urn:microsoft.com/office/officeart/2018/5/layout/IconLeafLabelList"/>
    <dgm:cxn modelId="{F25025CF-C776-400C-83F6-D9236C036826}" type="presParOf" srcId="{3BF8FE82-3A7E-48C8-B490-05596C46EFBE}" destId="{2BD2A4E1-58FF-4F26-BA45-11CD6C49249F}" srcOrd="2" destOrd="0" presId="urn:microsoft.com/office/officeart/2018/5/layout/IconLeafLabelList"/>
    <dgm:cxn modelId="{B2C84AF0-6425-4E26-BB93-B3B5128C3FB6}" type="presParOf" srcId="{3BF8FE82-3A7E-48C8-B490-05596C46EFBE}" destId="{8064F61F-690A-4242-9A69-2B7D7900B8DA}" srcOrd="3" destOrd="0" presId="urn:microsoft.com/office/officeart/2018/5/layout/IconLeafLabelList"/>
    <dgm:cxn modelId="{B307ED7F-566A-49B1-91BA-B4CCE4E84BF5}" type="presParOf" srcId="{EF7AA4DF-ACB9-4B03-A101-66DF5D12AEA0}" destId="{289AB34A-88A7-4908-9DC7-F93D8B001877}" srcOrd="3" destOrd="0" presId="urn:microsoft.com/office/officeart/2018/5/layout/IconLeafLabelList"/>
    <dgm:cxn modelId="{1E4B5C05-37ED-4032-9FC3-276754977ED4}" type="presParOf" srcId="{EF7AA4DF-ACB9-4B03-A101-66DF5D12AEA0}" destId="{CDB5A4FC-D9EC-45E1-8F51-A3BCFBF3000C}" srcOrd="4" destOrd="0" presId="urn:microsoft.com/office/officeart/2018/5/layout/IconLeafLabelList"/>
    <dgm:cxn modelId="{3644E5B1-F663-41EA-8ADB-9BD50D1346A5}" type="presParOf" srcId="{CDB5A4FC-D9EC-45E1-8F51-A3BCFBF3000C}" destId="{24015378-F481-4406-877A-B26529708A10}" srcOrd="0" destOrd="0" presId="urn:microsoft.com/office/officeart/2018/5/layout/IconLeafLabelList"/>
    <dgm:cxn modelId="{0D031856-5A55-463A-8BFB-AF26DEB6B324}" type="presParOf" srcId="{CDB5A4FC-D9EC-45E1-8F51-A3BCFBF3000C}" destId="{CE8B233D-6022-4CFF-8299-800DB4424071}" srcOrd="1" destOrd="0" presId="urn:microsoft.com/office/officeart/2018/5/layout/IconLeafLabelList"/>
    <dgm:cxn modelId="{711C0C39-4BD8-4895-AF06-7023C4B427AE}" type="presParOf" srcId="{CDB5A4FC-D9EC-45E1-8F51-A3BCFBF3000C}" destId="{57B39D58-2E85-49B6-BE01-B2D948D1AD49}" srcOrd="2" destOrd="0" presId="urn:microsoft.com/office/officeart/2018/5/layout/IconLeafLabelList"/>
    <dgm:cxn modelId="{A1780110-CD75-4BF2-ACE9-F1B579260318}" type="presParOf" srcId="{CDB5A4FC-D9EC-45E1-8F51-A3BCFBF3000C}" destId="{ED080EA2-BC8D-4977-B024-2F8E3657B0AC}" srcOrd="3" destOrd="0" presId="urn:microsoft.com/office/officeart/2018/5/layout/IconLeafLabelList"/>
    <dgm:cxn modelId="{C6BB4085-F15F-4005-AE4E-80D8A6290DC2}" type="presParOf" srcId="{EF7AA4DF-ACB9-4B03-A101-66DF5D12AEA0}" destId="{CE9FF228-482A-44BD-A050-EA583E55EBEF}" srcOrd="5" destOrd="0" presId="urn:microsoft.com/office/officeart/2018/5/layout/IconLeafLabelList"/>
    <dgm:cxn modelId="{A2B609A0-08CE-4608-872F-8737A3329D69}" type="presParOf" srcId="{EF7AA4DF-ACB9-4B03-A101-66DF5D12AEA0}" destId="{43EA3463-5F18-41C3-BB64-AE120E5AE6DD}" srcOrd="6" destOrd="0" presId="urn:microsoft.com/office/officeart/2018/5/layout/IconLeafLabelList"/>
    <dgm:cxn modelId="{DFB5FAFD-F72D-49D6-A2D6-87B1FBB451EE}" type="presParOf" srcId="{43EA3463-5F18-41C3-BB64-AE120E5AE6DD}" destId="{CA4E178B-07B9-409F-B569-A694F23A9C91}" srcOrd="0" destOrd="0" presId="urn:microsoft.com/office/officeart/2018/5/layout/IconLeafLabelList"/>
    <dgm:cxn modelId="{70EB9C08-FBA0-4EDE-AAE0-4BEA321A9C50}" type="presParOf" srcId="{43EA3463-5F18-41C3-BB64-AE120E5AE6DD}" destId="{94DF53E7-ACA5-4E68-ACDC-EFF9C1A915A8}" srcOrd="1" destOrd="0" presId="urn:microsoft.com/office/officeart/2018/5/layout/IconLeafLabelList"/>
    <dgm:cxn modelId="{4B143BAD-518F-4C4E-A386-D82E2F24E449}" type="presParOf" srcId="{43EA3463-5F18-41C3-BB64-AE120E5AE6DD}" destId="{2271BF37-AC16-4210-AEAA-35DCAED39BB6}" srcOrd="2" destOrd="0" presId="urn:microsoft.com/office/officeart/2018/5/layout/IconLeafLabelList"/>
    <dgm:cxn modelId="{AAEB634A-079F-4609-8A5E-5850EF64C17C}" type="presParOf" srcId="{43EA3463-5F18-41C3-BB64-AE120E5AE6DD}" destId="{9D4CEAB5-7F6C-4A36-998B-3F3451517B69}" srcOrd="3" destOrd="0" presId="urn:microsoft.com/office/officeart/2018/5/layout/IconLeafLabelList"/>
    <dgm:cxn modelId="{B2E90228-70FB-45E9-B3C3-F707C28AC6D6}" type="presParOf" srcId="{EF7AA4DF-ACB9-4B03-A101-66DF5D12AEA0}" destId="{4932464F-8B8E-4CA7-BA69-37D4E874A7A3}" srcOrd="7" destOrd="0" presId="urn:microsoft.com/office/officeart/2018/5/layout/IconLeafLabelList"/>
    <dgm:cxn modelId="{33D54361-7FD3-4065-B19B-DC9FC8148122}" type="presParOf" srcId="{EF7AA4DF-ACB9-4B03-A101-66DF5D12AEA0}" destId="{4FF69AED-B5AD-454B-8906-EE826A651951}" srcOrd="8" destOrd="0" presId="urn:microsoft.com/office/officeart/2018/5/layout/IconLeafLabelList"/>
    <dgm:cxn modelId="{B6AC2655-5A25-40D2-9A25-2AF71936235F}" type="presParOf" srcId="{4FF69AED-B5AD-454B-8906-EE826A651951}" destId="{4912AD40-ADC1-497B-ADED-6EDB629CD6E1}" srcOrd="0" destOrd="0" presId="urn:microsoft.com/office/officeart/2018/5/layout/IconLeafLabelList"/>
    <dgm:cxn modelId="{62F8E850-433D-4EA5-B036-9C6AA4C8F28F}" type="presParOf" srcId="{4FF69AED-B5AD-454B-8906-EE826A651951}" destId="{E47D6D3F-D242-4C8E-8313-A70306008036}" srcOrd="1" destOrd="0" presId="urn:microsoft.com/office/officeart/2018/5/layout/IconLeafLabelList"/>
    <dgm:cxn modelId="{B3119E9C-3428-4CDB-B483-02942B169735}" type="presParOf" srcId="{4FF69AED-B5AD-454B-8906-EE826A651951}" destId="{0BD7DDE8-9AD0-436F-B443-CA3539A2CA15}" srcOrd="2" destOrd="0" presId="urn:microsoft.com/office/officeart/2018/5/layout/IconLeafLabelList"/>
    <dgm:cxn modelId="{6D02C8E3-FD29-4266-B5B4-CF55322A66BA}" type="presParOf" srcId="{4FF69AED-B5AD-454B-8906-EE826A651951}" destId="{EC82F79E-9817-4A98-BB03-0958C87565DA}" srcOrd="3" destOrd="0" presId="urn:microsoft.com/office/officeart/2018/5/layout/IconLeafLabelList"/>
    <dgm:cxn modelId="{56E90A51-5900-4315-9CD9-F370AA73F461}" type="presParOf" srcId="{EF7AA4DF-ACB9-4B03-A101-66DF5D12AEA0}" destId="{89508698-18F1-47BF-A814-D4C537712ED0}" srcOrd="9" destOrd="0" presId="urn:microsoft.com/office/officeart/2018/5/layout/IconLeafLabelList"/>
    <dgm:cxn modelId="{FB98C247-3559-43F3-9047-55D484239FA9}" type="presParOf" srcId="{EF7AA4DF-ACB9-4B03-A101-66DF5D12AEA0}" destId="{FE49AAC4-21A0-4D90-8648-2889BCBB6E12}" srcOrd="10" destOrd="0" presId="urn:microsoft.com/office/officeart/2018/5/layout/IconLeafLabelList"/>
    <dgm:cxn modelId="{F003A67C-003F-4C14-9A13-97C52B6DBC35}" type="presParOf" srcId="{FE49AAC4-21A0-4D90-8648-2889BCBB6E12}" destId="{9F659C1F-BDEC-42CB-9230-31655EB66D16}" srcOrd="0" destOrd="0" presId="urn:microsoft.com/office/officeart/2018/5/layout/IconLeafLabelList"/>
    <dgm:cxn modelId="{72F5CB8C-5CF0-480A-BF70-4936FB523671}" type="presParOf" srcId="{FE49AAC4-21A0-4D90-8648-2889BCBB6E12}" destId="{20D83771-A4D4-4259-9B66-BCB9DD577BEB}" srcOrd="1" destOrd="0" presId="urn:microsoft.com/office/officeart/2018/5/layout/IconLeafLabelList"/>
    <dgm:cxn modelId="{1ED78E3A-0624-47AE-BEFB-C446D9F50003}" type="presParOf" srcId="{FE49AAC4-21A0-4D90-8648-2889BCBB6E12}" destId="{F7F8AAE5-5E81-467B-99AC-DDFBAC1A98A1}" srcOrd="2" destOrd="0" presId="urn:microsoft.com/office/officeart/2018/5/layout/IconLeafLabelList"/>
    <dgm:cxn modelId="{D4EAEEF0-6C7A-491B-A3A7-80EEA2CE56BA}" type="presParOf" srcId="{FE49AAC4-21A0-4D90-8648-2889BCBB6E12}" destId="{45CBE3BF-7960-41B8-8C5E-D735C85674FA}"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D51099-3D22-4BF2-AE49-F9319D2A6C23}">
      <dsp:nvSpPr>
        <dsp:cNvPr id="0" name=""/>
        <dsp:cNvSpPr/>
      </dsp:nvSpPr>
      <dsp:spPr>
        <a:xfrm>
          <a:off x="545300" y="1052"/>
          <a:ext cx="1002568" cy="1002568"/>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34DE18-009F-4617-8F17-EE8C1E9BCB46}">
      <dsp:nvSpPr>
        <dsp:cNvPr id="0" name=""/>
        <dsp:cNvSpPr/>
      </dsp:nvSpPr>
      <dsp:spPr>
        <a:xfrm>
          <a:off x="758962" y="214714"/>
          <a:ext cx="575244" cy="5752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6C6049-5520-4478-A404-0B38126FACA0}">
      <dsp:nvSpPr>
        <dsp:cNvPr id="0" name=""/>
        <dsp:cNvSpPr/>
      </dsp:nvSpPr>
      <dsp:spPr>
        <a:xfrm>
          <a:off x="224807" y="1315895"/>
          <a:ext cx="1643554" cy="657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defRPr cap="all"/>
          </a:pPr>
          <a:r>
            <a:rPr lang="en-GB" sz="2300" kern="1200"/>
            <a:t>String</a:t>
          </a:r>
          <a:endParaRPr lang="en-US" sz="2300" kern="1200"/>
        </a:p>
      </dsp:txBody>
      <dsp:txXfrm>
        <a:off x="224807" y="1315895"/>
        <a:ext cx="1643554" cy="657421"/>
      </dsp:txXfrm>
    </dsp:sp>
    <dsp:sp modelId="{CECA41FC-0276-4527-ACAF-11AAA4ED59F1}">
      <dsp:nvSpPr>
        <dsp:cNvPr id="0" name=""/>
        <dsp:cNvSpPr/>
      </dsp:nvSpPr>
      <dsp:spPr>
        <a:xfrm>
          <a:off x="2476477" y="1052"/>
          <a:ext cx="1002568" cy="1002568"/>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2F8045-B0A2-4294-97D6-7C69E7B3E160}">
      <dsp:nvSpPr>
        <dsp:cNvPr id="0" name=""/>
        <dsp:cNvSpPr/>
      </dsp:nvSpPr>
      <dsp:spPr>
        <a:xfrm>
          <a:off x="2690139" y="214714"/>
          <a:ext cx="575244" cy="5752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064F61F-690A-4242-9A69-2B7D7900B8DA}">
      <dsp:nvSpPr>
        <dsp:cNvPr id="0" name=""/>
        <dsp:cNvSpPr/>
      </dsp:nvSpPr>
      <dsp:spPr>
        <a:xfrm>
          <a:off x="2155984" y="1315895"/>
          <a:ext cx="1643554" cy="657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defRPr cap="all"/>
          </a:pPr>
          <a:r>
            <a:rPr lang="en-GB" sz="2300" kern="1200"/>
            <a:t>Lists</a:t>
          </a:r>
          <a:endParaRPr lang="en-US" sz="2300" kern="1200"/>
        </a:p>
      </dsp:txBody>
      <dsp:txXfrm>
        <a:off x="2155984" y="1315895"/>
        <a:ext cx="1643554" cy="657421"/>
      </dsp:txXfrm>
    </dsp:sp>
    <dsp:sp modelId="{24015378-F481-4406-877A-B26529708A10}">
      <dsp:nvSpPr>
        <dsp:cNvPr id="0" name=""/>
        <dsp:cNvSpPr/>
      </dsp:nvSpPr>
      <dsp:spPr>
        <a:xfrm>
          <a:off x="4407654" y="1052"/>
          <a:ext cx="1002568" cy="1002568"/>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8B233D-6022-4CFF-8299-800DB4424071}">
      <dsp:nvSpPr>
        <dsp:cNvPr id="0" name=""/>
        <dsp:cNvSpPr/>
      </dsp:nvSpPr>
      <dsp:spPr>
        <a:xfrm>
          <a:off x="4621316" y="214714"/>
          <a:ext cx="575244" cy="5752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D080EA2-BC8D-4977-B024-2F8E3657B0AC}">
      <dsp:nvSpPr>
        <dsp:cNvPr id="0" name=""/>
        <dsp:cNvSpPr/>
      </dsp:nvSpPr>
      <dsp:spPr>
        <a:xfrm>
          <a:off x="4087161" y="1315895"/>
          <a:ext cx="1643554" cy="657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defRPr cap="all"/>
          </a:pPr>
          <a:r>
            <a:rPr lang="en-GB" sz="2300" kern="1200"/>
            <a:t>Tuples</a:t>
          </a:r>
          <a:endParaRPr lang="en-US" sz="2300" kern="1200"/>
        </a:p>
      </dsp:txBody>
      <dsp:txXfrm>
        <a:off x="4087161" y="1315895"/>
        <a:ext cx="1643554" cy="657421"/>
      </dsp:txXfrm>
    </dsp:sp>
    <dsp:sp modelId="{CA4E178B-07B9-409F-B569-A694F23A9C91}">
      <dsp:nvSpPr>
        <dsp:cNvPr id="0" name=""/>
        <dsp:cNvSpPr/>
      </dsp:nvSpPr>
      <dsp:spPr>
        <a:xfrm>
          <a:off x="6338830" y="1052"/>
          <a:ext cx="1002568" cy="1002568"/>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DF53E7-ACA5-4E68-ACDC-EFF9C1A915A8}">
      <dsp:nvSpPr>
        <dsp:cNvPr id="0" name=""/>
        <dsp:cNvSpPr/>
      </dsp:nvSpPr>
      <dsp:spPr>
        <a:xfrm>
          <a:off x="6552493" y="214714"/>
          <a:ext cx="575244" cy="5752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D4CEAB5-7F6C-4A36-998B-3F3451517B69}">
      <dsp:nvSpPr>
        <dsp:cNvPr id="0" name=""/>
        <dsp:cNvSpPr/>
      </dsp:nvSpPr>
      <dsp:spPr>
        <a:xfrm>
          <a:off x="6018337" y="1315895"/>
          <a:ext cx="1643554" cy="657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defRPr cap="all"/>
          </a:pPr>
          <a:r>
            <a:rPr lang="en-GB" sz="2300" kern="1200"/>
            <a:t>Dictionary</a:t>
          </a:r>
          <a:endParaRPr lang="en-US" sz="2300" kern="1200"/>
        </a:p>
      </dsp:txBody>
      <dsp:txXfrm>
        <a:off x="6018337" y="1315895"/>
        <a:ext cx="1643554" cy="657421"/>
      </dsp:txXfrm>
    </dsp:sp>
    <dsp:sp modelId="{4912AD40-ADC1-497B-ADED-6EDB629CD6E1}">
      <dsp:nvSpPr>
        <dsp:cNvPr id="0" name=""/>
        <dsp:cNvSpPr/>
      </dsp:nvSpPr>
      <dsp:spPr>
        <a:xfrm>
          <a:off x="2476477" y="2384206"/>
          <a:ext cx="1002568" cy="1002568"/>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7D6D3F-D242-4C8E-8313-A70306008036}">
      <dsp:nvSpPr>
        <dsp:cNvPr id="0" name=""/>
        <dsp:cNvSpPr/>
      </dsp:nvSpPr>
      <dsp:spPr>
        <a:xfrm>
          <a:off x="2690139" y="2597868"/>
          <a:ext cx="575244" cy="5752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C82F79E-9817-4A98-BB03-0958C87565DA}">
      <dsp:nvSpPr>
        <dsp:cNvPr id="0" name=""/>
        <dsp:cNvSpPr/>
      </dsp:nvSpPr>
      <dsp:spPr>
        <a:xfrm>
          <a:off x="2155984" y="3699050"/>
          <a:ext cx="1643554" cy="657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defRPr cap="all"/>
          </a:pPr>
          <a:r>
            <a:rPr lang="en-GB" sz="2300" kern="1200"/>
            <a:t>Sets</a:t>
          </a:r>
          <a:endParaRPr lang="en-US" sz="2300" kern="1200"/>
        </a:p>
      </dsp:txBody>
      <dsp:txXfrm>
        <a:off x="2155984" y="3699050"/>
        <a:ext cx="1643554" cy="657421"/>
      </dsp:txXfrm>
    </dsp:sp>
    <dsp:sp modelId="{9F659C1F-BDEC-42CB-9230-31655EB66D16}">
      <dsp:nvSpPr>
        <dsp:cNvPr id="0" name=""/>
        <dsp:cNvSpPr/>
      </dsp:nvSpPr>
      <dsp:spPr>
        <a:xfrm>
          <a:off x="4407654" y="2384206"/>
          <a:ext cx="1002568" cy="1002568"/>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D83771-A4D4-4259-9B66-BCB9DD577BEB}">
      <dsp:nvSpPr>
        <dsp:cNvPr id="0" name=""/>
        <dsp:cNvSpPr/>
      </dsp:nvSpPr>
      <dsp:spPr>
        <a:xfrm>
          <a:off x="4621316" y="2597868"/>
          <a:ext cx="575244" cy="57524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5CBE3BF-7960-41B8-8C5E-D735C85674FA}">
      <dsp:nvSpPr>
        <dsp:cNvPr id="0" name=""/>
        <dsp:cNvSpPr/>
      </dsp:nvSpPr>
      <dsp:spPr>
        <a:xfrm>
          <a:off x="4087161" y="3699050"/>
          <a:ext cx="1643554" cy="657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defRPr cap="all"/>
          </a:pPr>
          <a:r>
            <a:rPr lang="en-GB" sz="2300" kern="1200"/>
            <a:t>File handling</a:t>
          </a:r>
          <a:endParaRPr lang="en-US" sz="2300" kern="1200"/>
        </a:p>
      </dsp:txBody>
      <dsp:txXfrm>
        <a:off x="4087161" y="3699050"/>
        <a:ext cx="1643554" cy="657421"/>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997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GB" dirty="0"/>
          </a:p>
        </p:txBody>
      </p:sp>
    </p:spTree>
    <p:extLst>
      <p:ext uri="{BB962C8B-B14F-4D97-AF65-F5344CB8AC3E}">
        <p14:creationId xmlns:p14="http://schemas.microsoft.com/office/powerpoint/2010/main" val="1639653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D441B3-0B68-A78E-9393-80C694AC9A6D}"/>
              </a:ext>
            </a:extLst>
          </p:cNvPr>
          <p:cNvSpPr>
            <a:spLocks noGrp="1"/>
          </p:cNvSpPr>
          <p:nvPr>
            <p:ph type="title"/>
          </p:nvPr>
        </p:nvSpPr>
        <p:spPr>
          <a:xfrm>
            <a:off x="4739951" y="2392238"/>
            <a:ext cx="3809481" cy="1644592"/>
          </a:xfrm>
        </p:spPr>
        <p:txBody>
          <a:bodyPr vert="horz" lIns="91440" tIns="45720" rIns="91440" bIns="45720" rtlCol="0" anchor="t">
            <a:normAutofit/>
          </a:bodyPr>
          <a:lstStyle/>
          <a:p>
            <a:pPr algn="l" defTabSz="914400">
              <a:lnSpc>
                <a:spcPct val="90000"/>
              </a:lnSpc>
            </a:pPr>
            <a:r>
              <a:rPr lang="en-US" dirty="0">
                <a:solidFill>
                  <a:schemeClr val="tx2"/>
                </a:solidFill>
              </a:rPr>
              <a:t>Data structures</a:t>
            </a:r>
          </a:p>
        </p:txBody>
      </p:sp>
      <p:pic>
        <p:nvPicPr>
          <p:cNvPr id="4" name="Picture 3">
            <a:extLst>
              <a:ext uri="{FF2B5EF4-FFF2-40B4-BE49-F238E27FC236}">
                <a16:creationId xmlns:a16="http://schemas.microsoft.com/office/drawing/2014/main" id="{534B93C5-B67C-9033-A4C2-A3529EA11DEC}"/>
              </a:ext>
            </a:extLst>
          </p:cNvPr>
          <p:cNvPicPr>
            <a:picLocks noChangeAspect="1"/>
          </p:cNvPicPr>
          <p:nvPr/>
        </p:nvPicPr>
        <p:blipFill>
          <a:blip r:embed="rId2">
            <a:alphaModFix/>
          </a:blip>
          <a:srcRect l="12776" r="47713"/>
          <a:stretch>
            <a:fillRect/>
          </a:stretch>
        </p:blipFill>
        <p:spPr>
          <a:xfrm>
            <a:off x="-228" y="1"/>
            <a:ext cx="4817289" cy="6858000"/>
          </a:xfrm>
          <a:prstGeom prst="rect">
            <a:avLst/>
          </a:prstGeom>
        </p:spPr>
      </p:pic>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817286"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Tree>
    <p:extLst>
      <p:ext uri="{BB962C8B-B14F-4D97-AF65-F5344CB8AC3E}">
        <p14:creationId xmlns:p14="http://schemas.microsoft.com/office/powerpoint/2010/main" val="140359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555100-72E4-2F94-6F29-311FE97B8B9E}"/>
              </a:ext>
            </a:extLst>
          </p:cNvPr>
          <p:cNvSpPr>
            <a:spLocks noGrp="1"/>
          </p:cNvSpPr>
          <p:nvPr>
            <p:ph type="title"/>
          </p:nvPr>
        </p:nvSpPr>
        <p:spPr>
          <a:xfrm>
            <a:off x="630936" y="256032"/>
            <a:ext cx="7879842" cy="1014984"/>
          </a:xfrm>
        </p:spPr>
        <p:txBody>
          <a:bodyPr anchor="b">
            <a:normAutofit/>
          </a:bodyPr>
          <a:lstStyle/>
          <a:p>
            <a:r>
              <a:rPr lang="en-GB" dirty="0"/>
              <a:t>Synopsis</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4186052A-7CF8-7FF5-7281-8FDB3B6FE6B1}"/>
              </a:ext>
            </a:extLst>
          </p:cNvPr>
          <p:cNvGraphicFramePr>
            <a:graphicFrameLocks noGrp="1"/>
          </p:cNvGraphicFramePr>
          <p:nvPr>
            <p:ph idx="1"/>
            <p:extLst>
              <p:ext uri="{D42A27DB-BD31-4B8C-83A1-F6EECF244321}">
                <p14:modId xmlns:p14="http://schemas.microsoft.com/office/powerpoint/2010/main" val="602712974"/>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4137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4B3780-DAAF-3F39-5361-9EF16FABAAAE}"/>
              </a:ext>
            </a:extLst>
          </p:cNvPr>
          <p:cNvSpPr>
            <a:spLocks noGrp="1"/>
          </p:cNvSpPr>
          <p:nvPr>
            <p:ph type="title"/>
          </p:nvPr>
        </p:nvSpPr>
        <p:spPr>
          <a:xfrm>
            <a:off x="5061204" y="4018276"/>
            <a:ext cx="3600195" cy="1644592"/>
          </a:xfrm>
        </p:spPr>
        <p:txBody>
          <a:bodyPr vert="horz" lIns="91440" tIns="45720" rIns="91440" bIns="45720" rtlCol="0" anchor="t">
            <a:normAutofit/>
          </a:bodyPr>
          <a:lstStyle/>
          <a:p>
            <a:pPr algn="l" defTabSz="914400">
              <a:lnSpc>
                <a:spcPct val="90000"/>
              </a:lnSpc>
            </a:pPr>
            <a:r>
              <a:rPr lang="en-US" sz="3500">
                <a:solidFill>
                  <a:schemeClr val="tx2"/>
                </a:solidFill>
              </a:rPr>
              <a:t>strings</a:t>
            </a:r>
          </a:p>
        </p:txBody>
      </p:sp>
      <p:pic>
        <p:nvPicPr>
          <p:cNvPr id="4" name="Picture 3" descr="Colourful threads on white background">
            <a:extLst>
              <a:ext uri="{FF2B5EF4-FFF2-40B4-BE49-F238E27FC236}">
                <a16:creationId xmlns:a16="http://schemas.microsoft.com/office/drawing/2014/main" id="{1737606E-EA90-208A-C5FB-155C17272A8A}"/>
              </a:ext>
            </a:extLst>
          </p:cNvPr>
          <p:cNvPicPr>
            <a:picLocks noChangeAspect="1"/>
          </p:cNvPicPr>
          <p:nvPr/>
        </p:nvPicPr>
        <p:blipFill>
          <a:blip r:embed="rId2">
            <a:alphaModFix/>
          </a:blip>
          <a:srcRect l="21938" r="25379"/>
          <a:stretch>
            <a:fillRect/>
          </a:stretch>
        </p:blipFill>
        <p:spPr>
          <a:xfrm>
            <a:off x="-228" y="1"/>
            <a:ext cx="4817289" cy="6858000"/>
          </a:xfrm>
          <a:prstGeom prst="rect">
            <a:avLst/>
          </a:prstGeom>
        </p:spPr>
      </p:pic>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817286"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Tree>
    <p:extLst>
      <p:ext uri="{BB962C8B-B14F-4D97-AF65-F5344CB8AC3E}">
        <p14:creationId xmlns:p14="http://schemas.microsoft.com/office/powerpoint/2010/main" val="645922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2AB608D1-088B-95AC-1674-E1F491CEB444}"/>
              </a:ext>
            </a:extLst>
          </p:cNvPr>
          <p:cNvPicPr>
            <a:picLocks noChangeAspect="1" noChangeArrowheads="1"/>
          </p:cNvPicPr>
          <p:nvPr/>
        </p:nvPicPr>
        <p:blipFill>
          <a:blip r:embed="rId2"/>
          <a:srcRect/>
          <a:stretch>
            <a:fillRect/>
          </a:stretch>
        </p:blipFill>
        <p:spPr bwMode="auto">
          <a:xfrm>
            <a:off x="6375920" y="5666792"/>
            <a:ext cx="2687216" cy="846534"/>
          </a:xfrm>
          <a:prstGeom prst="rect">
            <a:avLst/>
          </a:prstGeom>
          <a:noFill/>
          <a:ln w="9525">
            <a:noFill/>
            <a:miter lim="800000"/>
            <a:headEnd/>
            <a:tailEnd/>
          </a:ln>
          <a:effectLst/>
        </p:spPr>
      </p:pic>
      <p:sp>
        <p:nvSpPr>
          <p:cNvPr id="3" name="TextBox 2">
            <a:extLst>
              <a:ext uri="{FF2B5EF4-FFF2-40B4-BE49-F238E27FC236}">
                <a16:creationId xmlns:a16="http://schemas.microsoft.com/office/drawing/2014/main" id="{A811409F-D7BE-A6F6-D2A0-739A50BB9595}"/>
              </a:ext>
            </a:extLst>
          </p:cNvPr>
          <p:cNvSpPr txBox="1"/>
          <p:nvPr/>
        </p:nvSpPr>
        <p:spPr>
          <a:xfrm>
            <a:off x="424621" y="251735"/>
            <a:ext cx="7514097" cy="707886"/>
          </a:xfrm>
          <a:prstGeom prst="rect">
            <a:avLst/>
          </a:prstGeom>
          <a:noFill/>
        </p:spPr>
        <p:txBody>
          <a:bodyPr wrap="square">
            <a:spAutoFit/>
          </a:bodyPr>
          <a:lstStyle/>
          <a:p>
            <a:r>
              <a:rPr lang="en-US" sz="2000" b="0" i="0" dirty="0">
                <a:solidFill>
                  <a:srgbClr val="273239"/>
                </a:solidFill>
                <a:effectLst/>
              </a:rPr>
              <a:t>Strings can be created using either </a:t>
            </a:r>
            <a:r>
              <a:rPr lang="en-US" sz="2000" b="1" i="0" dirty="0">
                <a:solidFill>
                  <a:srgbClr val="273239"/>
                </a:solidFill>
                <a:effectLst/>
              </a:rPr>
              <a:t>single ('...') </a:t>
            </a:r>
            <a:r>
              <a:rPr lang="en-US" sz="2000" b="0" i="0" dirty="0">
                <a:solidFill>
                  <a:srgbClr val="273239"/>
                </a:solidFill>
                <a:effectLst/>
              </a:rPr>
              <a:t>or</a:t>
            </a:r>
            <a:r>
              <a:rPr lang="en-US" sz="2000" b="1" i="0" dirty="0">
                <a:solidFill>
                  <a:srgbClr val="273239"/>
                </a:solidFill>
                <a:effectLst/>
              </a:rPr>
              <a:t> double ("...") </a:t>
            </a:r>
            <a:r>
              <a:rPr lang="en-US" sz="2000" b="0" i="0" dirty="0">
                <a:solidFill>
                  <a:srgbClr val="273239"/>
                </a:solidFill>
                <a:effectLst/>
              </a:rPr>
              <a:t>quotes. Both behave the same.</a:t>
            </a:r>
            <a:endParaRPr lang="en-GB" sz="2000" dirty="0"/>
          </a:p>
        </p:txBody>
      </p:sp>
      <p:graphicFrame>
        <p:nvGraphicFramePr>
          <p:cNvPr id="8" name="Table 7">
            <a:extLst>
              <a:ext uri="{FF2B5EF4-FFF2-40B4-BE49-F238E27FC236}">
                <a16:creationId xmlns:a16="http://schemas.microsoft.com/office/drawing/2014/main" id="{254D08F7-A9EC-F95A-48C3-AA7733B10610}"/>
              </a:ext>
            </a:extLst>
          </p:cNvPr>
          <p:cNvGraphicFramePr>
            <a:graphicFrameLocks noGrp="1"/>
          </p:cNvGraphicFramePr>
          <p:nvPr>
            <p:extLst>
              <p:ext uri="{D42A27DB-BD31-4B8C-83A1-F6EECF244321}">
                <p14:modId xmlns:p14="http://schemas.microsoft.com/office/powerpoint/2010/main" val="1408690533"/>
              </p:ext>
            </p:extLst>
          </p:nvPr>
        </p:nvGraphicFramePr>
        <p:xfrm>
          <a:off x="279919" y="1389951"/>
          <a:ext cx="5679231" cy="4267200"/>
        </p:xfrm>
        <a:graphic>
          <a:graphicData uri="http://schemas.openxmlformats.org/drawingml/2006/table">
            <a:tbl>
              <a:tblPr firstRow="1" bandRow="1">
                <a:tableStyleId>{073A0DAA-6AF3-43AB-8588-CEC1D06C72B9}</a:tableStyleId>
              </a:tblPr>
              <a:tblGrid>
                <a:gridCol w="1893077">
                  <a:extLst>
                    <a:ext uri="{9D8B030D-6E8A-4147-A177-3AD203B41FA5}">
                      <a16:colId xmlns:a16="http://schemas.microsoft.com/office/drawing/2014/main" val="391446084"/>
                    </a:ext>
                  </a:extLst>
                </a:gridCol>
                <a:gridCol w="1893077">
                  <a:extLst>
                    <a:ext uri="{9D8B030D-6E8A-4147-A177-3AD203B41FA5}">
                      <a16:colId xmlns:a16="http://schemas.microsoft.com/office/drawing/2014/main" val="3567835347"/>
                    </a:ext>
                  </a:extLst>
                </a:gridCol>
                <a:gridCol w="1893077">
                  <a:extLst>
                    <a:ext uri="{9D8B030D-6E8A-4147-A177-3AD203B41FA5}">
                      <a16:colId xmlns:a16="http://schemas.microsoft.com/office/drawing/2014/main" val="210738918"/>
                    </a:ext>
                  </a:extLst>
                </a:gridCol>
              </a:tblGrid>
              <a:tr h="370840">
                <a:tc>
                  <a:txBody>
                    <a:bodyPr/>
                    <a:lstStyle/>
                    <a:p>
                      <a:r>
                        <a:rPr lang="en-GB" sz="2000" dirty="0"/>
                        <a:t>Command</a:t>
                      </a:r>
                    </a:p>
                  </a:txBody>
                  <a:tcPr/>
                </a:tc>
                <a:tc>
                  <a:txBody>
                    <a:bodyPr/>
                    <a:lstStyle/>
                    <a:p>
                      <a:r>
                        <a:rPr lang="en-GB" sz="2000" dirty="0"/>
                        <a:t>Result</a:t>
                      </a:r>
                    </a:p>
                  </a:txBody>
                  <a:tcPr/>
                </a:tc>
                <a:tc>
                  <a:txBody>
                    <a:bodyPr/>
                    <a:lstStyle/>
                    <a:p>
                      <a:r>
                        <a:rPr lang="en-GB" sz="2000" dirty="0"/>
                        <a:t>Explanation</a:t>
                      </a:r>
                    </a:p>
                  </a:txBody>
                  <a:tcPr/>
                </a:tc>
                <a:extLst>
                  <a:ext uri="{0D108BD9-81ED-4DB2-BD59-A6C34878D82A}">
                    <a16:rowId xmlns:a16="http://schemas.microsoft.com/office/drawing/2014/main" val="2200354"/>
                  </a:ext>
                </a:extLst>
              </a:tr>
              <a:tr h="370840">
                <a:tc>
                  <a:txBody>
                    <a:bodyPr/>
                    <a:lstStyle/>
                    <a:p>
                      <a:r>
                        <a:rPr lang="en-US" altLang="en-US" sz="2000" dirty="0">
                          <a:solidFill>
                            <a:schemeClr val="tx1"/>
                          </a:solidFill>
                        </a:rPr>
                        <a:t>"</a:t>
                      </a:r>
                      <a:r>
                        <a:rPr lang="en-US" altLang="en-US" sz="2000" dirty="0" err="1">
                          <a:solidFill>
                            <a:schemeClr val="tx1"/>
                          </a:solidFill>
                        </a:rPr>
                        <a:t>hello"+"world</a:t>
                      </a:r>
                      <a:r>
                        <a:rPr lang="en-US" altLang="en-US" sz="2000" dirty="0">
                          <a:solidFill>
                            <a:schemeClr val="tx1"/>
                          </a:solidFill>
                        </a:rPr>
                        <a:t>"</a:t>
                      </a:r>
                      <a:endParaRPr lang="en-GB" sz="2000" dirty="0"/>
                    </a:p>
                  </a:txBody>
                  <a:tcPr/>
                </a:tc>
                <a:tc>
                  <a:txBody>
                    <a:bodyPr/>
                    <a:lstStyle/>
                    <a:p>
                      <a:r>
                        <a:rPr lang="en-US" altLang="en-US" sz="2000" dirty="0">
                          <a:solidFill>
                            <a:schemeClr val="tx1"/>
                          </a:solidFill>
                        </a:rPr>
                        <a:t>"</a:t>
                      </a:r>
                      <a:r>
                        <a:rPr lang="en-US" altLang="en-US" sz="2000" dirty="0" err="1">
                          <a:solidFill>
                            <a:schemeClr val="tx1"/>
                          </a:solidFill>
                        </a:rPr>
                        <a:t>helloworld</a:t>
                      </a:r>
                      <a:r>
                        <a:rPr lang="en-US" altLang="en-US" sz="2000" dirty="0">
                          <a:solidFill>
                            <a:schemeClr val="tx1"/>
                          </a:solidFill>
                        </a:rPr>
                        <a:t>"</a:t>
                      </a:r>
                      <a:endParaRPr lang="en-GB" sz="20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2000" dirty="0">
                          <a:solidFill>
                            <a:schemeClr val="tx1"/>
                          </a:solidFill>
                        </a:rPr>
                        <a:t># concatenation</a:t>
                      </a:r>
                    </a:p>
                  </a:txBody>
                  <a:tcPr/>
                </a:tc>
                <a:extLst>
                  <a:ext uri="{0D108BD9-81ED-4DB2-BD59-A6C34878D82A}">
                    <a16:rowId xmlns:a16="http://schemas.microsoft.com/office/drawing/2014/main" val="1890680526"/>
                  </a:ext>
                </a:extLst>
              </a:tr>
              <a:tr h="370840">
                <a:tc>
                  <a:txBody>
                    <a:bodyPr/>
                    <a:lstStyle/>
                    <a:p>
                      <a:r>
                        <a:rPr lang="en-US" altLang="en-US" sz="2000" dirty="0">
                          <a:solidFill>
                            <a:schemeClr val="tx1"/>
                          </a:solidFill>
                        </a:rPr>
                        <a:t>"hello"*2</a:t>
                      </a:r>
                      <a:endParaRPr lang="en-GB" sz="2000" dirty="0"/>
                    </a:p>
                  </a:txBody>
                  <a:tcPr/>
                </a:tc>
                <a:tc>
                  <a:txBody>
                    <a:bodyPr/>
                    <a:lstStyle/>
                    <a:p>
                      <a:r>
                        <a:rPr lang="en-US" altLang="en-US" sz="2000" dirty="0">
                          <a:solidFill>
                            <a:schemeClr val="tx1"/>
                          </a:solidFill>
                        </a:rPr>
                        <a:t>"</a:t>
                      </a:r>
                      <a:r>
                        <a:rPr lang="en-US" altLang="en-US" sz="2000" dirty="0" err="1">
                          <a:solidFill>
                            <a:schemeClr val="tx1"/>
                          </a:solidFill>
                        </a:rPr>
                        <a:t>hellohello</a:t>
                      </a:r>
                      <a:r>
                        <a:rPr lang="en-US" altLang="en-US" sz="2000" dirty="0">
                          <a:solidFill>
                            <a:schemeClr val="tx1"/>
                          </a:solidFill>
                        </a:rPr>
                        <a:t>"</a:t>
                      </a:r>
                      <a:endParaRPr lang="en-GB" sz="20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2000" dirty="0">
                          <a:solidFill>
                            <a:schemeClr val="tx1"/>
                          </a:solidFill>
                        </a:rPr>
                        <a:t># repetition</a:t>
                      </a:r>
                    </a:p>
                  </a:txBody>
                  <a:tcPr/>
                </a:tc>
                <a:extLst>
                  <a:ext uri="{0D108BD9-81ED-4DB2-BD59-A6C34878D82A}">
                    <a16:rowId xmlns:a16="http://schemas.microsoft.com/office/drawing/2014/main" val="3556941093"/>
                  </a:ext>
                </a:extLst>
              </a:tr>
              <a:tr h="370840">
                <a:tc>
                  <a:txBody>
                    <a:bodyPr/>
                    <a:lstStyle/>
                    <a:p>
                      <a:r>
                        <a:rPr lang="en-US" altLang="en-US" sz="2000" dirty="0">
                          <a:solidFill>
                            <a:schemeClr val="tx1"/>
                          </a:solidFill>
                        </a:rPr>
                        <a:t>"hello"[0]</a:t>
                      </a:r>
                      <a:endParaRPr lang="en-GB" sz="2000" dirty="0"/>
                    </a:p>
                  </a:txBody>
                  <a:tcPr/>
                </a:tc>
                <a:tc>
                  <a:txBody>
                    <a:bodyPr/>
                    <a:lstStyle/>
                    <a:p>
                      <a:r>
                        <a:rPr lang="en-US" altLang="en-US" sz="2000" dirty="0">
                          <a:solidFill>
                            <a:schemeClr val="tx1"/>
                          </a:solidFill>
                        </a:rPr>
                        <a:t>"h"</a:t>
                      </a:r>
                      <a:endParaRPr lang="en-GB" sz="20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2000" dirty="0">
                          <a:solidFill>
                            <a:schemeClr val="tx1"/>
                          </a:solidFill>
                        </a:rPr>
                        <a:t># indexing</a:t>
                      </a:r>
                    </a:p>
                  </a:txBody>
                  <a:tcPr/>
                </a:tc>
                <a:extLst>
                  <a:ext uri="{0D108BD9-81ED-4DB2-BD59-A6C34878D82A}">
                    <a16:rowId xmlns:a16="http://schemas.microsoft.com/office/drawing/2014/main" val="3314232630"/>
                  </a:ext>
                </a:extLst>
              </a:tr>
              <a:tr h="370840">
                <a:tc>
                  <a:txBody>
                    <a:bodyPr/>
                    <a:lstStyle/>
                    <a:p>
                      <a:r>
                        <a:rPr lang="en-US" altLang="en-US" sz="2000" dirty="0">
                          <a:solidFill>
                            <a:schemeClr val="tx1"/>
                          </a:solidFill>
                        </a:rPr>
                        <a:t>"hello"[-1]</a:t>
                      </a:r>
                      <a:endParaRPr lang="en-GB" sz="2000" dirty="0"/>
                    </a:p>
                  </a:txBody>
                  <a:tcPr/>
                </a:tc>
                <a:tc>
                  <a:txBody>
                    <a:bodyPr/>
                    <a:lstStyle/>
                    <a:p>
                      <a:r>
                        <a:rPr lang="en-US" altLang="en-US" sz="2000" dirty="0">
                          <a:solidFill>
                            <a:schemeClr val="tx1"/>
                          </a:solidFill>
                        </a:rPr>
                        <a:t>"o"</a:t>
                      </a:r>
                      <a:endParaRPr lang="en-GB" sz="20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2000" dirty="0">
                          <a:solidFill>
                            <a:schemeClr val="tx1"/>
                          </a:solidFill>
                        </a:rPr>
                        <a:t># (from end)</a:t>
                      </a:r>
                    </a:p>
                  </a:txBody>
                  <a:tcPr/>
                </a:tc>
                <a:extLst>
                  <a:ext uri="{0D108BD9-81ED-4DB2-BD59-A6C34878D82A}">
                    <a16:rowId xmlns:a16="http://schemas.microsoft.com/office/drawing/2014/main" val="1693606894"/>
                  </a:ext>
                </a:extLst>
              </a:tr>
              <a:tr h="370840">
                <a:tc>
                  <a:txBody>
                    <a:bodyPr/>
                    <a:lstStyle/>
                    <a:p>
                      <a:r>
                        <a:rPr lang="en-US" altLang="en-US" sz="2000" dirty="0">
                          <a:solidFill>
                            <a:schemeClr val="tx1"/>
                          </a:solidFill>
                        </a:rPr>
                        <a:t>"hello"[1:4]</a:t>
                      </a:r>
                      <a:endParaRPr lang="en-GB" sz="2000" dirty="0"/>
                    </a:p>
                  </a:txBody>
                  <a:tcPr/>
                </a:tc>
                <a:tc>
                  <a:txBody>
                    <a:bodyPr/>
                    <a:lstStyle/>
                    <a:p>
                      <a:r>
                        <a:rPr lang="en-US" altLang="en-US" sz="2000" dirty="0">
                          <a:solidFill>
                            <a:schemeClr val="tx1"/>
                          </a:solidFill>
                        </a:rPr>
                        <a:t>"ell"	</a:t>
                      </a:r>
                      <a:endParaRPr lang="en-GB" sz="2000" dirty="0"/>
                    </a:p>
                  </a:txBody>
                  <a:tcPr/>
                </a:tc>
                <a:tc>
                  <a:txBody>
                    <a:bodyPr/>
                    <a:lstStyle/>
                    <a:p>
                      <a:r>
                        <a:rPr lang="en-US" altLang="en-US" sz="2000" dirty="0">
                          <a:solidFill>
                            <a:schemeClr val="tx1"/>
                          </a:solidFill>
                        </a:rPr>
                        <a:t># slicing</a:t>
                      </a:r>
                      <a:endParaRPr lang="en-GB" sz="2000" dirty="0"/>
                    </a:p>
                  </a:txBody>
                  <a:tcPr/>
                </a:tc>
                <a:extLst>
                  <a:ext uri="{0D108BD9-81ED-4DB2-BD59-A6C34878D82A}">
                    <a16:rowId xmlns:a16="http://schemas.microsoft.com/office/drawing/2014/main" val="3457626386"/>
                  </a:ext>
                </a:extLst>
              </a:tr>
              <a:tr h="370840">
                <a:tc>
                  <a:txBody>
                    <a:bodyPr/>
                    <a:lstStyle/>
                    <a:p>
                      <a:r>
                        <a:rPr lang="en-US" altLang="en-US" sz="2000" dirty="0" err="1">
                          <a:solidFill>
                            <a:schemeClr val="tx1"/>
                          </a:solidFill>
                        </a:rPr>
                        <a:t>len</a:t>
                      </a:r>
                      <a:r>
                        <a:rPr lang="en-US" altLang="en-US" sz="2000" dirty="0">
                          <a:solidFill>
                            <a:schemeClr val="tx1"/>
                          </a:solidFill>
                        </a:rPr>
                        <a:t>("hello")</a:t>
                      </a:r>
                      <a:endParaRPr lang="en-GB" sz="2000" dirty="0"/>
                    </a:p>
                  </a:txBody>
                  <a:tcPr/>
                </a:tc>
                <a:tc>
                  <a:txBody>
                    <a:bodyPr/>
                    <a:lstStyle/>
                    <a:p>
                      <a:r>
                        <a:rPr lang="en-US" altLang="en-US" sz="2000" dirty="0">
                          <a:solidFill>
                            <a:schemeClr val="tx1"/>
                          </a:solidFill>
                        </a:rPr>
                        <a:t>5</a:t>
                      </a:r>
                      <a:endParaRPr lang="en-GB" sz="20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2000" dirty="0">
                          <a:solidFill>
                            <a:schemeClr val="tx1"/>
                          </a:solidFill>
                        </a:rPr>
                        <a:t># size</a:t>
                      </a:r>
                    </a:p>
                  </a:txBody>
                  <a:tcPr/>
                </a:tc>
                <a:extLst>
                  <a:ext uri="{0D108BD9-81ED-4DB2-BD59-A6C34878D82A}">
                    <a16:rowId xmlns:a16="http://schemas.microsoft.com/office/drawing/2014/main" val="1086756282"/>
                  </a:ext>
                </a:extLst>
              </a:tr>
              <a:tr h="370840">
                <a:tc>
                  <a:txBody>
                    <a:bodyPr/>
                    <a:lstStyle/>
                    <a:p>
                      <a:r>
                        <a:rPr lang="en-US" altLang="en-US" sz="2000" dirty="0">
                          <a:solidFill>
                            <a:schemeClr val="tx1"/>
                          </a:solidFill>
                        </a:rPr>
                        <a:t>"hello" &lt; "</a:t>
                      </a:r>
                      <a:r>
                        <a:rPr lang="en-US" altLang="en-US" sz="2000" dirty="0" err="1">
                          <a:solidFill>
                            <a:schemeClr val="tx1"/>
                          </a:solidFill>
                        </a:rPr>
                        <a:t>jello</a:t>
                      </a:r>
                      <a:r>
                        <a:rPr lang="en-US" altLang="en-US" sz="2000" dirty="0">
                          <a:solidFill>
                            <a:schemeClr val="tx1"/>
                          </a:solidFill>
                        </a:rPr>
                        <a:t>"</a:t>
                      </a:r>
                      <a:endParaRPr lang="en-GB" sz="2000" dirty="0"/>
                    </a:p>
                  </a:txBody>
                  <a:tcPr/>
                </a:tc>
                <a:tc>
                  <a:txBody>
                    <a:bodyPr/>
                    <a:lstStyle/>
                    <a:p>
                      <a:r>
                        <a:rPr lang="en-US" altLang="en-US" sz="2000" dirty="0">
                          <a:solidFill>
                            <a:schemeClr val="tx1"/>
                          </a:solidFill>
                        </a:rPr>
                        <a:t>1</a:t>
                      </a:r>
                      <a:endParaRPr lang="en-GB" sz="20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2000" dirty="0">
                          <a:solidFill>
                            <a:schemeClr val="tx1"/>
                          </a:solidFill>
                        </a:rPr>
                        <a:t># comparison</a:t>
                      </a:r>
                    </a:p>
                  </a:txBody>
                  <a:tcPr/>
                </a:tc>
                <a:extLst>
                  <a:ext uri="{0D108BD9-81ED-4DB2-BD59-A6C34878D82A}">
                    <a16:rowId xmlns:a16="http://schemas.microsoft.com/office/drawing/2014/main" val="1171514919"/>
                  </a:ext>
                </a:extLst>
              </a:tr>
              <a:tr h="370840">
                <a:tc>
                  <a:txBody>
                    <a:bodyPr/>
                    <a:lstStyle/>
                    <a:p>
                      <a:r>
                        <a:rPr lang="en-US" altLang="en-US" sz="2000" dirty="0">
                          <a:solidFill>
                            <a:schemeClr val="tx1"/>
                          </a:solidFill>
                        </a:rPr>
                        <a:t>"e" in "hello"	</a:t>
                      </a:r>
                      <a:endParaRPr lang="en-GB" sz="2000" dirty="0"/>
                    </a:p>
                  </a:txBody>
                  <a:tcPr/>
                </a:tc>
                <a:tc>
                  <a:txBody>
                    <a:bodyPr/>
                    <a:lstStyle/>
                    <a:p>
                      <a:r>
                        <a:rPr lang="en-US" sz="2000" dirty="0">
                          <a:solidFill>
                            <a:schemeClr val="tx1"/>
                          </a:solidFill>
                        </a:rPr>
                        <a:t>1</a:t>
                      </a:r>
                      <a:endParaRPr lang="en-GB" sz="2000" dirty="0"/>
                    </a:p>
                  </a:txBody>
                  <a:tcPr/>
                </a:tc>
                <a:tc>
                  <a:txBody>
                    <a:bodyPr/>
                    <a:lstStyle/>
                    <a:p>
                      <a:r>
                        <a:rPr lang="en-US" altLang="en-US" sz="2000" dirty="0">
                          <a:solidFill>
                            <a:schemeClr val="tx1"/>
                          </a:solidFill>
                        </a:rPr>
                        <a:t># search</a:t>
                      </a:r>
                      <a:endParaRPr lang="en-GB" sz="2000" dirty="0"/>
                    </a:p>
                  </a:txBody>
                  <a:tcPr/>
                </a:tc>
                <a:extLst>
                  <a:ext uri="{0D108BD9-81ED-4DB2-BD59-A6C34878D82A}">
                    <a16:rowId xmlns:a16="http://schemas.microsoft.com/office/drawing/2014/main" val="3481057253"/>
                  </a:ext>
                </a:extLst>
              </a:tr>
              <a:tr h="370840">
                <a:tc>
                  <a:txBody>
                    <a:bodyPr/>
                    <a:lstStyle/>
                    <a:p>
                      <a:r>
                        <a:rPr lang="en-GB" sz="2000" dirty="0"/>
                        <a:t>s = "</a:t>
                      </a:r>
                      <a:r>
                        <a:rPr lang="en-GB" sz="2000" dirty="0" err="1"/>
                        <a:t>GfG</a:t>
                      </a:r>
                      <a:r>
                        <a:rPr lang="en-GB" sz="2000" dirty="0"/>
                        <a:t>"</a:t>
                      </a:r>
                    </a:p>
                    <a:p>
                      <a:r>
                        <a:rPr lang="en-GB" sz="2000" dirty="0"/>
                        <a:t>del s</a:t>
                      </a:r>
                    </a:p>
                  </a:txBody>
                  <a:tcPr/>
                </a:tc>
                <a:tc>
                  <a:txBody>
                    <a:bodyPr/>
                    <a:lstStyle/>
                    <a:p>
                      <a:endParaRPr lang="en-GB" sz="2000" dirty="0"/>
                    </a:p>
                  </a:txBody>
                  <a:tcPr/>
                </a:tc>
                <a:tc>
                  <a:txBody>
                    <a:bodyPr/>
                    <a:lstStyle/>
                    <a:p>
                      <a:r>
                        <a:rPr lang="en-GB" sz="2000" dirty="0"/>
                        <a:t>#deletion</a:t>
                      </a:r>
                    </a:p>
                  </a:txBody>
                  <a:tcPr/>
                </a:tc>
                <a:extLst>
                  <a:ext uri="{0D108BD9-81ED-4DB2-BD59-A6C34878D82A}">
                    <a16:rowId xmlns:a16="http://schemas.microsoft.com/office/drawing/2014/main" val="855872915"/>
                  </a:ext>
                </a:extLst>
              </a:tr>
            </a:tbl>
          </a:graphicData>
        </a:graphic>
      </p:graphicFrame>
      <p:sp>
        <p:nvSpPr>
          <p:cNvPr id="16" name="TextBox 15">
            <a:extLst>
              <a:ext uri="{FF2B5EF4-FFF2-40B4-BE49-F238E27FC236}">
                <a16:creationId xmlns:a16="http://schemas.microsoft.com/office/drawing/2014/main" id="{5D8BA4B2-283E-17CA-EA56-D35944C93DB7}"/>
              </a:ext>
            </a:extLst>
          </p:cNvPr>
          <p:cNvSpPr txBox="1"/>
          <p:nvPr/>
        </p:nvSpPr>
        <p:spPr>
          <a:xfrm>
            <a:off x="6650393" y="1389951"/>
            <a:ext cx="1827245" cy="4093428"/>
          </a:xfrm>
          <a:prstGeom prst="rect">
            <a:avLst/>
          </a:prstGeom>
          <a:noFill/>
          <a:ln w="9525">
            <a:solidFill>
              <a:schemeClr val="tx1"/>
            </a:solidFill>
          </a:ln>
        </p:spPr>
        <p:txBody>
          <a:bodyPr wrap="square">
            <a:spAutoFit/>
          </a:bodyPr>
          <a:lstStyle/>
          <a:p>
            <a:r>
              <a:rPr lang="en-GB" sz="2000" b="1" dirty="0"/>
              <a:t>String Iteration</a:t>
            </a:r>
          </a:p>
          <a:p>
            <a:endParaRPr lang="en-GB" sz="2000" b="1" dirty="0"/>
          </a:p>
          <a:p>
            <a:r>
              <a:rPr lang="en-GB" sz="2000" dirty="0"/>
              <a:t>s = "Python"</a:t>
            </a:r>
          </a:p>
          <a:p>
            <a:r>
              <a:rPr lang="en-GB" sz="2000" dirty="0"/>
              <a:t>for char in s:</a:t>
            </a:r>
          </a:p>
          <a:p>
            <a:r>
              <a:rPr lang="en-GB" sz="2000" dirty="0"/>
              <a:t>    print(char)</a:t>
            </a:r>
          </a:p>
          <a:p>
            <a:endParaRPr lang="en-GB" sz="2000" b="1" dirty="0"/>
          </a:p>
          <a:p>
            <a:r>
              <a:rPr lang="pt-BR" sz="2000" b="1" dirty="0"/>
              <a:t>Output</a:t>
            </a:r>
          </a:p>
          <a:p>
            <a:r>
              <a:rPr lang="pt-BR" sz="2000" dirty="0"/>
              <a:t>P</a:t>
            </a:r>
          </a:p>
          <a:p>
            <a:r>
              <a:rPr lang="pt-BR" sz="2000" dirty="0"/>
              <a:t>y</a:t>
            </a:r>
          </a:p>
          <a:p>
            <a:r>
              <a:rPr lang="pt-BR" sz="2000" dirty="0"/>
              <a:t>t</a:t>
            </a:r>
          </a:p>
          <a:p>
            <a:r>
              <a:rPr lang="pt-BR" sz="2000" dirty="0"/>
              <a:t>h</a:t>
            </a:r>
          </a:p>
          <a:p>
            <a:r>
              <a:rPr lang="pt-BR" sz="2000" dirty="0"/>
              <a:t>o</a:t>
            </a:r>
          </a:p>
          <a:p>
            <a:r>
              <a:rPr lang="pt-BR" sz="2000" dirty="0"/>
              <a:t>n</a:t>
            </a:r>
          </a:p>
        </p:txBody>
      </p:sp>
    </p:spTree>
    <p:extLst>
      <p:ext uri="{BB962C8B-B14F-4D97-AF65-F5344CB8AC3E}">
        <p14:creationId xmlns:p14="http://schemas.microsoft.com/office/powerpoint/2010/main" val="3314768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C610936-BEF7-313A-DF72-72CF3365710A}"/>
              </a:ext>
            </a:extLst>
          </p:cNvPr>
          <p:cNvGraphicFramePr>
            <a:graphicFrameLocks noGrp="1"/>
          </p:cNvGraphicFramePr>
          <p:nvPr>
            <p:extLst>
              <p:ext uri="{D42A27DB-BD31-4B8C-83A1-F6EECF244321}">
                <p14:modId xmlns:p14="http://schemas.microsoft.com/office/powerpoint/2010/main" val="3934201563"/>
              </p:ext>
            </p:extLst>
          </p:nvPr>
        </p:nvGraphicFramePr>
        <p:xfrm>
          <a:off x="348343" y="1133671"/>
          <a:ext cx="8627706" cy="5102668"/>
        </p:xfrm>
        <a:graphic>
          <a:graphicData uri="http://schemas.openxmlformats.org/drawingml/2006/table">
            <a:tbl>
              <a:tblPr>
                <a:tableStyleId>{3C2FFA5D-87B4-456A-9821-1D502468CF0F}</a:tableStyleId>
              </a:tblPr>
              <a:tblGrid>
                <a:gridCol w="1374710">
                  <a:extLst>
                    <a:ext uri="{9D8B030D-6E8A-4147-A177-3AD203B41FA5}">
                      <a16:colId xmlns:a16="http://schemas.microsoft.com/office/drawing/2014/main" val="1995849422"/>
                    </a:ext>
                  </a:extLst>
                </a:gridCol>
                <a:gridCol w="2960914">
                  <a:extLst>
                    <a:ext uri="{9D8B030D-6E8A-4147-A177-3AD203B41FA5}">
                      <a16:colId xmlns:a16="http://schemas.microsoft.com/office/drawing/2014/main" val="2272371731"/>
                    </a:ext>
                  </a:extLst>
                </a:gridCol>
                <a:gridCol w="4292082">
                  <a:extLst>
                    <a:ext uri="{9D8B030D-6E8A-4147-A177-3AD203B41FA5}">
                      <a16:colId xmlns:a16="http://schemas.microsoft.com/office/drawing/2014/main" val="2189912320"/>
                    </a:ext>
                  </a:extLst>
                </a:gridCol>
              </a:tblGrid>
              <a:tr h="210510">
                <a:tc>
                  <a:txBody>
                    <a:bodyPr/>
                    <a:lstStyle/>
                    <a:p>
                      <a:pPr>
                        <a:buNone/>
                      </a:pPr>
                      <a:r>
                        <a:rPr lang="en-GB" sz="2000"/>
                        <a:t>Method</a:t>
                      </a:r>
                      <a:endParaRPr lang="en-GB" sz="2000">
                        <a:latin typeface="+mn-lt"/>
                      </a:endParaRPr>
                    </a:p>
                  </a:txBody>
                  <a:tcPr marL="52627" marR="52627" marT="26314" marB="26314" anchor="ctr"/>
                </a:tc>
                <a:tc>
                  <a:txBody>
                    <a:bodyPr/>
                    <a:lstStyle/>
                    <a:p>
                      <a:pPr>
                        <a:buNone/>
                      </a:pPr>
                      <a:r>
                        <a:rPr lang="en-GB" sz="2000"/>
                        <a:t>Purpose</a:t>
                      </a:r>
                      <a:endParaRPr lang="en-GB" sz="2000">
                        <a:latin typeface="+mn-lt"/>
                      </a:endParaRPr>
                    </a:p>
                  </a:txBody>
                  <a:tcPr marL="52627" marR="52627" marT="26314" marB="26314" anchor="ctr"/>
                </a:tc>
                <a:tc>
                  <a:txBody>
                    <a:bodyPr/>
                    <a:lstStyle/>
                    <a:p>
                      <a:pPr>
                        <a:buNone/>
                      </a:pPr>
                      <a:r>
                        <a:rPr lang="en-GB" sz="2000"/>
                        <a:t>Example</a:t>
                      </a:r>
                      <a:endParaRPr lang="en-GB" sz="2000">
                        <a:latin typeface="+mn-lt"/>
                      </a:endParaRPr>
                    </a:p>
                  </a:txBody>
                  <a:tcPr marL="52627" marR="52627" marT="26314" marB="26314" anchor="ctr"/>
                </a:tc>
                <a:extLst>
                  <a:ext uri="{0D108BD9-81ED-4DB2-BD59-A6C34878D82A}">
                    <a16:rowId xmlns:a16="http://schemas.microsoft.com/office/drawing/2014/main" val="1390061281"/>
                  </a:ext>
                </a:extLst>
              </a:tr>
              <a:tr h="368392">
                <a:tc>
                  <a:txBody>
                    <a:bodyPr/>
                    <a:lstStyle/>
                    <a:p>
                      <a:pPr>
                        <a:buNone/>
                      </a:pPr>
                      <a:r>
                        <a:rPr lang="en-GB" sz="2000"/>
                        <a:t>upper()</a:t>
                      </a:r>
                      <a:endParaRPr lang="en-GB" sz="2000">
                        <a:latin typeface="+mn-lt"/>
                      </a:endParaRPr>
                    </a:p>
                  </a:txBody>
                  <a:tcPr marL="52627" marR="52627" marT="26314" marB="26314" anchor="ctr"/>
                </a:tc>
                <a:tc>
                  <a:txBody>
                    <a:bodyPr/>
                    <a:lstStyle/>
                    <a:p>
                      <a:pPr>
                        <a:buNone/>
                      </a:pPr>
                      <a:r>
                        <a:rPr lang="en-GB" sz="2000" dirty="0"/>
                        <a:t>Convert to uppercase</a:t>
                      </a:r>
                      <a:endParaRPr lang="en-GB" sz="2000" dirty="0">
                        <a:latin typeface="+mn-lt"/>
                      </a:endParaRPr>
                    </a:p>
                  </a:txBody>
                  <a:tcPr marL="52627" marR="52627" marT="26314" marB="26314" anchor="ctr"/>
                </a:tc>
                <a:tc>
                  <a:txBody>
                    <a:bodyPr/>
                    <a:lstStyle/>
                    <a:p>
                      <a:pPr>
                        <a:buNone/>
                      </a:pPr>
                      <a:r>
                        <a:rPr lang="en-GB" sz="2000"/>
                        <a:t>"hello".upper() → "HELLO"</a:t>
                      </a:r>
                      <a:endParaRPr lang="en-GB" sz="2000">
                        <a:latin typeface="+mn-lt"/>
                      </a:endParaRPr>
                    </a:p>
                  </a:txBody>
                  <a:tcPr marL="52627" marR="52627" marT="26314" marB="26314" anchor="ctr"/>
                </a:tc>
                <a:extLst>
                  <a:ext uri="{0D108BD9-81ED-4DB2-BD59-A6C34878D82A}">
                    <a16:rowId xmlns:a16="http://schemas.microsoft.com/office/drawing/2014/main" val="1811327549"/>
                  </a:ext>
                </a:extLst>
              </a:tr>
              <a:tr h="368392">
                <a:tc>
                  <a:txBody>
                    <a:bodyPr/>
                    <a:lstStyle/>
                    <a:p>
                      <a:pPr>
                        <a:buNone/>
                      </a:pPr>
                      <a:r>
                        <a:rPr lang="en-GB" sz="2000"/>
                        <a:t>lower()</a:t>
                      </a:r>
                      <a:endParaRPr lang="en-GB" sz="2000">
                        <a:latin typeface="+mn-lt"/>
                      </a:endParaRPr>
                    </a:p>
                  </a:txBody>
                  <a:tcPr marL="52627" marR="52627" marT="26314" marB="26314" anchor="ctr"/>
                </a:tc>
                <a:tc>
                  <a:txBody>
                    <a:bodyPr/>
                    <a:lstStyle/>
                    <a:p>
                      <a:pPr>
                        <a:buNone/>
                      </a:pPr>
                      <a:r>
                        <a:rPr lang="en-GB" sz="2000"/>
                        <a:t>Convert to lowercase</a:t>
                      </a:r>
                      <a:endParaRPr lang="en-GB" sz="2000">
                        <a:latin typeface="+mn-lt"/>
                      </a:endParaRPr>
                    </a:p>
                  </a:txBody>
                  <a:tcPr marL="52627" marR="52627" marT="26314" marB="26314" anchor="ctr"/>
                </a:tc>
                <a:tc>
                  <a:txBody>
                    <a:bodyPr/>
                    <a:lstStyle/>
                    <a:p>
                      <a:pPr>
                        <a:buNone/>
                      </a:pPr>
                      <a:r>
                        <a:rPr lang="en-GB" sz="2000"/>
                        <a:t>"HELLO".lower() → "hello"</a:t>
                      </a:r>
                      <a:endParaRPr lang="en-GB" sz="2000">
                        <a:latin typeface="+mn-lt"/>
                      </a:endParaRPr>
                    </a:p>
                  </a:txBody>
                  <a:tcPr marL="52627" marR="52627" marT="26314" marB="26314" anchor="ctr"/>
                </a:tc>
                <a:extLst>
                  <a:ext uri="{0D108BD9-81ED-4DB2-BD59-A6C34878D82A}">
                    <a16:rowId xmlns:a16="http://schemas.microsoft.com/office/drawing/2014/main" val="2255908174"/>
                  </a:ext>
                </a:extLst>
              </a:tr>
              <a:tr h="526275">
                <a:tc>
                  <a:txBody>
                    <a:bodyPr/>
                    <a:lstStyle/>
                    <a:p>
                      <a:pPr>
                        <a:buNone/>
                      </a:pPr>
                      <a:r>
                        <a:rPr lang="en-GB" sz="2000"/>
                        <a:t>title()</a:t>
                      </a:r>
                      <a:endParaRPr lang="en-GB" sz="2000">
                        <a:latin typeface="+mn-lt"/>
                      </a:endParaRPr>
                    </a:p>
                  </a:txBody>
                  <a:tcPr marL="52627" marR="52627" marT="26314" marB="26314" anchor="ctr"/>
                </a:tc>
                <a:tc>
                  <a:txBody>
                    <a:bodyPr/>
                    <a:lstStyle/>
                    <a:p>
                      <a:pPr>
                        <a:buNone/>
                      </a:pPr>
                      <a:r>
                        <a:rPr lang="en-US" sz="2000"/>
                        <a:t>Capitalize first letter of each word</a:t>
                      </a:r>
                      <a:endParaRPr lang="en-US" sz="2000">
                        <a:latin typeface="+mn-lt"/>
                      </a:endParaRPr>
                    </a:p>
                  </a:txBody>
                  <a:tcPr marL="52627" marR="52627" marT="26314" marB="26314" anchor="ctr"/>
                </a:tc>
                <a:tc>
                  <a:txBody>
                    <a:bodyPr/>
                    <a:lstStyle/>
                    <a:p>
                      <a:pPr>
                        <a:buNone/>
                      </a:pPr>
                      <a:r>
                        <a:rPr lang="en-US" sz="2000"/>
                        <a:t>"hello world".title() → "Hello World"</a:t>
                      </a:r>
                      <a:endParaRPr lang="en-US" sz="2000">
                        <a:latin typeface="+mn-lt"/>
                      </a:endParaRPr>
                    </a:p>
                  </a:txBody>
                  <a:tcPr marL="52627" marR="52627" marT="26314" marB="26314" anchor="ctr"/>
                </a:tc>
                <a:extLst>
                  <a:ext uri="{0D108BD9-81ED-4DB2-BD59-A6C34878D82A}">
                    <a16:rowId xmlns:a16="http://schemas.microsoft.com/office/drawing/2014/main" val="2544434936"/>
                  </a:ext>
                </a:extLst>
              </a:tr>
              <a:tr h="368392">
                <a:tc>
                  <a:txBody>
                    <a:bodyPr/>
                    <a:lstStyle/>
                    <a:p>
                      <a:pPr>
                        <a:buNone/>
                      </a:pPr>
                      <a:r>
                        <a:rPr lang="en-GB" sz="2000"/>
                        <a:t>strip()</a:t>
                      </a:r>
                      <a:endParaRPr lang="en-GB" sz="2000">
                        <a:latin typeface="+mn-lt"/>
                      </a:endParaRPr>
                    </a:p>
                  </a:txBody>
                  <a:tcPr marL="52627" marR="52627" marT="26314" marB="26314" anchor="ctr"/>
                </a:tc>
                <a:tc>
                  <a:txBody>
                    <a:bodyPr/>
                    <a:lstStyle/>
                    <a:p>
                      <a:pPr>
                        <a:buNone/>
                      </a:pPr>
                      <a:r>
                        <a:rPr lang="en-US" sz="2000"/>
                        <a:t>Remove whitespace from both ends</a:t>
                      </a:r>
                      <a:endParaRPr lang="en-US" sz="2000">
                        <a:latin typeface="+mn-lt"/>
                      </a:endParaRPr>
                    </a:p>
                  </a:txBody>
                  <a:tcPr marL="52627" marR="52627" marT="26314" marB="26314" anchor="ctr"/>
                </a:tc>
                <a:tc>
                  <a:txBody>
                    <a:bodyPr/>
                    <a:lstStyle/>
                    <a:p>
                      <a:pPr>
                        <a:buNone/>
                      </a:pPr>
                      <a:r>
                        <a:rPr lang="en-GB" sz="2000" dirty="0"/>
                        <a:t>" hi ".strip() → "hi"</a:t>
                      </a:r>
                      <a:endParaRPr lang="en-GB" sz="2000" dirty="0">
                        <a:latin typeface="+mn-lt"/>
                      </a:endParaRPr>
                    </a:p>
                  </a:txBody>
                  <a:tcPr marL="52627" marR="52627" marT="26314" marB="26314" anchor="ctr"/>
                </a:tc>
                <a:extLst>
                  <a:ext uri="{0D108BD9-81ED-4DB2-BD59-A6C34878D82A}">
                    <a16:rowId xmlns:a16="http://schemas.microsoft.com/office/drawing/2014/main" val="1544335739"/>
                  </a:ext>
                </a:extLst>
              </a:tr>
              <a:tr h="684157">
                <a:tc>
                  <a:txBody>
                    <a:bodyPr/>
                    <a:lstStyle/>
                    <a:p>
                      <a:pPr>
                        <a:buNone/>
                      </a:pPr>
                      <a:r>
                        <a:rPr lang="en-GB" sz="2000"/>
                        <a:t>replace()</a:t>
                      </a:r>
                      <a:endParaRPr lang="en-GB" sz="2000">
                        <a:latin typeface="+mn-lt"/>
                      </a:endParaRPr>
                    </a:p>
                  </a:txBody>
                  <a:tcPr marL="52627" marR="52627" marT="26314" marB="26314" anchor="ctr"/>
                </a:tc>
                <a:tc>
                  <a:txBody>
                    <a:bodyPr/>
                    <a:lstStyle/>
                    <a:p>
                      <a:pPr>
                        <a:buNone/>
                      </a:pPr>
                      <a:r>
                        <a:rPr lang="en-US" sz="2000"/>
                        <a:t>Replace part of a string</a:t>
                      </a:r>
                      <a:endParaRPr lang="en-US" sz="2000">
                        <a:latin typeface="+mn-lt"/>
                      </a:endParaRPr>
                    </a:p>
                  </a:txBody>
                  <a:tcPr marL="52627" marR="52627" marT="26314" marB="26314" anchor="ctr"/>
                </a:tc>
                <a:tc>
                  <a:txBody>
                    <a:bodyPr/>
                    <a:lstStyle/>
                    <a:p>
                      <a:pPr>
                        <a:buNone/>
                      </a:pPr>
                      <a:r>
                        <a:rPr lang="en-US" sz="2000"/>
                        <a:t>"blue sky".replace("blue","red") → "red sky"</a:t>
                      </a:r>
                      <a:endParaRPr lang="en-US" sz="2000">
                        <a:latin typeface="+mn-lt"/>
                      </a:endParaRPr>
                    </a:p>
                  </a:txBody>
                  <a:tcPr marL="52627" marR="52627" marT="26314" marB="26314" anchor="ctr"/>
                </a:tc>
                <a:extLst>
                  <a:ext uri="{0D108BD9-81ED-4DB2-BD59-A6C34878D82A}">
                    <a16:rowId xmlns:a16="http://schemas.microsoft.com/office/drawing/2014/main" val="4095244262"/>
                  </a:ext>
                </a:extLst>
              </a:tr>
              <a:tr h="368392">
                <a:tc>
                  <a:txBody>
                    <a:bodyPr/>
                    <a:lstStyle/>
                    <a:p>
                      <a:pPr>
                        <a:buNone/>
                      </a:pPr>
                      <a:r>
                        <a:rPr lang="en-GB" sz="2000"/>
                        <a:t>find()</a:t>
                      </a:r>
                      <a:endParaRPr lang="en-GB" sz="2000">
                        <a:latin typeface="+mn-lt"/>
                      </a:endParaRPr>
                    </a:p>
                  </a:txBody>
                  <a:tcPr marL="52627" marR="52627" marT="26314" marB="26314" anchor="ctr"/>
                </a:tc>
                <a:tc>
                  <a:txBody>
                    <a:bodyPr/>
                    <a:lstStyle/>
                    <a:p>
                      <a:pPr>
                        <a:buNone/>
                      </a:pPr>
                      <a:r>
                        <a:rPr lang="en-GB" sz="2000"/>
                        <a:t>Find substring index</a:t>
                      </a:r>
                      <a:endParaRPr lang="en-GB" sz="2000">
                        <a:latin typeface="+mn-lt"/>
                      </a:endParaRPr>
                    </a:p>
                  </a:txBody>
                  <a:tcPr marL="52627" marR="52627" marT="26314" marB="26314" anchor="ctr"/>
                </a:tc>
                <a:tc>
                  <a:txBody>
                    <a:bodyPr/>
                    <a:lstStyle/>
                    <a:p>
                      <a:pPr>
                        <a:buNone/>
                      </a:pPr>
                      <a:r>
                        <a:rPr lang="en-GB" sz="2000"/>
                        <a:t>"hello".find("e") → 1</a:t>
                      </a:r>
                      <a:endParaRPr lang="en-GB" sz="2000">
                        <a:latin typeface="+mn-lt"/>
                      </a:endParaRPr>
                    </a:p>
                  </a:txBody>
                  <a:tcPr marL="52627" marR="52627" marT="26314" marB="26314" anchor="ctr"/>
                </a:tc>
                <a:extLst>
                  <a:ext uri="{0D108BD9-81ED-4DB2-BD59-A6C34878D82A}">
                    <a16:rowId xmlns:a16="http://schemas.microsoft.com/office/drawing/2014/main" val="815960239"/>
                  </a:ext>
                </a:extLst>
              </a:tr>
              <a:tr h="368392">
                <a:tc>
                  <a:txBody>
                    <a:bodyPr/>
                    <a:lstStyle/>
                    <a:p>
                      <a:pPr>
                        <a:buNone/>
                      </a:pPr>
                      <a:r>
                        <a:rPr lang="en-GB" sz="2000"/>
                        <a:t>split()</a:t>
                      </a:r>
                      <a:endParaRPr lang="en-GB" sz="2000">
                        <a:latin typeface="+mn-lt"/>
                      </a:endParaRPr>
                    </a:p>
                  </a:txBody>
                  <a:tcPr marL="52627" marR="52627" marT="26314" marB="26314" anchor="ctr"/>
                </a:tc>
                <a:tc>
                  <a:txBody>
                    <a:bodyPr/>
                    <a:lstStyle/>
                    <a:p>
                      <a:pPr>
                        <a:buNone/>
                      </a:pPr>
                      <a:r>
                        <a:rPr lang="en-US" sz="2000"/>
                        <a:t>Split a string into list</a:t>
                      </a:r>
                      <a:endParaRPr lang="en-US" sz="2000">
                        <a:latin typeface="+mn-lt"/>
                      </a:endParaRPr>
                    </a:p>
                  </a:txBody>
                  <a:tcPr marL="52627" marR="52627" marT="26314" marB="26314" anchor="ctr"/>
                </a:tc>
                <a:tc>
                  <a:txBody>
                    <a:bodyPr/>
                    <a:lstStyle/>
                    <a:p>
                      <a:pPr>
                        <a:buNone/>
                      </a:pPr>
                      <a:r>
                        <a:rPr lang="en-US" sz="2000"/>
                        <a:t>"a,b,c".split(",") → ["a","b","c"]</a:t>
                      </a:r>
                      <a:endParaRPr lang="en-US" sz="2000">
                        <a:latin typeface="+mn-lt"/>
                      </a:endParaRPr>
                    </a:p>
                  </a:txBody>
                  <a:tcPr marL="52627" marR="52627" marT="26314" marB="26314" anchor="ctr"/>
                </a:tc>
                <a:extLst>
                  <a:ext uri="{0D108BD9-81ED-4DB2-BD59-A6C34878D82A}">
                    <a16:rowId xmlns:a16="http://schemas.microsoft.com/office/drawing/2014/main" val="3217174708"/>
                  </a:ext>
                </a:extLst>
              </a:tr>
              <a:tr h="526275">
                <a:tc>
                  <a:txBody>
                    <a:bodyPr/>
                    <a:lstStyle/>
                    <a:p>
                      <a:pPr>
                        <a:buNone/>
                      </a:pPr>
                      <a:r>
                        <a:rPr lang="en-GB" sz="2000"/>
                        <a:t>join()</a:t>
                      </a:r>
                      <a:endParaRPr lang="en-GB" sz="2000">
                        <a:latin typeface="+mn-lt"/>
                      </a:endParaRPr>
                    </a:p>
                  </a:txBody>
                  <a:tcPr marL="52627" marR="52627" marT="26314" marB="26314" anchor="ctr"/>
                </a:tc>
                <a:tc>
                  <a:txBody>
                    <a:bodyPr/>
                    <a:lstStyle/>
                    <a:p>
                      <a:pPr>
                        <a:buNone/>
                      </a:pPr>
                      <a:r>
                        <a:rPr lang="en-GB" sz="2000"/>
                        <a:t>Join list into string</a:t>
                      </a:r>
                      <a:endParaRPr lang="en-GB" sz="2000">
                        <a:latin typeface="+mn-lt"/>
                      </a:endParaRPr>
                    </a:p>
                  </a:txBody>
                  <a:tcPr marL="52627" marR="52627" marT="26314" marB="26314" anchor="ctr"/>
                </a:tc>
                <a:tc>
                  <a:txBody>
                    <a:bodyPr/>
                    <a:lstStyle/>
                    <a:p>
                      <a:pPr>
                        <a:buNone/>
                      </a:pPr>
                      <a:r>
                        <a:rPr lang="en-US" sz="2000"/>
                        <a:t>" ".join(["Hi","there"]) → "Hi there"</a:t>
                      </a:r>
                      <a:endParaRPr lang="en-US" sz="2000">
                        <a:latin typeface="+mn-lt"/>
                      </a:endParaRPr>
                    </a:p>
                  </a:txBody>
                  <a:tcPr marL="52627" marR="52627" marT="26314" marB="26314" anchor="ctr"/>
                </a:tc>
                <a:extLst>
                  <a:ext uri="{0D108BD9-81ED-4DB2-BD59-A6C34878D82A}">
                    <a16:rowId xmlns:a16="http://schemas.microsoft.com/office/drawing/2014/main" val="365986466"/>
                  </a:ext>
                </a:extLst>
              </a:tr>
              <a:tr h="368392">
                <a:tc>
                  <a:txBody>
                    <a:bodyPr/>
                    <a:lstStyle/>
                    <a:p>
                      <a:pPr>
                        <a:buNone/>
                      </a:pPr>
                      <a:r>
                        <a:rPr lang="en-GB" sz="2000"/>
                        <a:t>isdigit()</a:t>
                      </a:r>
                      <a:endParaRPr lang="en-GB" sz="2000">
                        <a:latin typeface="+mn-lt"/>
                      </a:endParaRPr>
                    </a:p>
                  </a:txBody>
                  <a:tcPr marL="52627" marR="52627" marT="26314" marB="26314" anchor="ctr"/>
                </a:tc>
                <a:tc>
                  <a:txBody>
                    <a:bodyPr/>
                    <a:lstStyle/>
                    <a:p>
                      <a:pPr>
                        <a:buNone/>
                      </a:pPr>
                      <a:r>
                        <a:rPr lang="en-GB" sz="2000"/>
                        <a:t>Check if numeric</a:t>
                      </a:r>
                      <a:endParaRPr lang="en-GB" sz="2000">
                        <a:latin typeface="+mn-lt"/>
                      </a:endParaRPr>
                    </a:p>
                  </a:txBody>
                  <a:tcPr marL="52627" marR="52627" marT="26314" marB="26314" anchor="ctr"/>
                </a:tc>
                <a:tc>
                  <a:txBody>
                    <a:bodyPr/>
                    <a:lstStyle/>
                    <a:p>
                      <a:pPr>
                        <a:buNone/>
                      </a:pPr>
                      <a:r>
                        <a:rPr lang="en-GB" sz="2000"/>
                        <a:t>"123".isdigit() → True</a:t>
                      </a:r>
                      <a:endParaRPr lang="en-GB" sz="2000">
                        <a:latin typeface="+mn-lt"/>
                      </a:endParaRPr>
                    </a:p>
                  </a:txBody>
                  <a:tcPr marL="52627" marR="52627" marT="26314" marB="26314" anchor="ctr"/>
                </a:tc>
                <a:extLst>
                  <a:ext uri="{0D108BD9-81ED-4DB2-BD59-A6C34878D82A}">
                    <a16:rowId xmlns:a16="http://schemas.microsoft.com/office/drawing/2014/main" val="3871872739"/>
                  </a:ext>
                </a:extLst>
              </a:tr>
              <a:tr h="368392">
                <a:tc>
                  <a:txBody>
                    <a:bodyPr/>
                    <a:lstStyle/>
                    <a:p>
                      <a:pPr>
                        <a:buNone/>
                      </a:pPr>
                      <a:r>
                        <a:rPr lang="en-GB" sz="2000"/>
                        <a:t>isalpha()</a:t>
                      </a:r>
                      <a:endParaRPr lang="en-GB" sz="2000">
                        <a:latin typeface="+mn-lt"/>
                      </a:endParaRPr>
                    </a:p>
                  </a:txBody>
                  <a:tcPr marL="52627" marR="52627" marT="26314" marB="26314" anchor="ctr"/>
                </a:tc>
                <a:tc>
                  <a:txBody>
                    <a:bodyPr/>
                    <a:lstStyle/>
                    <a:p>
                      <a:pPr>
                        <a:buNone/>
                      </a:pPr>
                      <a:r>
                        <a:rPr lang="en-GB" sz="2000"/>
                        <a:t>Check if alphabetic</a:t>
                      </a:r>
                      <a:endParaRPr lang="en-GB" sz="2000">
                        <a:latin typeface="+mn-lt"/>
                      </a:endParaRPr>
                    </a:p>
                  </a:txBody>
                  <a:tcPr marL="52627" marR="52627" marT="26314" marB="26314" anchor="ctr"/>
                </a:tc>
                <a:tc>
                  <a:txBody>
                    <a:bodyPr/>
                    <a:lstStyle/>
                    <a:p>
                      <a:pPr>
                        <a:buNone/>
                      </a:pPr>
                      <a:r>
                        <a:rPr lang="en-GB" sz="2000" dirty="0"/>
                        <a:t>"</a:t>
                      </a:r>
                      <a:r>
                        <a:rPr lang="en-GB" sz="2000" dirty="0" err="1"/>
                        <a:t>abc</a:t>
                      </a:r>
                      <a:r>
                        <a:rPr lang="en-GB" sz="2000" dirty="0"/>
                        <a:t>".</a:t>
                      </a:r>
                      <a:r>
                        <a:rPr lang="en-GB" sz="2000" dirty="0" err="1"/>
                        <a:t>isalpha</a:t>
                      </a:r>
                      <a:r>
                        <a:rPr lang="en-GB" sz="2000" dirty="0"/>
                        <a:t>() → True</a:t>
                      </a:r>
                      <a:endParaRPr lang="en-GB" sz="2000" dirty="0">
                        <a:latin typeface="+mn-lt"/>
                      </a:endParaRPr>
                    </a:p>
                  </a:txBody>
                  <a:tcPr marL="52627" marR="52627" marT="26314" marB="26314" anchor="ctr"/>
                </a:tc>
                <a:extLst>
                  <a:ext uri="{0D108BD9-81ED-4DB2-BD59-A6C34878D82A}">
                    <a16:rowId xmlns:a16="http://schemas.microsoft.com/office/drawing/2014/main" val="1137783874"/>
                  </a:ext>
                </a:extLst>
              </a:tr>
            </a:tbl>
          </a:graphicData>
        </a:graphic>
      </p:graphicFrame>
      <p:sp>
        <p:nvSpPr>
          <p:cNvPr id="5" name="Rectangle 1">
            <a:extLst>
              <a:ext uri="{FF2B5EF4-FFF2-40B4-BE49-F238E27FC236}">
                <a16:creationId xmlns:a16="http://schemas.microsoft.com/office/drawing/2014/main" id="{D8B09248-45E4-5A3B-E8D7-C8ECD5991CAC}"/>
              </a:ext>
            </a:extLst>
          </p:cNvPr>
          <p:cNvSpPr>
            <a:spLocks noChangeArrowheads="1"/>
          </p:cNvSpPr>
          <p:nvPr/>
        </p:nvSpPr>
        <p:spPr bwMode="auto">
          <a:xfrm>
            <a:off x="2837931" y="302119"/>
            <a:ext cx="33789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cs typeface="Arial" panose="020B0604020202020204" pitchFamily="34" charset="0"/>
              </a:rPr>
              <a:t>Common String Methods</a:t>
            </a:r>
          </a:p>
        </p:txBody>
      </p:sp>
    </p:spTree>
    <p:extLst>
      <p:ext uri="{BB962C8B-B14F-4D97-AF65-F5344CB8AC3E}">
        <p14:creationId xmlns:p14="http://schemas.microsoft.com/office/powerpoint/2010/main" val="1400656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A291A5-2AE5-7586-FCB0-C064957E091E}"/>
              </a:ext>
            </a:extLst>
          </p:cNvPr>
          <p:cNvSpPr>
            <a:spLocks noGrp="1"/>
          </p:cNvSpPr>
          <p:nvPr>
            <p:ph type="title"/>
          </p:nvPr>
        </p:nvSpPr>
        <p:spPr>
          <a:xfrm>
            <a:off x="5061204" y="4018276"/>
            <a:ext cx="3600195" cy="1644592"/>
          </a:xfrm>
        </p:spPr>
        <p:txBody>
          <a:bodyPr vert="horz" lIns="91440" tIns="45720" rIns="91440" bIns="45720" rtlCol="0" anchor="t">
            <a:normAutofit/>
          </a:bodyPr>
          <a:lstStyle/>
          <a:p>
            <a:pPr algn="l" defTabSz="914400">
              <a:lnSpc>
                <a:spcPct val="90000"/>
              </a:lnSpc>
            </a:pPr>
            <a:r>
              <a:rPr lang="en-US" sz="3500">
                <a:solidFill>
                  <a:schemeClr val="tx2"/>
                </a:solidFill>
              </a:rPr>
              <a:t>List</a:t>
            </a:r>
          </a:p>
        </p:txBody>
      </p:sp>
      <p:pic>
        <p:nvPicPr>
          <p:cNvPr id="4" name="Picture 3" descr="Writing an appointment on a paper agenda">
            <a:extLst>
              <a:ext uri="{FF2B5EF4-FFF2-40B4-BE49-F238E27FC236}">
                <a16:creationId xmlns:a16="http://schemas.microsoft.com/office/drawing/2014/main" id="{77CB66B5-581C-8FD7-3A92-CAC6EC4F4804}"/>
              </a:ext>
            </a:extLst>
          </p:cNvPr>
          <p:cNvPicPr>
            <a:picLocks noChangeAspect="1"/>
          </p:cNvPicPr>
          <p:nvPr/>
        </p:nvPicPr>
        <p:blipFill>
          <a:blip r:embed="rId2">
            <a:alphaModFix/>
          </a:blip>
          <a:srcRect r="53112" b="-2"/>
          <a:stretch>
            <a:fillRect/>
          </a:stretch>
        </p:blipFill>
        <p:spPr>
          <a:xfrm>
            <a:off x="-228" y="1"/>
            <a:ext cx="4817289" cy="6858000"/>
          </a:xfrm>
          <a:prstGeom prst="rect">
            <a:avLst/>
          </a:prstGeom>
        </p:spPr>
      </p:pic>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817286"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Tree>
    <p:extLst>
      <p:ext uri="{BB962C8B-B14F-4D97-AF65-F5344CB8AC3E}">
        <p14:creationId xmlns:p14="http://schemas.microsoft.com/office/powerpoint/2010/main" val="2426326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2BF82E5-8BE4-0B87-2260-A5541B9C09F9}"/>
              </a:ext>
            </a:extLst>
          </p:cNvPr>
          <p:cNvSpPr txBox="1"/>
          <p:nvPr/>
        </p:nvSpPr>
        <p:spPr>
          <a:xfrm>
            <a:off x="55983" y="163611"/>
            <a:ext cx="8061649" cy="6555641"/>
          </a:xfrm>
          <a:prstGeom prst="rect">
            <a:avLst/>
          </a:prstGeom>
          <a:solidFill>
            <a:schemeClr val="bg1">
              <a:lumMod val="95000"/>
            </a:schemeClr>
          </a:solidFill>
        </p:spPr>
        <p:txBody>
          <a:bodyPr wrap="square">
            <a:spAutoFit/>
          </a:bodyPr>
          <a:lstStyle/>
          <a:p>
            <a:pPr>
              <a:buNone/>
            </a:pPr>
            <a:r>
              <a:rPr lang="en-US" sz="2000" b="1" dirty="0"/>
              <a:t>What is a List?</a:t>
            </a:r>
            <a:br>
              <a:rPr lang="en-US" sz="2000" dirty="0"/>
            </a:br>
            <a:r>
              <a:rPr lang="en-US" sz="2000" b="1" dirty="0"/>
              <a:t>ordered</a:t>
            </a:r>
            <a:r>
              <a:rPr lang="en-US" sz="2000" dirty="0"/>
              <a:t>, </a:t>
            </a:r>
            <a:r>
              <a:rPr lang="en-US" sz="2000" b="1" dirty="0"/>
              <a:t>changeable</a:t>
            </a:r>
            <a:r>
              <a:rPr lang="en-US" sz="2000" dirty="0"/>
              <a:t> collection that can store multiple data types.</a:t>
            </a:r>
            <a:br>
              <a:rPr lang="en-US" sz="2000" dirty="0"/>
            </a:br>
            <a:r>
              <a:rPr lang="en-US" sz="2000" dirty="0"/>
              <a:t>Defined using </a:t>
            </a:r>
            <a:r>
              <a:rPr lang="en-US" sz="2000" b="1" dirty="0"/>
              <a:t>square brackets</a:t>
            </a:r>
            <a:r>
              <a:rPr lang="en-US" sz="2000" dirty="0"/>
              <a:t> []</a:t>
            </a:r>
          </a:p>
          <a:p>
            <a:pPr>
              <a:buNone/>
            </a:pPr>
            <a:endParaRPr lang="en-US" sz="2000" dirty="0"/>
          </a:p>
          <a:p>
            <a:pPr>
              <a:buNone/>
            </a:pPr>
            <a:r>
              <a:rPr lang="en-US" sz="2000" b="1" dirty="0"/>
              <a:t>Examples</a:t>
            </a:r>
            <a:endParaRPr lang="en-US" sz="2000" dirty="0"/>
          </a:p>
          <a:p>
            <a:pPr rtl="0">
              <a:buNone/>
            </a:pPr>
            <a:r>
              <a:rPr lang="en-US" sz="2000" dirty="0">
                <a:highlight>
                  <a:srgbClr val="FFFF00"/>
                </a:highlight>
              </a:rPr>
              <a:t>fruits = ["apple", "banana", "cherry"]</a:t>
            </a:r>
          </a:p>
          <a:p>
            <a:pPr rtl="0">
              <a:buNone/>
            </a:pPr>
            <a:r>
              <a:rPr lang="en-US" sz="2000" dirty="0">
                <a:highlight>
                  <a:srgbClr val="FFFF00"/>
                </a:highlight>
              </a:rPr>
              <a:t>numbers = [10, 20, 30, 40]</a:t>
            </a:r>
          </a:p>
          <a:p>
            <a:pPr rtl="0">
              <a:buNone/>
            </a:pPr>
            <a:r>
              <a:rPr lang="en-US" sz="2000" dirty="0">
                <a:highlight>
                  <a:srgbClr val="FFFF00"/>
                </a:highlight>
              </a:rPr>
              <a:t>mixed = [1, "hello", 3.5, True]</a:t>
            </a:r>
          </a:p>
          <a:p>
            <a:pPr rtl="0">
              <a:buNone/>
            </a:pPr>
            <a:endParaRPr lang="en-US" sz="2000" dirty="0"/>
          </a:p>
          <a:p>
            <a:pPr>
              <a:buNone/>
            </a:pPr>
            <a:r>
              <a:rPr lang="en-US" sz="2000" b="1" dirty="0"/>
              <a:t>Accessing Elements</a:t>
            </a:r>
            <a:endParaRPr lang="en-US" sz="2000" dirty="0"/>
          </a:p>
          <a:p>
            <a:pPr rtl="0">
              <a:buNone/>
            </a:pPr>
            <a:r>
              <a:rPr lang="en-US" sz="2000" dirty="0"/>
              <a:t>fruits[0]    </a:t>
            </a:r>
            <a:r>
              <a:rPr lang="en-US" sz="2000" dirty="0">
                <a:solidFill>
                  <a:srgbClr val="FF0000"/>
                </a:solidFill>
              </a:rPr>
              <a:t># apple</a:t>
            </a:r>
          </a:p>
          <a:p>
            <a:pPr rtl="0">
              <a:buNone/>
            </a:pPr>
            <a:r>
              <a:rPr lang="en-US" sz="2000" dirty="0"/>
              <a:t>fruits[-1]   </a:t>
            </a:r>
            <a:r>
              <a:rPr lang="en-US" sz="2000" dirty="0">
                <a:solidFill>
                  <a:srgbClr val="FF0000"/>
                </a:solidFill>
              </a:rPr>
              <a:t># cherry</a:t>
            </a:r>
          </a:p>
          <a:p>
            <a:pPr rtl="0">
              <a:buNone/>
            </a:pPr>
            <a:endParaRPr lang="en-US" sz="2000" dirty="0"/>
          </a:p>
          <a:p>
            <a:pPr>
              <a:buNone/>
            </a:pPr>
            <a:r>
              <a:rPr lang="en-US" sz="2000" b="1" dirty="0"/>
              <a:t>Slicing</a:t>
            </a:r>
            <a:endParaRPr lang="en-US" sz="2000" dirty="0"/>
          </a:p>
          <a:p>
            <a:pPr rtl="0">
              <a:buNone/>
            </a:pPr>
            <a:r>
              <a:rPr lang="en-US" sz="2000" dirty="0"/>
              <a:t>numbers[1:3]   </a:t>
            </a:r>
            <a:r>
              <a:rPr lang="en-US" sz="2000" dirty="0">
                <a:solidFill>
                  <a:srgbClr val="FF0000"/>
                </a:solidFill>
              </a:rPr>
              <a:t># [20, 30]</a:t>
            </a:r>
          </a:p>
          <a:p>
            <a:pPr rtl="0">
              <a:buNone/>
            </a:pPr>
            <a:endParaRPr lang="en-US" sz="2000" dirty="0"/>
          </a:p>
          <a:p>
            <a:pPr>
              <a:buNone/>
            </a:pPr>
            <a:r>
              <a:rPr lang="en-US" sz="2000" b="1" dirty="0"/>
              <a:t>Updating a Value</a:t>
            </a:r>
            <a:endParaRPr lang="en-US" sz="2000" dirty="0"/>
          </a:p>
          <a:p>
            <a:pPr rtl="0">
              <a:buNone/>
            </a:pPr>
            <a:r>
              <a:rPr lang="en-US" sz="2000" dirty="0"/>
              <a:t>fruits[1] = "mango“</a:t>
            </a:r>
          </a:p>
          <a:p>
            <a:pPr rtl="0">
              <a:buNone/>
            </a:pPr>
            <a:endParaRPr lang="en-US" sz="2000" dirty="0"/>
          </a:p>
          <a:p>
            <a:pPr>
              <a:buNone/>
            </a:pPr>
            <a:r>
              <a:rPr lang="en-US" sz="2000" b="1" dirty="0"/>
              <a:t>List Length</a:t>
            </a:r>
            <a:endParaRPr lang="en-US" sz="2000" dirty="0"/>
          </a:p>
          <a:p>
            <a:pPr rtl="0">
              <a:buNone/>
            </a:pPr>
            <a:r>
              <a:rPr lang="en-US" sz="2000" dirty="0" err="1"/>
              <a:t>len</a:t>
            </a:r>
            <a:r>
              <a:rPr lang="en-US" sz="2000" dirty="0"/>
              <a:t>(fruits)    </a:t>
            </a:r>
            <a:r>
              <a:rPr lang="en-US" sz="2000" dirty="0">
                <a:solidFill>
                  <a:srgbClr val="FF0000"/>
                </a:solidFill>
              </a:rPr>
              <a:t># 3</a:t>
            </a:r>
          </a:p>
        </p:txBody>
      </p:sp>
      <p:sp>
        <p:nvSpPr>
          <p:cNvPr id="9" name="TextBox 8">
            <a:extLst>
              <a:ext uri="{FF2B5EF4-FFF2-40B4-BE49-F238E27FC236}">
                <a16:creationId xmlns:a16="http://schemas.microsoft.com/office/drawing/2014/main" id="{3539F869-9672-F944-6992-7186911014AD}"/>
              </a:ext>
            </a:extLst>
          </p:cNvPr>
          <p:cNvSpPr txBox="1"/>
          <p:nvPr/>
        </p:nvSpPr>
        <p:spPr>
          <a:xfrm>
            <a:off x="3981061" y="1075597"/>
            <a:ext cx="5094515" cy="5632311"/>
          </a:xfrm>
          <a:prstGeom prst="rect">
            <a:avLst/>
          </a:prstGeom>
          <a:solidFill>
            <a:schemeClr val="accent4">
              <a:lumMod val="20000"/>
              <a:lumOff val="80000"/>
            </a:schemeClr>
          </a:solidFill>
        </p:spPr>
        <p:txBody>
          <a:bodyPr wrap="square">
            <a:spAutoFit/>
          </a:bodyPr>
          <a:lstStyle/>
          <a:p>
            <a:pPr>
              <a:buNone/>
            </a:pPr>
            <a:r>
              <a:rPr lang="en-GB" sz="2000" b="1" dirty="0"/>
              <a:t>Adding Items</a:t>
            </a:r>
            <a:endParaRPr lang="en-GB" sz="2000" dirty="0"/>
          </a:p>
          <a:p>
            <a:pPr rtl="0">
              <a:buNone/>
            </a:pPr>
            <a:r>
              <a:rPr lang="en-GB" sz="2000" dirty="0" err="1"/>
              <a:t>fruits.append</a:t>
            </a:r>
            <a:r>
              <a:rPr lang="en-GB" sz="2000" dirty="0"/>
              <a:t>("orange")      </a:t>
            </a:r>
            <a:r>
              <a:rPr lang="en-GB" sz="2000" dirty="0">
                <a:solidFill>
                  <a:srgbClr val="FF0000"/>
                </a:solidFill>
              </a:rPr>
              <a:t># Add at end</a:t>
            </a:r>
          </a:p>
          <a:p>
            <a:pPr rtl="0">
              <a:buNone/>
            </a:pPr>
            <a:r>
              <a:rPr lang="en-GB" sz="2000" dirty="0" err="1"/>
              <a:t>fruits.insert</a:t>
            </a:r>
            <a:r>
              <a:rPr lang="en-GB" sz="2000" dirty="0"/>
              <a:t>(1, "kiwi")     	 </a:t>
            </a:r>
            <a:r>
              <a:rPr lang="en-GB" sz="2000" dirty="0">
                <a:solidFill>
                  <a:srgbClr val="FF0000"/>
                </a:solidFill>
              </a:rPr>
              <a:t># Add at position 1</a:t>
            </a:r>
          </a:p>
          <a:p>
            <a:pPr rtl="0">
              <a:buNone/>
            </a:pPr>
            <a:endParaRPr lang="en-GB" sz="2000" dirty="0"/>
          </a:p>
          <a:p>
            <a:pPr>
              <a:buNone/>
            </a:pPr>
            <a:r>
              <a:rPr lang="en-GB" sz="2000" b="1" dirty="0"/>
              <a:t>Removing Items</a:t>
            </a:r>
            <a:endParaRPr lang="en-GB" sz="2000" dirty="0"/>
          </a:p>
          <a:p>
            <a:pPr rtl="0">
              <a:buNone/>
            </a:pPr>
            <a:r>
              <a:rPr lang="en-GB" sz="2000" dirty="0" err="1"/>
              <a:t>fruits.remove</a:t>
            </a:r>
            <a:r>
              <a:rPr lang="en-GB" sz="2000" dirty="0"/>
              <a:t>("apple")       </a:t>
            </a:r>
            <a:r>
              <a:rPr lang="en-GB" sz="2000" dirty="0">
                <a:solidFill>
                  <a:srgbClr val="FF0000"/>
                </a:solidFill>
              </a:rPr>
              <a:t># Remove by value</a:t>
            </a:r>
          </a:p>
          <a:p>
            <a:pPr rtl="0">
              <a:buNone/>
            </a:pPr>
            <a:r>
              <a:rPr lang="en-GB" sz="2000" dirty="0" err="1"/>
              <a:t>fruits.pop</a:t>
            </a:r>
            <a:r>
              <a:rPr lang="en-GB" sz="2000" dirty="0"/>
              <a:t>()                 		</a:t>
            </a:r>
            <a:r>
              <a:rPr lang="en-GB" sz="2000" dirty="0">
                <a:solidFill>
                  <a:srgbClr val="FF0000"/>
                </a:solidFill>
              </a:rPr>
              <a:t># Remove last item</a:t>
            </a:r>
          </a:p>
          <a:p>
            <a:pPr rtl="0">
              <a:buNone/>
            </a:pPr>
            <a:r>
              <a:rPr lang="en-GB" sz="2000" dirty="0" err="1"/>
              <a:t>fruits.pop</a:t>
            </a:r>
            <a:r>
              <a:rPr lang="en-GB" sz="2000" dirty="0"/>
              <a:t>(1)                		</a:t>
            </a:r>
            <a:r>
              <a:rPr lang="en-GB" sz="2000" dirty="0">
                <a:solidFill>
                  <a:srgbClr val="FF0000"/>
                </a:solidFill>
              </a:rPr>
              <a:t># Remove by index</a:t>
            </a:r>
          </a:p>
          <a:p>
            <a:pPr>
              <a:buNone/>
            </a:pPr>
            <a:r>
              <a:rPr lang="en-GB" sz="2000" b="1" dirty="0"/>
              <a:t>Sorting, Reversing, Extending</a:t>
            </a:r>
            <a:endParaRPr lang="en-GB" sz="2000" dirty="0"/>
          </a:p>
          <a:p>
            <a:pPr rtl="0">
              <a:buNone/>
            </a:pPr>
            <a:r>
              <a:rPr lang="en-GB" sz="2000" dirty="0" err="1"/>
              <a:t>numbers.sort</a:t>
            </a:r>
            <a:r>
              <a:rPr lang="en-GB" sz="2000" dirty="0"/>
              <a:t>()               	</a:t>
            </a:r>
            <a:r>
              <a:rPr lang="en-GB" sz="2000" dirty="0">
                <a:solidFill>
                  <a:srgbClr val="FF0000"/>
                </a:solidFill>
              </a:rPr>
              <a:t># Sort ascending</a:t>
            </a:r>
          </a:p>
          <a:p>
            <a:pPr rtl="0">
              <a:buNone/>
            </a:pPr>
            <a:r>
              <a:rPr lang="en-GB" sz="2000" dirty="0" err="1"/>
              <a:t>numbers.reverse</a:t>
            </a:r>
            <a:r>
              <a:rPr lang="en-GB" sz="2000" dirty="0"/>
              <a:t>()           	</a:t>
            </a:r>
            <a:r>
              <a:rPr lang="en-GB" sz="2000" dirty="0">
                <a:solidFill>
                  <a:srgbClr val="FF0000"/>
                </a:solidFill>
              </a:rPr>
              <a:t># Reverse list</a:t>
            </a:r>
          </a:p>
          <a:p>
            <a:pPr rtl="0">
              <a:buNone/>
            </a:pPr>
            <a:r>
              <a:rPr lang="en-GB" sz="2000" dirty="0" err="1"/>
              <a:t>numbers.extend</a:t>
            </a:r>
            <a:r>
              <a:rPr lang="en-GB" sz="2000" dirty="0"/>
              <a:t>([50, 60])  </a:t>
            </a:r>
            <a:r>
              <a:rPr lang="en-GB" sz="2000" dirty="0">
                <a:solidFill>
                  <a:srgbClr val="FF0000"/>
                </a:solidFill>
              </a:rPr>
              <a:t># Add multiple items</a:t>
            </a:r>
          </a:p>
          <a:p>
            <a:pPr>
              <a:buNone/>
            </a:pPr>
            <a:r>
              <a:rPr lang="en-GB" sz="2000" b="1" dirty="0"/>
              <a:t>Searching Elements</a:t>
            </a:r>
            <a:endParaRPr lang="en-GB" sz="2000" dirty="0"/>
          </a:p>
          <a:p>
            <a:pPr rtl="0">
              <a:buNone/>
            </a:pPr>
            <a:r>
              <a:rPr lang="en-GB" sz="2000" dirty="0" err="1"/>
              <a:t>numbers.index</a:t>
            </a:r>
            <a:r>
              <a:rPr lang="en-GB" sz="2000" dirty="0"/>
              <a:t>(20)              </a:t>
            </a:r>
            <a:r>
              <a:rPr lang="en-GB" sz="2000" dirty="0">
                <a:solidFill>
                  <a:srgbClr val="FF0000"/>
                </a:solidFill>
              </a:rPr>
              <a:t># Get index of item</a:t>
            </a:r>
          </a:p>
          <a:p>
            <a:pPr rtl="0">
              <a:buNone/>
            </a:pPr>
            <a:r>
              <a:rPr lang="en-GB" sz="2000" dirty="0" err="1"/>
              <a:t>numbers.count</a:t>
            </a:r>
            <a:r>
              <a:rPr lang="en-GB" sz="2000" dirty="0"/>
              <a:t>(10)             </a:t>
            </a:r>
            <a:r>
              <a:rPr lang="en-GB" sz="2000" dirty="0">
                <a:solidFill>
                  <a:srgbClr val="FF0000"/>
                </a:solidFill>
              </a:rPr>
              <a:t># Count occurrences</a:t>
            </a:r>
          </a:p>
          <a:p>
            <a:pPr>
              <a:buNone/>
            </a:pPr>
            <a:r>
              <a:rPr lang="en-GB" sz="2000" b="1" dirty="0"/>
              <a:t>Looping Through List</a:t>
            </a:r>
            <a:endParaRPr lang="en-GB" sz="2000" dirty="0"/>
          </a:p>
          <a:p>
            <a:pPr rtl="0">
              <a:buNone/>
            </a:pPr>
            <a:r>
              <a:rPr lang="en-GB" sz="2000" dirty="0"/>
              <a:t>for item in fruits:</a:t>
            </a:r>
          </a:p>
          <a:p>
            <a:pPr rtl="0">
              <a:buNone/>
            </a:pPr>
            <a:r>
              <a:rPr lang="en-GB" sz="2000" dirty="0"/>
              <a:t>    print(item)</a:t>
            </a:r>
          </a:p>
        </p:txBody>
      </p:sp>
    </p:spTree>
    <p:extLst>
      <p:ext uri="{BB962C8B-B14F-4D97-AF65-F5344CB8AC3E}">
        <p14:creationId xmlns:p14="http://schemas.microsoft.com/office/powerpoint/2010/main" val="3206386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08D71B-DC29-A9F1-019F-C91F1BEF7241}"/>
              </a:ext>
            </a:extLst>
          </p:cNvPr>
          <p:cNvSpPr>
            <a:spLocks noGrp="1"/>
          </p:cNvSpPr>
          <p:nvPr>
            <p:ph type="title"/>
          </p:nvPr>
        </p:nvSpPr>
        <p:spPr>
          <a:xfrm>
            <a:off x="4942996" y="4267832"/>
            <a:ext cx="3604497" cy="1297115"/>
          </a:xfrm>
        </p:spPr>
        <p:txBody>
          <a:bodyPr vert="horz" lIns="91440" tIns="45720" rIns="91440" bIns="45720" rtlCol="0" anchor="t">
            <a:normAutofit/>
          </a:bodyPr>
          <a:lstStyle/>
          <a:p>
            <a:pPr algn="l" defTabSz="914400">
              <a:lnSpc>
                <a:spcPct val="90000"/>
              </a:lnSpc>
            </a:pPr>
            <a:r>
              <a:rPr lang="en-US" sz="3500" kern="1200" dirty="0">
                <a:solidFill>
                  <a:schemeClr val="tx2"/>
                </a:solidFill>
                <a:latin typeface="+mj-lt"/>
                <a:ea typeface="+mj-ea"/>
                <a:cs typeface="+mj-cs"/>
              </a:rPr>
              <a:t>Tuples</a:t>
            </a:r>
          </a:p>
        </p:txBody>
      </p:sp>
      <p:pic>
        <p:nvPicPr>
          <p:cNvPr id="6" name="Graphic 5" descr="Shamrock">
            <a:extLst>
              <a:ext uri="{FF2B5EF4-FFF2-40B4-BE49-F238E27FC236}">
                <a16:creationId xmlns:a16="http://schemas.microsoft.com/office/drawing/2014/main" id="{13853E56-BAB1-2599-43A0-F3D387C2B14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624390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8DD132C-B977-FFCC-581C-2D2563956743}"/>
              </a:ext>
            </a:extLst>
          </p:cNvPr>
          <p:cNvSpPr txBox="1"/>
          <p:nvPr/>
        </p:nvSpPr>
        <p:spPr>
          <a:xfrm>
            <a:off x="186613" y="307797"/>
            <a:ext cx="3726024" cy="6186309"/>
          </a:xfrm>
          <a:prstGeom prst="rect">
            <a:avLst/>
          </a:prstGeom>
          <a:solidFill>
            <a:schemeClr val="accent5">
              <a:lumMod val="20000"/>
              <a:lumOff val="80000"/>
            </a:schemeClr>
          </a:solidFill>
        </p:spPr>
        <p:txBody>
          <a:bodyPr wrap="square">
            <a:spAutoFit/>
          </a:bodyPr>
          <a:lstStyle/>
          <a:p>
            <a:pPr>
              <a:buNone/>
            </a:pPr>
            <a:r>
              <a:rPr lang="en-US" b="1" dirty="0"/>
              <a:t>What is a Tuple?</a:t>
            </a:r>
            <a:endParaRPr lang="en-US" dirty="0"/>
          </a:p>
          <a:p>
            <a:pPr marL="285750" indent="-285750">
              <a:buFont typeface="Arial" panose="020B0604020202020204" pitchFamily="34" charset="0"/>
              <a:buChar char="•"/>
            </a:pPr>
            <a:r>
              <a:rPr lang="en-US" dirty="0"/>
              <a:t>Ordered collection like a list</a:t>
            </a:r>
          </a:p>
          <a:p>
            <a:pPr marL="285750" indent="-285750">
              <a:buFont typeface="Arial" panose="020B0604020202020204" pitchFamily="34" charset="0"/>
              <a:buChar char="•"/>
            </a:pPr>
            <a:r>
              <a:rPr lang="en-US" b="1" dirty="0"/>
              <a:t>Immutable</a:t>
            </a:r>
            <a:r>
              <a:rPr lang="en-US" dirty="0"/>
              <a:t> (cannot be changed)</a:t>
            </a:r>
          </a:p>
          <a:p>
            <a:pPr marL="285750" indent="-285750">
              <a:buFont typeface="Arial" panose="020B0604020202020204" pitchFamily="34" charset="0"/>
              <a:buChar char="•"/>
            </a:pPr>
            <a:r>
              <a:rPr lang="en-US" dirty="0"/>
              <a:t>Defined using </a:t>
            </a:r>
            <a:r>
              <a:rPr lang="en-US" b="1" dirty="0"/>
              <a:t>parentheses</a:t>
            </a:r>
            <a:r>
              <a:rPr lang="en-US" dirty="0"/>
              <a:t> ()</a:t>
            </a:r>
          </a:p>
          <a:p>
            <a:endParaRPr lang="en-US" dirty="0"/>
          </a:p>
          <a:p>
            <a:pPr>
              <a:buNone/>
            </a:pPr>
            <a:r>
              <a:rPr lang="en-US" b="1" dirty="0"/>
              <a:t>Examples</a:t>
            </a:r>
            <a:endParaRPr lang="en-US" dirty="0"/>
          </a:p>
          <a:p>
            <a:pPr rtl="0">
              <a:buNone/>
            </a:pPr>
            <a:r>
              <a:rPr lang="en-US" dirty="0"/>
              <a:t>colors = ("red", "green", "blue")</a:t>
            </a:r>
          </a:p>
          <a:p>
            <a:pPr rtl="0">
              <a:buNone/>
            </a:pPr>
            <a:r>
              <a:rPr lang="en-US" dirty="0"/>
              <a:t>numbers = (10, 20, 30)</a:t>
            </a:r>
          </a:p>
          <a:p>
            <a:pPr rtl="0">
              <a:buNone/>
            </a:pPr>
            <a:r>
              <a:rPr lang="en-US" dirty="0"/>
              <a:t>mixed = (1, "hello", 3.5)</a:t>
            </a:r>
          </a:p>
          <a:p>
            <a:pPr>
              <a:buNone/>
            </a:pPr>
            <a:endParaRPr lang="en-US" b="1" dirty="0"/>
          </a:p>
          <a:p>
            <a:pPr>
              <a:buNone/>
            </a:pPr>
            <a:r>
              <a:rPr lang="en-US" b="1" dirty="0"/>
              <a:t>Accessing Elements</a:t>
            </a:r>
            <a:endParaRPr lang="en-US" dirty="0"/>
          </a:p>
          <a:p>
            <a:pPr rtl="0">
              <a:buNone/>
            </a:pPr>
            <a:r>
              <a:rPr lang="en-US" dirty="0"/>
              <a:t>colors[0]      </a:t>
            </a:r>
            <a:r>
              <a:rPr lang="en-US" dirty="0">
                <a:solidFill>
                  <a:srgbClr val="FF0000"/>
                </a:solidFill>
              </a:rPr>
              <a:t># red</a:t>
            </a:r>
          </a:p>
          <a:p>
            <a:pPr rtl="0">
              <a:buNone/>
            </a:pPr>
            <a:r>
              <a:rPr lang="en-US" dirty="0"/>
              <a:t>colors[-1]     </a:t>
            </a:r>
            <a:r>
              <a:rPr lang="en-US" dirty="0">
                <a:solidFill>
                  <a:srgbClr val="FF0000"/>
                </a:solidFill>
              </a:rPr>
              <a:t># blue</a:t>
            </a:r>
          </a:p>
          <a:p>
            <a:pPr>
              <a:buNone/>
            </a:pPr>
            <a:endParaRPr lang="en-US" b="1" dirty="0"/>
          </a:p>
          <a:p>
            <a:pPr>
              <a:buNone/>
            </a:pPr>
            <a:r>
              <a:rPr lang="en-US" b="1" dirty="0"/>
              <a:t>Slicing</a:t>
            </a:r>
            <a:endParaRPr lang="en-US" dirty="0"/>
          </a:p>
          <a:p>
            <a:pPr rtl="0">
              <a:buNone/>
            </a:pPr>
            <a:r>
              <a:rPr lang="en-US" dirty="0"/>
              <a:t>numbers[1:3]   </a:t>
            </a:r>
            <a:r>
              <a:rPr lang="en-US" dirty="0">
                <a:solidFill>
                  <a:srgbClr val="FF0000"/>
                </a:solidFill>
              </a:rPr>
              <a:t># (20, 30)</a:t>
            </a:r>
          </a:p>
          <a:p>
            <a:pPr>
              <a:buNone/>
            </a:pPr>
            <a:endParaRPr lang="en-US" b="1" dirty="0"/>
          </a:p>
          <a:p>
            <a:pPr>
              <a:buNone/>
            </a:pPr>
            <a:r>
              <a:rPr lang="en-US" b="1" dirty="0"/>
              <a:t>Tuple with One Element</a:t>
            </a:r>
            <a:endParaRPr lang="en-US" dirty="0"/>
          </a:p>
          <a:p>
            <a:pPr rtl="0">
              <a:buNone/>
            </a:pPr>
            <a:r>
              <a:rPr lang="en-US" dirty="0"/>
              <a:t>single = ("apple",)   </a:t>
            </a:r>
            <a:r>
              <a:rPr lang="en-US" dirty="0">
                <a:solidFill>
                  <a:srgbClr val="FF0000"/>
                </a:solidFill>
              </a:rPr>
              <a:t># comma required</a:t>
            </a:r>
          </a:p>
          <a:p>
            <a:pPr>
              <a:buNone/>
            </a:pPr>
            <a:endParaRPr lang="en-US" b="1" dirty="0"/>
          </a:p>
          <a:p>
            <a:pPr>
              <a:buNone/>
            </a:pPr>
            <a:r>
              <a:rPr lang="en-US" b="1" dirty="0"/>
              <a:t>Length</a:t>
            </a:r>
            <a:endParaRPr lang="en-US" dirty="0"/>
          </a:p>
          <a:p>
            <a:pPr rtl="0">
              <a:buNone/>
            </a:pPr>
            <a:r>
              <a:rPr lang="en-US" dirty="0" err="1"/>
              <a:t>len</a:t>
            </a:r>
            <a:r>
              <a:rPr lang="en-US" dirty="0"/>
              <a:t>(colors)    </a:t>
            </a:r>
            <a:r>
              <a:rPr lang="en-US" dirty="0">
                <a:solidFill>
                  <a:srgbClr val="FF0000"/>
                </a:solidFill>
              </a:rPr>
              <a:t># 3</a:t>
            </a:r>
          </a:p>
        </p:txBody>
      </p:sp>
      <p:sp>
        <p:nvSpPr>
          <p:cNvPr id="11" name="TextBox 10">
            <a:extLst>
              <a:ext uri="{FF2B5EF4-FFF2-40B4-BE49-F238E27FC236}">
                <a16:creationId xmlns:a16="http://schemas.microsoft.com/office/drawing/2014/main" id="{0B119444-0341-CF1A-19E2-F8AE3CFBD600}"/>
              </a:ext>
            </a:extLst>
          </p:cNvPr>
          <p:cNvSpPr txBox="1"/>
          <p:nvPr/>
        </p:nvSpPr>
        <p:spPr>
          <a:xfrm>
            <a:off x="4005942" y="256534"/>
            <a:ext cx="4963887" cy="6186309"/>
          </a:xfrm>
          <a:prstGeom prst="rect">
            <a:avLst/>
          </a:prstGeom>
          <a:solidFill>
            <a:schemeClr val="accent3">
              <a:lumMod val="20000"/>
              <a:lumOff val="80000"/>
            </a:schemeClr>
          </a:solidFill>
        </p:spPr>
        <p:txBody>
          <a:bodyPr wrap="square">
            <a:spAutoFit/>
          </a:bodyPr>
          <a:lstStyle/>
          <a:p>
            <a:pPr>
              <a:buNone/>
            </a:pPr>
            <a:r>
              <a:rPr lang="en-US" b="1" dirty="0"/>
              <a:t>Tuple Operations &amp; Methods</a:t>
            </a:r>
          </a:p>
          <a:p>
            <a:pPr>
              <a:buNone/>
            </a:pPr>
            <a:r>
              <a:rPr lang="en-US" b="1" dirty="0"/>
              <a:t>Tuples are Immutable</a:t>
            </a:r>
            <a:endParaRPr lang="en-US" dirty="0"/>
          </a:p>
          <a:p>
            <a:pPr rtl="0">
              <a:buNone/>
            </a:pPr>
            <a:r>
              <a:rPr lang="en-US" dirty="0"/>
              <a:t>colors[1] = "yellow"   </a:t>
            </a:r>
            <a:r>
              <a:rPr lang="en-US" dirty="0">
                <a:solidFill>
                  <a:srgbClr val="FF0000"/>
                </a:solidFill>
              </a:rPr>
              <a:t># Error: cannot modify</a:t>
            </a:r>
          </a:p>
          <a:p>
            <a:pPr rtl="0">
              <a:buNone/>
            </a:pPr>
            <a:endParaRPr lang="en-US" dirty="0"/>
          </a:p>
          <a:p>
            <a:pPr>
              <a:buNone/>
            </a:pPr>
            <a:r>
              <a:rPr lang="en-US" b="1" dirty="0"/>
              <a:t>Allowed Operations</a:t>
            </a:r>
            <a:endParaRPr lang="en-US" dirty="0"/>
          </a:p>
          <a:p>
            <a:pPr rtl="0">
              <a:buNone/>
            </a:pPr>
            <a:r>
              <a:rPr lang="en-US" dirty="0" err="1"/>
              <a:t>new_tuple</a:t>
            </a:r>
            <a:r>
              <a:rPr lang="en-US" dirty="0"/>
              <a:t> = colors + ("yellow",)   </a:t>
            </a:r>
            <a:r>
              <a:rPr lang="en-US" dirty="0">
                <a:solidFill>
                  <a:srgbClr val="FF0000"/>
                </a:solidFill>
              </a:rPr>
              <a:t># Concatenation</a:t>
            </a:r>
          </a:p>
          <a:p>
            <a:pPr rtl="0">
              <a:buNone/>
            </a:pPr>
            <a:r>
              <a:rPr lang="en-US" dirty="0"/>
              <a:t>repeat = numbers * 2               </a:t>
            </a:r>
            <a:r>
              <a:rPr lang="en-US" dirty="0">
                <a:solidFill>
                  <a:srgbClr val="FF0000"/>
                </a:solidFill>
              </a:rPr>
              <a:t># (10,20,30,10,20,30)</a:t>
            </a:r>
          </a:p>
          <a:p>
            <a:pPr>
              <a:buNone/>
            </a:pPr>
            <a:endParaRPr lang="en-US" b="1" dirty="0"/>
          </a:p>
          <a:p>
            <a:pPr>
              <a:buNone/>
            </a:pPr>
            <a:r>
              <a:rPr lang="en-US" b="1" dirty="0"/>
              <a:t>Search &amp; Count</a:t>
            </a:r>
            <a:endParaRPr lang="en-US" dirty="0"/>
          </a:p>
          <a:p>
            <a:pPr rtl="0">
              <a:buNone/>
            </a:pPr>
            <a:r>
              <a:rPr lang="en-US" dirty="0" err="1"/>
              <a:t>numbers.index</a:t>
            </a:r>
            <a:r>
              <a:rPr lang="en-US" dirty="0"/>
              <a:t>(20)     </a:t>
            </a:r>
            <a:r>
              <a:rPr lang="en-US" dirty="0">
                <a:solidFill>
                  <a:srgbClr val="FF0000"/>
                </a:solidFill>
              </a:rPr>
              <a:t># Get index position</a:t>
            </a:r>
          </a:p>
          <a:p>
            <a:pPr rtl="0">
              <a:buNone/>
            </a:pPr>
            <a:r>
              <a:rPr lang="en-US" dirty="0" err="1"/>
              <a:t>numbers.count</a:t>
            </a:r>
            <a:r>
              <a:rPr lang="en-US" dirty="0"/>
              <a:t>(10)     </a:t>
            </a:r>
            <a:r>
              <a:rPr lang="en-US" dirty="0">
                <a:solidFill>
                  <a:srgbClr val="FF0000"/>
                </a:solidFill>
              </a:rPr>
              <a:t># Count occurrences</a:t>
            </a:r>
          </a:p>
          <a:p>
            <a:pPr>
              <a:buNone/>
            </a:pPr>
            <a:endParaRPr lang="en-US" b="1" dirty="0"/>
          </a:p>
          <a:p>
            <a:pPr>
              <a:buNone/>
            </a:pPr>
            <a:r>
              <a:rPr lang="en-US" b="1" dirty="0"/>
              <a:t>Tuple Packing &amp; Unpacking</a:t>
            </a:r>
            <a:endParaRPr lang="en-US" dirty="0"/>
          </a:p>
          <a:p>
            <a:pPr rtl="0">
              <a:buNone/>
            </a:pPr>
            <a:r>
              <a:rPr lang="en-US" dirty="0"/>
              <a:t>person = ("Alice", 25, "India")</a:t>
            </a:r>
          </a:p>
          <a:p>
            <a:pPr rtl="0">
              <a:buNone/>
            </a:pPr>
            <a:r>
              <a:rPr lang="en-US" dirty="0"/>
              <a:t>name, age, country = person</a:t>
            </a:r>
          </a:p>
          <a:p>
            <a:pPr rtl="0">
              <a:buNone/>
            </a:pPr>
            <a:r>
              <a:rPr lang="en-US" dirty="0"/>
              <a:t>print(name)     </a:t>
            </a:r>
            <a:r>
              <a:rPr lang="en-US" dirty="0">
                <a:solidFill>
                  <a:srgbClr val="FF0000"/>
                </a:solidFill>
              </a:rPr>
              <a:t># Alice</a:t>
            </a:r>
          </a:p>
          <a:p>
            <a:pPr>
              <a:buNone/>
            </a:pPr>
            <a:endParaRPr lang="en-US" b="1" dirty="0"/>
          </a:p>
          <a:p>
            <a:pPr>
              <a:buNone/>
            </a:pPr>
            <a:r>
              <a:rPr lang="en-US" b="1" dirty="0"/>
              <a:t>Use Case</a:t>
            </a:r>
            <a:br>
              <a:rPr lang="en-US" dirty="0"/>
            </a:br>
            <a:r>
              <a:rPr lang="en-US" dirty="0"/>
              <a:t>Tuples are used for </a:t>
            </a:r>
            <a:r>
              <a:rPr lang="en-US" b="1" dirty="0"/>
              <a:t>fixed data</a:t>
            </a:r>
            <a:r>
              <a:rPr lang="en-US" dirty="0"/>
              <a:t> like:</a:t>
            </a:r>
          </a:p>
          <a:p>
            <a:pPr marL="285750" indent="-285750">
              <a:buFont typeface="Arial" panose="020B0604020202020204" pitchFamily="34" charset="0"/>
              <a:buChar char="•"/>
            </a:pPr>
            <a:r>
              <a:rPr lang="en-US" dirty="0"/>
              <a:t>Coordinates (x, y)</a:t>
            </a:r>
          </a:p>
          <a:p>
            <a:pPr marL="285750" indent="-285750">
              <a:buFont typeface="Arial" panose="020B0604020202020204" pitchFamily="34" charset="0"/>
              <a:buChar char="•"/>
            </a:pPr>
            <a:r>
              <a:rPr lang="en-US" dirty="0"/>
              <a:t>Dates (day, month, year)</a:t>
            </a:r>
          </a:p>
          <a:p>
            <a:pPr marL="285750" indent="-285750">
              <a:buFont typeface="Arial" panose="020B0604020202020204" pitchFamily="34" charset="0"/>
              <a:buChar char="•"/>
            </a:pPr>
            <a:r>
              <a:rPr lang="en-US" dirty="0"/>
              <a:t>Database records</a:t>
            </a:r>
          </a:p>
        </p:txBody>
      </p:sp>
    </p:spTree>
    <p:extLst>
      <p:ext uri="{BB962C8B-B14F-4D97-AF65-F5344CB8AC3E}">
        <p14:creationId xmlns:p14="http://schemas.microsoft.com/office/powerpoint/2010/main" val="2720395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95651C-63C7-0DBF-6369-3106286DC473}"/>
            </a:ext>
          </a:extLst>
        </p:cNvPr>
        <p:cNvGrpSpPr/>
        <p:nvPr/>
      </p:nvGrpSpPr>
      <p:grpSpPr>
        <a:xfrm>
          <a:off x="0" y="0"/>
          <a:ext cx="0" cy="0"/>
          <a:chOff x="0" y="0"/>
          <a:chExt cx="0" cy="0"/>
        </a:xfrm>
      </p:grpSpPr>
      <p:pic>
        <p:nvPicPr>
          <p:cNvPr id="13" name="Picture 12" descr="Open book">
            <a:extLst>
              <a:ext uri="{FF2B5EF4-FFF2-40B4-BE49-F238E27FC236}">
                <a16:creationId xmlns:a16="http://schemas.microsoft.com/office/drawing/2014/main" id="{AD2B2384-689C-6FC1-389C-6024800E13EA}"/>
              </a:ext>
            </a:extLst>
          </p:cNvPr>
          <p:cNvPicPr>
            <a:picLocks noChangeAspect="1"/>
          </p:cNvPicPr>
          <p:nvPr/>
        </p:nvPicPr>
        <p:blipFill>
          <a:blip r:embed="rId2"/>
          <a:srcRect l="4975" r="6282" b="1"/>
          <a:stretch>
            <a:fillRect/>
          </a:stretch>
        </p:blipFill>
        <p:spPr>
          <a:xfrm>
            <a:off x="-2585" y="-1"/>
            <a:ext cx="9146585" cy="6879745"/>
          </a:xfrm>
          <a:prstGeom prst="rect">
            <a:avLst/>
          </a:prstGeom>
        </p:spPr>
      </p:pic>
      <p:sp>
        <p:nvSpPr>
          <p:cNvPr id="15" name="Rectangle 14">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064451" y="791834"/>
            <a:ext cx="3020876" cy="9154947"/>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6567EA8-C72D-4B9B-D23F-6B2E9F9C9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584" y="0"/>
            <a:ext cx="2132551"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EFBFA78-9360-1E01-5448-6D5AE0A32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779028" y="21736"/>
            <a:ext cx="2364646" cy="6858008"/>
          </a:xfrm>
          <a:prstGeom prst="rect">
            <a:avLst/>
          </a:prstGeom>
          <a:gradFill flip="none" rotWithShape="1">
            <a:gsLst>
              <a:gs pos="5000">
                <a:schemeClr val="accent5">
                  <a:alpha val="48000"/>
                </a:schemeClr>
              </a:gs>
              <a:gs pos="42000">
                <a:schemeClr val="accent5">
                  <a:alpha val="0"/>
                </a:schemeClr>
              </a:gs>
            </a:gsLst>
            <a:lin ang="1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585" y="5288433"/>
            <a:ext cx="9149779" cy="1591311"/>
          </a:xfrm>
          <a:prstGeom prst="rect">
            <a:avLst/>
          </a:prstGeom>
          <a:gradFill flip="none" rotWithShape="1">
            <a:gsLst>
              <a:gs pos="0">
                <a:schemeClr val="accent2"/>
              </a:gs>
              <a:gs pos="49000">
                <a:schemeClr val="accent2">
                  <a:alpha val="0"/>
                </a:schemeClr>
              </a:gs>
            </a:gsLst>
            <a:lin ang="58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B6924B03-77BD-EAE3-2854-43363FF8E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5100" y="2905286"/>
            <a:ext cx="3866773" cy="4082144"/>
          </a:xfrm>
          <a:prstGeom prst="rect">
            <a:avLst/>
          </a:prstGeom>
          <a:gradFill flip="none" rotWithShape="1">
            <a:gsLst>
              <a:gs pos="0">
                <a:schemeClr val="accent5"/>
              </a:gs>
              <a:gs pos="54000">
                <a:schemeClr val="accent5">
                  <a:lumMod val="60000"/>
                  <a:lumOff val="4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255C51-F519-5B73-1E38-8E96EFCC5A5A}"/>
              </a:ext>
            </a:extLst>
          </p:cNvPr>
          <p:cNvSpPr>
            <a:spLocks noGrp="1"/>
          </p:cNvSpPr>
          <p:nvPr>
            <p:ph type="title"/>
          </p:nvPr>
        </p:nvSpPr>
        <p:spPr>
          <a:xfrm>
            <a:off x="5035879" y="1188097"/>
            <a:ext cx="3647811" cy="909352"/>
          </a:xfrm>
        </p:spPr>
        <p:txBody>
          <a:bodyPr vert="horz" lIns="91440" tIns="45720" rIns="91440" bIns="45720" rtlCol="0" anchor="b">
            <a:normAutofit/>
          </a:bodyPr>
          <a:lstStyle/>
          <a:p>
            <a:pPr algn="l" defTabSz="914400">
              <a:lnSpc>
                <a:spcPct val="90000"/>
              </a:lnSpc>
            </a:pPr>
            <a:r>
              <a:rPr lang="en-US" sz="4000" dirty="0">
                <a:solidFill>
                  <a:srgbClr val="FFFFFF"/>
                </a:solidFill>
              </a:rPr>
              <a:t>Dictionary</a:t>
            </a:r>
          </a:p>
        </p:txBody>
      </p:sp>
    </p:spTree>
    <p:extLst>
      <p:ext uri="{BB962C8B-B14F-4D97-AF65-F5344CB8AC3E}">
        <p14:creationId xmlns:p14="http://schemas.microsoft.com/office/powerpoint/2010/main" val="292571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9EB8369-58E7-5845-3B28-018BD0D79F7A}"/>
              </a:ext>
            </a:extLst>
          </p:cNvPr>
          <p:cNvSpPr txBox="1"/>
          <p:nvPr/>
        </p:nvSpPr>
        <p:spPr>
          <a:xfrm>
            <a:off x="665351" y="1443137"/>
            <a:ext cx="7446062" cy="3303036"/>
          </a:xfrm>
          <a:prstGeom prst="rect">
            <a:avLst/>
          </a:prstGeom>
        </p:spPr>
        <p:txBody>
          <a:bodyPr vert="horz" lIns="91440" tIns="45720" rIns="91440" bIns="45720" rtlCol="0" anchor="t">
            <a:normAutofit/>
          </a:bodyPr>
          <a:lstStyle/>
          <a:p>
            <a:pPr marL="114300" indent="-342900" defTabSz="914400" fontAlgn="base">
              <a:lnSpc>
                <a:spcPct val="90000"/>
              </a:lnSpc>
              <a:spcAft>
                <a:spcPts val="750"/>
              </a:spcAft>
              <a:buFont typeface="Wingdings" panose="05000000000000000000" pitchFamily="2" charset="2"/>
              <a:buChar char="v"/>
            </a:pPr>
            <a:r>
              <a:rPr lang="en-US" sz="2000" b="0" i="0" dirty="0">
                <a:effectLst/>
              </a:rPr>
              <a:t>A data structure that stores the value in </a:t>
            </a:r>
            <a:r>
              <a:rPr lang="en-US" sz="2000" b="1" i="0" dirty="0">
                <a:effectLst/>
              </a:rPr>
              <a:t>key: value </a:t>
            </a:r>
            <a:r>
              <a:rPr lang="en-US" sz="2000" b="0" i="0" dirty="0">
                <a:effectLst/>
              </a:rPr>
              <a:t>pairs. </a:t>
            </a:r>
          </a:p>
          <a:p>
            <a:pPr marL="114300" indent="-342900" defTabSz="914400" fontAlgn="base">
              <a:lnSpc>
                <a:spcPct val="90000"/>
              </a:lnSpc>
              <a:spcAft>
                <a:spcPts val="750"/>
              </a:spcAft>
              <a:buFont typeface="Wingdings" panose="05000000000000000000" pitchFamily="2" charset="2"/>
              <a:buChar char="v"/>
            </a:pPr>
            <a:r>
              <a:rPr lang="en-US" sz="2000" b="0" i="0" dirty="0">
                <a:effectLst/>
              </a:rPr>
              <a:t>Values in a dictionary can be of </a:t>
            </a:r>
            <a:r>
              <a:rPr lang="en-US" sz="2000" b="1" i="0" dirty="0">
                <a:effectLst/>
              </a:rPr>
              <a:t>any data type </a:t>
            </a:r>
            <a:r>
              <a:rPr lang="en-US" sz="2000" b="0" i="0" dirty="0">
                <a:effectLst/>
              </a:rPr>
              <a:t>and can be duplicated, whereas keys can't be repeated and must be immutable.</a:t>
            </a:r>
          </a:p>
          <a:p>
            <a:pPr marL="114300" indent="-342900" defTabSz="914400" fontAlgn="base">
              <a:lnSpc>
                <a:spcPct val="90000"/>
              </a:lnSpc>
              <a:spcAft>
                <a:spcPts val="1800"/>
              </a:spcAft>
              <a:buFont typeface="Wingdings" panose="05000000000000000000" pitchFamily="2" charset="2"/>
              <a:buChar char="v"/>
            </a:pPr>
            <a:r>
              <a:rPr lang="en-US" sz="2000" b="0" i="0" dirty="0">
                <a:effectLst/>
              </a:rPr>
              <a:t>Keys are </a:t>
            </a:r>
            <a:r>
              <a:rPr lang="en-US" sz="2000" b="1" i="0" dirty="0">
                <a:effectLst/>
              </a:rPr>
              <a:t>case sensitive </a:t>
            </a:r>
            <a:r>
              <a:rPr lang="en-US" sz="2000" b="0" i="0" dirty="0">
                <a:effectLst/>
              </a:rPr>
              <a:t>which means same name, but different cases of Key will be treated distinctly.</a:t>
            </a:r>
          </a:p>
          <a:p>
            <a:pPr marL="114300" indent="-342900" defTabSz="914400" fontAlgn="base">
              <a:lnSpc>
                <a:spcPct val="90000"/>
              </a:lnSpc>
              <a:spcAft>
                <a:spcPts val="1800"/>
              </a:spcAft>
              <a:buFont typeface="Wingdings" panose="05000000000000000000" pitchFamily="2" charset="2"/>
              <a:buChar char="v"/>
            </a:pPr>
            <a:r>
              <a:rPr lang="en-US" sz="2000" b="0" i="0" dirty="0">
                <a:effectLst/>
              </a:rPr>
              <a:t>Keys must be </a:t>
            </a:r>
            <a:r>
              <a:rPr lang="en-US" sz="2000" b="1" i="0" dirty="0">
                <a:effectLst/>
              </a:rPr>
              <a:t>immutable</a:t>
            </a:r>
            <a:r>
              <a:rPr lang="en-US" sz="2000" b="0" i="0" dirty="0">
                <a:effectLst/>
              </a:rPr>
              <a:t> which means keys can be strings, numbers or tuples but not lists.</a:t>
            </a:r>
          </a:p>
          <a:p>
            <a:pPr marL="114300" indent="-342900" defTabSz="914400" fontAlgn="base">
              <a:lnSpc>
                <a:spcPct val="90000"/>
              </a:lnSpc>
              <a:spcAft>
                <a:spcPts val="1800"/>
              </a:spcAft>
              <a:buFont typeface="Wingdings" panose="05000000000000000000" pitchFamily="2" charset="2"/>
              <a:buChar char="v"/>
            </a:pPr>
            <a:r>
              <a:rPr lang="en-US" sz="2000" b="1" i="0" dirty="0">
                <a:effectLst/>
              </a:rPr>
              <a:t>Duplicate</a:t>
            </a:r>
            <a:r>
              <a:rPr lang="en-US" sz="2000" b="0" i="0" dirty="0">
                <a:effectLst/>
              </a:rPr>
              <a:t> keys are not allowed, and any duplicate key will overwrite the previous value.</a:t>
            </a:r>
          </a:p>
        </p:txBody>
      </p:sp>
    </p:spTree>
    <p:extLst>
      <p:ext uri="{BB962C8B-B14F-4D97-AF65-F5344CB8AC3E}">
        <p14:creationId xmlns:p14="http://schemas.microsoft.com/office/powerpoint/2010/main" val="1296374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AA5CF486-D9E5-4A66-898A-F3D62B81B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 y="-5"/>
            <a:ext cx="9144861" cy="2200064"/>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 name="connsiteX0" fmla="*/ 1148 w 12193149"/>
              <a:gd name="connsiteY0" fmla="*/ 818782 h 3163521"/>
              <a:gd name="connsiteX1" fmla="*/ 12181789 w 12193149"/>
              <a:gd name="connsiteY1" fmla="*/ 0 h 3163521"/>
              <a:gd name="connsiteX2" fmla="*/ 12193149 w 12193149"/>
              <a:gd name="connsiteY2" fmla="*/ 1398521 h 3163521"/>
              <a:gd name="connsiteX3" fmla="*/ 12185986 w 12193149"/>
              <a:gd name="connsiteY3" fmla="*/ 1402971 h 3163521"/>
              <a:gd name="connsiteX4" fmla="*/ 12156363 w 12193149"/>
              <a:gd name="connsiteY4" fmla="*/ 1416148 h 3163521"/>
              <a:gd name="connsiteX5" fmla="*/ 12139215 w 12193149"/>
              <a:gd name="connsiteY5" fmla="*/ 1441961 h 3163521"/>
              <a:gd name="connsiteX6" fmla="*/ 12126327 w 12193149"/>
              <a:gd name="connsiteY6" fmla="*/ 1443472 h 3163521"/>
              <a:gd name="connsiteX7" fmla="*/ 12124007 w 12193149"/>
              <a:gd name="connsiteY7" fmla="*/ 1443576 h 3163521"/>
              <a:gd name="connsiteX8" fmla="*/ 12116854 w 12193149"/>
              <a:gd name="connsiteY8" fmla="*/ 1447390 h 3163521"/>
              <a:gd name="connsiteX9" fmla="*/ 12099497 w 12193149"/>
              <a:gd name="connsiteY9" fmla="*/ 1446921 h 3163521"/>
              <a:gd name="connsiteX10" fmla="*/ 12087073 w 12193149"/>
              <a:gd name="connsiteY10" fmla="*/ 1455123 h 3163521"/>
              <a:gd name="connsiteX11" fmla="*/ 12031073 w 12193149"/>
              <a:gd name="connsiteY11" fmla="*/ 1498791 h 3163521"/>
              <a:gd name="connsiteX12" fmla="*/ 11995833 w 12193149"/>
              <a:gd name="connsiteY12" fmla="*/ 1522240 h 3163521"/>
              <a:gd name="connsiteX13" fmla="*/ 11979717 w 12193149"/>
              <a:gd name="connsiteY13" fmla="*/ 1526943 h 3163521"/>
              <a:gd name="connsiteX14" fmla="*/ 11959046 w 12193149"/>
              <a:gd name="connsiteY14" fmla="*/ 1536340 h 3163521"/>
              <a:gd name="connsiteX15" fmla="*/ 11920454 w 12193149"/>
              <a:gd name="connsiteY15" fmla="*/ 1549665 h 3163521"/>
              <a:gd name="connsiteX16" fmla="*/ 11903656 w 12193149"/>
              <a:gd name="connsiteY16" fmla="*/ 1561208 h 3163521"/>
              <a:gd name="connsiteX17" fmla="*/ 11895048 w 12193149"/>
              <a:gd name="connsiteY17" fmla="*/ 1563573 h 3163521"/>
              <a:gd name="connsiteX18" fmla="*/ 11891968 w 12193149"/>
              <a:gd name="connsiteY18" fmla="*/ 1574511 h 3163521"/>
              <a:gd name="connsiteX19" fmla="*/ 11870776 w 12193149"/>
              <a:gd name="connsiteY19" fmla="*/ 1596598 h 3163521"/>
              <a:gd name="connsiteX20" fmla="*/ 11813376 w 12193149"/>
              <a:gd name="connsiteY20" fmla="*/ 1616441 h 3163521"/>
              <a:gd name="connsiteX21" fmla="*/ 11590693 w 12193149"/>
              <a:gd name="connsiteY21" fmla="*/ 1782559 h 3163521"/>
              <a:gd name="connsiteX22" fmla="*/ 11506817 w 12193149"/>
              <a:gd name="connsiteY22" fmla="*/ 1852405 h 3163521"/>
              <a:gd name="connsiteX23" fmla="*/ 11280332 w 12193149"/>
              <a:gd name="connsiteY23" fmla="*/ 2042353 h 3163521"/>
              <a:gd name="connsiteX24" fmla="*/ 11228309 w 12193149"/>
              <a:gd name="connsiteY24" fmla="*/ 2095018 h 3163521"/>
              <a:gd name="connsiteX25" fmla="*/ 11218087 w 12193149"/>
              <a:gd name="connsiteY25" fmla="*/ 2094743 h 3163521"/>
              <a:gd name="connsiteX26" fmla="*/ 11217184 w 12193149"/>
              <a:gd name="connsiteY26" fmla="*/ 2093800 h 3163521"/>
              <a:gd name="connsiteX27" fmla="*/ 11188885 w 12193149"/>
              <a:gd name="connsiteY27" fmla="*/ 2111165 h 3163521"/>
              <a:gd name="connsiteX28" fmla="*/ 11184501 w 12193149"/>
              <a:gd name="connsiteY28" fmla="*/ 2111307 h 3163521"/>
              <a:gd name="connsiteX29" fmla="*/ 11166854 w 12193149"/>
              <a:gd name="connsiteY29" fmla="*/ 2125394 h 3163521"/>
              <a:gd name="connsiteX30" fmla="*/ 11157311 w 12193149"/>
              <a:gd name="connsiteY30" fmla="*/ 2131196 h 3163521"/>
              <a:gd name="connsiteX31" fmla="*/ 11155496 w 12193149"/>
              <a:gd name="connsiteY31" fmla="*/ 2135879 h 3163521"/>
              <a:gd name="connsiteX32" fmla="*/ 11140961 w 12193149"/>
              <a:gd name="connsiteY32" fmla="*/ 2142897 h 3163521"/>
              <a:gd name="connsiteX33" fmla="*/ 11138961 w 12193149"/>
              <a:gd name="connsiteY33" fmla="*/ 2142554 h 3163521"/>
              <a:gd name="connsiteX34" fmla="*/ 11128208 w 12193149"/>
              <a:gd name="connsiteY34" fmla="*/ 2152614 h 3163521"/>
              <a:gd name="connsiteX35" fmla="*/ 11120691 w 12193149"/>
              <a:gd name="connsiteY35" fmla="*/ 2166206 h 3163521"/>
              <a:gd name="connsiteX36" fmla="*/ 10894683 w 12193149"/>
              <a:gd name="connsiteY36" fmla="*/ 2292181 h 3163521"/>
              <a:gd name="connsiteX37" fmla="*/ 10773300 w 12193149"/>
              <a:gd name="connsiteY37" fmla="*/ 2341973 h 3163521"/>
              <a:gd name="connsiteX38" fmla="*/ 10627668 w 12193149"/>
              <a:gd name="connsiteY38" fmla="*/ 2378011 h 3163521"/>
              <a:gd name="connsiteX39" fmla="*/ 10581895 w 12193149"/>
              <a:gd name="connsiteY39" fmla="*/ 2387471 h 3163521"/>
              <a:gd name="connsiteX40" fmla="*/ 10547790 w 12193149"/>
              <a:gd name="connsiteY40" fmla="*/ 2417205 h 3163521"/>
              <a:gd name="connsiteX41" fmla="*/ 10529643 w 12193149"/>
              <a:gd name="connsiteY41" fmla="*/ 2415689 h 3163521"/>
              <a:gd name="connsiteX42" fmla="*/ 10526446 w 12193149"/>
              <a:gd name="connsiteY42" fmla="*/ 2415193 h 3163521"/>
              <a:gd name="connsiteX43" fmla="*/ 10515129 w 12193149"/>
              <a:gd name="connsiteY43" fmla="*/ 2418319 h 3163521"/>
              <a:gd name="connsiteX44" fmla="*/ 10491735 w 12193149"/>
              <a:gd name="connsiteY44" fmla="*/ 2412938 h 3163521"/>
              <a:gd name="connsiteX45" fmla="*/ 10471418 w 12193149"/>
              <a:gd name="connsiteY45" fmla="*/ 2420475 h 3163521"/>
              <a:gd name="connsiteX46" fmla="*/ 10377042 w 12193149"/>
              <a:gd name="connsiteY46" fmla="*/ 2463380 h 3163521"/>
              <a:gd name="connsiteX47" fmla="*/ 10319338 w 12193149"/>
              <a:gd name="connsiteY47" fmla="*/ 2485003 h 3163521"/>
              <a:gd name="connsiteX48" fmla="*/ 10295467 w 12193149"/>
              <a:gd name="connsiteY48" fmla="*/ 2486861 h 3163521"/>
              <a:gd name="connsiteX49" fmla="*/ 10263443 w 12193149"/>
              <a:gd name="connsiteY49" fmla="*/ 2493730 h 3163521"/>
              <a:gd name="connsiteX50" fmla="*/ 10205418 w 12193149"/>
              <a:gd name="connsiteY50" fmla="*/ 2500931 h 3163521"/>
              <a:gd name="connsiteX51" fmla="*/ 10177759 w 12193149"/>
              <a:gd name="connsiteY51" fmla="*/ 2511725 h 3163521"/>
              <a:gd name="connsiteX52" fmla="*/ 10165070 w 12193149"/>
              <a:gd name="connsiteY52" fmla="*/ 2512521 h 3163521"/>
              <a:gd name="connsiteX53" fmla="*/ 10156308 w 12193149"/>
              <a:gd name="connsiteY53" fmla="*/ 2526269 h 3163521"/>
              <a:gd name="connsiteX54" fmla="*/ 10118267 w 12193149"/>
              <a:gd name="connsiteY54" fmla="*/ 2549924 h 3163521"/>
              <a:gd name="connsiteX55" fmla="*/ 10083317 w 12193149"/>
              <a:gd name="connsiteY55" fmla="*/ 2562078 h 3163521"/>
              <a:gd name="connsiteX56" fmla="*/ 10040388 w 12193149"/>
              <a:gd name="connsiteY56" fmla="*/ 2560414 h 3163521"/>
              <a:gd name="connsiteX57" fmla="*/ 9961167 w 12193149"/>
              <a:gd name="connsiteY57" fmla="*/ 2575929 h 3163521"/>
              <a:gd name="connsiteX58" fmla="*/ 9848940 w 12193149"/>
              <a:gd name="connsiteY58" fmla="*/ 2582697 h 3163521"/>
              <a:gd name="connsiteX59" fmla="*/ 9729457 w 12193149"/>
              <a:gd name="connsiteY59" fmla="*/ 2602904 h 3163521"/>
              <a:gd name="connsiteX60" fmla="*/ 9613704 w 12193149"/>
              <a:gd name="connsiteY60" fmla="*/ 2631153 h 3163521"/>
              <a:gd name="connsiteX61" fmla="*/ 9338590 w 12193149"/>
              <a:gd name="connsiteY61" fmla="*/ 2688075 h 3163521"/>
              <a:gd name="connsiteX62" fmla="*/ 9232518 w 12193149"/>
              <a:gd name="connsiteY62" fmla="*/ 2711931 h 3163521"/>
              <a:gd name="connsiteX63" fmla="*/ 9156690 w 12193149"/>
              <a:gd name="connsiteY63" fmla="*/ 2722010 h 3163521"/>
              <a:gd name="connsiteX64" fmla="*/ 9054601 w 12193149"/>
              <a:gd name="connsiteY64" fmla="*/ 2729537 h 3163521"/>
              <a:gd name="connsiteX65" fmla="*/ 9006634 w 12193149"/>
              <a:gd name="connsiteY65" fmla="*/ 2732822 h 3163521"/>
              <a:gd name="connsiteX66" fmla="*/ 9006349 w 12193149"/>
              <a:gd name="connsiteY66" fmla="*/ 2732582 h 3163521"/>
              <a:gd name="connsiteX67" fmla="*/ 8997380 w 12193149"/>
              <a:gd name="connsiteY67" fmla="*/ 2733793 h 3163521"/>
              <a:gd name="connsiteX68" fmla="*/ 8991542 w 12193149"/>
              <a:gd name="connsiteY68" fmla="*/ 2735854 h 3163521"/>
              <a:gd name="connsiteX69" fmla="*/ 8975485 w 12193149"/>
              <a:gd name="connsiteY69" fmla="*/ 2739080 h 3163521"/>
              <a:gd name="connsiteX70" fmla="*/ 8969159 w 12193149"/>
              <a:gd name="connsiteY70" fmla="*/ 2738380 h 3163521"/>
              <a:gd name="connsiteX71" fmla="*/ 8964196 w 12193149"/>
              <a:gd name="connsiteY71" fmla="*/ 2736155 h 3163521"/>
              <a:gd name="connsiteX72" fmla="*/ 8930136 w 12193149"/>
              <a:gd name="connsiteY72" fmla="*/ 2732967 h 3163521"/>
              <a:gd name="connsiteX73" fmla="*/ 8753592 w 12193149"/>
              <a:gd name="connsiteY73" fmla="*/ 2752199 h 3163521"/>
              <a:gd name="connsiteX74" fmla="*/ 8708995 w 12193149"/>
              <a:gd name="connsiteY74" fmla="*/ 2754300 h 3163521"/>
              <a:gd name="connsiteX75" fmla="*/ 8597219 w 12193149"/>
              <a:gd name="connsiteY75" fmla="*/ 2762872 h 3163521"/>
              <a:gd name="connsiteX76" fmla="*/ 8526378 w 12193149"/>
              <a:gd name="connsiteY76" fmla="*/ 2748030 h 3163521"/>
              <a:gd name="connsiteX77" fmla="*/ 8512131 w 12193149"/>
              <a:gd name="connsiteY77" fmla="*/ 2753945 h 3163521"/>
              <a:gd name="connsiteX78" fmla="*/ 8507315 w 12193149"/>
              <a:gd name="connsiteY78" fmla="*/ 2756946 h 3163521"/>
              <a:gd name="connsiteX79" fmla="*/ 8499116 w 12193149"/>
              <a:gd name="connsiteY79" fmla="*/ 2759684 h 3163521"/>
              <a:gd name="connsiteX80" fmla="*/ 8498742 w 12193149"/>
              <a:gd name="connsiteY80" fmla="*/ 2759505 h 3163521"/>
              <a:gd name="connsiteX81" fmla="*/ 8491397 w 12193149"/>
              <a:gd name="connsiteY81" fmla="*/ 2762555 h 3163521"/>
              <a:gd name="connsiteX82" fmla="*/ 8368330 w 12193149"/>
              <a:gd name="connsiteY82" fmla="*/ 2776597 h 3163521"/>
              <a:gd name="connsiteX83" fmla="*/ 8354947 w 12193149"/>
              <a:gd name="connsiteY83" fmla="*/ 2776791 h 3163521"/>
              <a:gd name="connsiteX84" fmla="*/ 8321252 w 12193149"/>
              <a:gd name="connsiteY84" fmla="*/ 2793369 h 3163521"/>
              <a:gd name="connsiteX85" fmla="*/ 8315581 w 12193149"/>
              <a:gd name="connsiteY85" fmla="*/ 2793695 h 3163521"/>
              <a:gd name="connsiteX86" fmla="*/ 8296322 w 12193149"/>
              <a:gd name="connsiteY86" fmla="*/ 2807590 h 3163521"/>
              <a:gd name="connsiteX87" fmla="*/ 8285424 w 12193149"/>
              <a:gd name="connsiteY87" fmla="*/ 2813413 h 3163521"/>
              <a:gd name="connsiteX88" fmla="*/ 8284298 w 12193149"/>
              <a:gd name="connsiteY88" fmla="*/ 2817856 h 3163521"/>
              <a:gd name="connsiteX89" fmla="*/ 8267224 w 12193149"/>
              <a:gd name="connsiteY89" fmla="*/ 2825031 h 3163521"/>
              <a:gd name="connsiteX90" fmla="*/ 8264525 w 12193149"/>
              <a:gd name="connsiteY90" fmla="*/ 2824801 h 3163521"/>
              <a:gd name="connsiteX91" fmla="*/ 8253181 w 12193149"/>
              <a:gd name="connsiteY91" fmla="*/ 2834644 h 3163521"/>
              <a:gd name="connsiteX92" fmla="*/ 8246982 w 12193149"/>
              <a:gd name="connsiteY92" fmla="*/ 2847636 h 3163521"/>
              <a:gd name="connsiteX93" fmla="*/ 8091420 w 12193149"/>
              <a:gd name="connsiteY93" fmla="*/ 2893797 h 3163521"/>
              <a:gd name="connsiteX94" fmla="*/ 7906555 w 12193149"/>
              <a:gd name="connsiteY94" fmla="*/ 2935770 h 3163521"/>
              <a:gd name="connsiteX95" fmla="*/ 7719893 w 12193149"/>
              <a:gd name="connsiteY95" fmla="*/ 2961485 h 3163521"/>
              <a:gd name="connsiteX96" fmla="*/ 7615495 w 12193149"/>
              <a:gd name="connsiteY96" fmla="*/ 2958014 h 3163521"/>
              <a:gd name="connsiteX97" fmla="*/ 7528691 w 12193149"/>
              <a:gd name="connsiteY97" fmla="*/ 2963842 h 3163521"/>
              <a:gd name="connsiteX98" fmla="*/ 7520719 w 12193149"/>
              <a:gd name="connsiteY98" fmla="*/ 2966395 h 3163521"/>
              <a:gd name="connsiteX99" fmla="*/ 7508559 w 12193149"/>
              <a:gd name="connsiteY99" fmla="*/ 2967730 h 3163521"/>
              <a:gd name="connsiteX100" fmla="*/ 7508188 w 12193149"/>
              <a:gd name="connsiteY100" fmla="*/ 2967403 h 3163521"/>
              <a:gd name="connsiteX101" fmla="*/ 7496943 w 12193149"/>
              <a:gd name="connsiteY101" fmla="*/ 2969355 h 3163521"/>
              <a:gd name="connsiteX102" fmla="*/ 7219707 w 12193149"/>
              <a:gd name="connsiteY102" fmla="*/ 2975462 h 3163521"/>
              <a:gd name="connsiteX103" fmla="*/ 7202249 w 12193149"/>
              <a:gd name="connsiteY103" fmla="*/ 2980012 h 3163521"/>
              <a:gd name="connsiteX104" fmla="*/ 7198152 w 12193149"/>
              <a:gd name="connsiteY104" fmla="*/ 2985370 h 3163521"/>
              <a:gd name="connsiteX105" fmla="*/ 7171956 w 12193149"/>
              <a:gd name="connsiteY105" fmla="*/ 2990018 h 3163521"/>
              <a:gd name="connsiteX106" fmla="*/ 7098136 w 12193149"/>
              <a:gd name="connsiteY106" fmla="*/ 3002246 h 3163521"/>
              <a:gd name="connsiteX107" fmla="*/ 7019644 w 12193149"/>
              <a:gd name="connsiteY107" fmla="*/ 3001872 h 3163521"/>
              <a:gd name="connsiteX108" fmla="*/ 6905294 w 12193149"/>
              <a:gd name="connsiteY108" fmla="*/ 3031378 h 3163521"/>
              <a:gd name="connsiteX109" fmla="*/ 6709370 w 12193149"/>
              <a:gd name="connsiteY109" fmla="*/ 3059333 h 3163521"/>
              <a:gd name="connsiteX110" fmla="*/ 6550602 w 12193149"/>
              <a:gd name="connsiteY110" fmla="*/ 3088109 h 3163521"/>
              <a:gd name="connsiteX111" fmla="*/ 6318708 w 12193149"/>
              <a:gd name="connsiteY111" fmla="*/ 3134909 h 3163521"/>
              <a:gd name="connsiteX112" fmla="*/ 6169822 w 12193149"/>
              <a:gd name="connsiteY112" fmla="*/ 3136996 h 3163521"/>
              <a:gd name="connsiteX113" fmla="*/ 6074996 w 12193149"/>
              <a:gd name="connsiteY113" fmla="*/ 3157458 h 3163521"/>
              <a:gd name="connsiteX114" fmla="*/ 6069677 w 12193149"/>
              <a:gd name="connsiteY114" fmla="*/ 3155921 h 3163521"/>
              <a:gd name="connsiteX115" fmla="*/ 6049786 w 12193149"/>
              <a:gd name="connsiteY115" fmla="*/ 3156604 h 3163521"/>
              <a:gd name="connsiteX116" fmla="*/ 6042433 w 12193149"/>
              <a:gd name="connsiteY116" fmla="*/ 3148255 h 3163521"/>
              <a:gd name="connsiteX117" fmla="*/ 6011238 w 12193149"/>
              <a:gd name="connsiteY117" fmla="*/ 3143162 h 3163521"/>
              <a:gd name="connsiteX118" fmla="*/ 5958523 w 12193149"/>
              <a:gd name="connsiteY118" fmla="*/ 3146806 h 3163521"/>
              <a:gd name="connsiteX119" fmla="*/ 5760067 w 12193149"/>
              <a:gd name="connsiteY119" fmla="*/ 3162498 h 3163521"/>
              <a:gd name="connsiteX120" fmla="*/ 5628108 w 12193149"/>
              <a:gd name="connsiteY120" fmla="*/ 3163521 h 3163521"/>
              <a:gd name="connsiteX121" fmla="*/ 5472054 w 12193149"/>
              <a:gd name="connsiteY121" fmla="*/ 3149501 h 3163521"/>
              <a:gd name="connsiteX122" fmla="*/ 5433909 w 12193149"/>
              <a:gd name="connsiteY122" fmla="*/ 3138248 h 3163521"/>
              <a:gd name="connsiteX123" fmla="*/ 5382817 w 12193149"/>
              <a:gd name="connsiteY123" fmla="*/ 3120546 h 3163521"/>
              <a:gd name="connsiteX124" fmla="*/ 5262912 w 12193149"/>
              <a:gd name="connsiteY124" fmla="*/ 3100129 h 3163521"/>
              <a:gd name="connsiteX125" fmla="*/ 5224109 w 12193149"/>
              <a:gd name="connsiteY125" fmla="*/ 3089005 h 3163521"/>
              <a:gd name="connsiteX126" fmla="*/ 5175808 w 12193149"/>
              <a:gd name="connsiteY126" fmla="*/ 3086015 h 3163521"/>
              <a:gd name="connsiteX127" fmla="*/ 5157702 w 12193149"/>
              <a:gd name="connsiteY127" fmla="*/ 3078792 h 3163521"/>
              <a:gd name="connsiteX128" fmla="*/ 5143747 w 12193149"/>
              <a:gd name="connsiteY128" fmla="*/ 3075392 h 3163521"/>
              <a:gd name="connsiteX129" fmla="*/ 5140744 w 12193149"/>
              <a:gd name="connsiteY129" fmla="*/ 3073291 h 3163521"/>
              <a:gd name="connsiteX130" fmla="*/ 5122807 w 12193149"/>
              <a:gd name="connsiteY130" fmla="*/ 3062438 h 3163521"/>
              <a:gd name="connsiteX131" fmla="*/ 5066938 w 12193149"/>
              <a:gd name="connsiteY131" fmla="*/ 3069009 h 3163521"/>
              <a:gd name="connsiteX132" fmla="*/ 5012662 w 12193149"/>
              <a:gd name="connsiteY132" fmla="*/ 3052628 h 3163521"/>
              <a:gd name="connsiteX133" fmla="*/ 4841589 w 12193149"/>
              <a:gd name="connsiteY133" fmla="*/ 3028611 h 3163521"/>
              <a:gd name="connsiteX134" fmla="*/ 4763595 w 12193149"/>
              <a:gd name="connsiteY134" fmla="*/ 3000843 h 3163521"/>
              <a:gd name="connsiteX135" fmla="*/ 4724334 w 12193149"/>
              <a:gd name="connsiteY135" fmla="*/ 2991829 h 3163521"/>
              <a:gd name="connsiteX136" fmla="*/ 4722324 w 12193149"/>
              <a:gd name="connsiteY136" fmla="*/ 2991080 h 3163521"/>
              <a:gd name="connsiteX137" fmla="*/ 4723259 w 12193149"/>
              <a:gd name="connsiteY137" fmla="*/ 2990869 h 3163521"/>
              <a:gd name="connsiteX138" fmla="*/ 4718350 w 12193149"/>
              <a:gd name="connsiteY138" fmla="*/ 2989599 h 3163521"/>
              <a:gd name="connsiteX139" fmla="*/ 4722324 w 12193149"/>
              <a:gd name="connsiteY139" fmla="*/ 2991080 h 3163521"/>
              <a:gd name="connsiteX140" fmla="*/ 4716674 w 12193149"/>
              <a:gd name="connsiteY140" fmla="*/ 2992355 h 3163521"/>
              <a:gd name="connsiteX141" fmla="*/ 4516962 w 12193149"/>
              <a:gd name="connsiteY141" fmla="*/ 2982453 h 3163521"/>
              <a:gd name="connsiteX142" fmla="*/ 4429691 w 12193149"/>
              <a:gd name="connsiteY142" fmla="*/ 2971802 h 3163521"/>
              <a:gd name="connsiteX143" fmla="*/ 4364023 w 12193149"/>
              <a:gd name="connsiteY143" fmla="*/ 2970456 h 3163521"/>
              <a:gd name="connsiteX144" fmla="*/ 4318114 w 12193149"/>
              <a:gd name="connsiteY144" fmla="*/ 2977071 h 3163521"/>
              <a:gd name="connsiteX145" fmla="*/ 4316258 w 12193149"/>
              <a:gd name="connsiteY145" fmla="*/ 2975730 h 3163521"/>
              <a:gd name="connsiteX146" fmla="*/ 4296292 w 12193149"/>
              <a:gd name="connsiteY146" fmla="*/ 2973851 h 3163521"/>
              <a:gd name="connsiteX147" fmla="*/ 4291212 w 12193149"/>
              <a:gd name="connsiteY147" fmla="*/ 2976768 h 3163521"/>
              <a:gd name="connsiteX148" fmla="*/ 4277290 w 12193149"/>
              <a:gd name="connsiteY148" fmla="*/ 2976522 h 3163521"/>
              <a:gd name="connsiteX149" fmla="*/ 4249265 w 12193149"/>
              <a:gd name="connsiteY149" fmla="*/ 2978846 h 3163521"/>
              <a:gd name="connsiteX150" fmla="*/ 4203199 w 12193149"/>
              <a:gd name="connsiteY150" fmla="*/ 2976051 h 3163521"/>
              <a:gd name="connsiteX151" fmla="*/ 4202893 w 12193149"/>
              <a:gd name="connsiteY151" fmla="*/ 2974792 h 3163521"/>
              <a:gd name="connsiteX152" fmla="*/ 4192396 w 12193149"/>
              <a:gd name="connsiteY152" fmla="*/ 2969158 h 3163521"/>
              <a:gd name="connsiteX153" fmla="*/ 4143893 w 12193149"/>
              <a:gd name="connsiteY153" fmla="*/ 2953293 h 3163521"/>
              <a:gd name="connsiteX154" fmla="*/ 4084245 w 12193149"/>
              <a:gd name="connsiteY154" fmla="*/ 2926760 h 3163521"/>
              <a:gd name="connsiteX155" fmla="*/ 4075694 w 12193149"/>
              <a:gd name="connsiteY155" fmla="*/ 2925925 h 3163521"/>
              <a:gd name="connsiteX156" fmla="*/ 4075575 w 12193149"/>
              <a:gd name="connsiteY156" fmla="*/ 2925626 h 3163521"/>
              <a:gd name="connsiteX157" fmla="*/ 4066658 w 12193149"/>
              <a:gd name="connsiteY157" fmla="*/ 2924182 h 3163521"/>
              <a:gd name="connsiteX158" fmla="*/ 4060102 w 12193149"/>
              <a:gd name="connsiteY158" fmla="*/ 2924400 h 3163521"/>
              <a:gd name="connsiteX159" fmla="*/ 4043512 w 12193149"/>
              <a:gd name="connsiteY159" fmla="*/ 2922779 h 3163521"/>
              <a:gd name="connsiteX160" fmla="*/ 4038145 w 12193149"/>
              <a:gd name="connsiteY160" fmla="*/ 2920345 h 3163521"/>
              <a:gd name="connsiteX161" fmla="*/ 4036511 w 12193149"/>
              <a:gd name="connsiteY161" fmla="*/ 2916678 h 3163521"/>
              <a:gd name="connsiteX162" fmla="*/ 4034926 w 12193149"/>
              <a:gd name="connsiteY162" fmla="*/ 2916913 h 3163521"/>
              <a:gd name="connsiteX163" fmla="*/ 4005686 w 12193149"/>
              <a:gd name="connsiteY163" fmla="*/ 2904345 h 3163521"/>
              <a:gd name="connsiteX164" fmla="*/ 3937994 w 12193149"/>
              <a:gd name="connsiteY164" fmla="*/ 2886888 h 3163521"/>
              <a:gd name="connsiteX165" fmla="*/ 3898423 w 12193149"/>
              <a:gd name="connsiteY165" fmla="*/ 2881233 h 3163521"/>
              <a:gd name="connsiteX166" fmla="*/ 3790908 w 12193149"/>
              <a:gd name="connsiteY166" fmla="*/ 2860995 h 3163521"/>
              <a:gd name="connsiteX167" fmla="*/ 3683661 w 12193149"/>
              <a:gd name="connsiteY167" fmla="*/ 2837072 h 3163521"/>
              <a:gd name="connsiteX168" fmla="*/ 3611183 w 12193149"/>
              <a:gd name="connsiteY168" fmla="*/ 2804801 h 3163521"/>
              <a:gd name="connsiteX169" fmla="*/ 3605003 w 12193149"/>
              <a:gd name="connsiteY169" fmla="*/ 2806163 h 3163521"/>
              <a:gd name="connsiteX170" fmla="*/ 3595884 w 12193149"/>
              <a:gd name="connsiteY170" fmla="*/ 2806327 h 3163521"/>
              <a:gd name="connsiteX171" fmla="*/ 3595649 w 12193149"/>
              <a:gd name="connsiteY171" fmla="*/ 2806058 h 3163521"/>
              <a:gd name="connsiteX172" fmla="*/ 3587126 w 12193149"/>
              <a:gd name="connsiteY172" fmla="*/ 2806748 h 3163521"/>
              <a:gd name="connsiteX173" fmla="*/ 3537283 w 12193149"/>
              <a:gd name="connsiteY173" fmla="*/ 2797049 h 3163521"/>
              <a:gd name="connsiteX174" fmla="*/ 3474371 w 12193149"/>
              <a:gd name="connsiteY174" fmla="*/ 2793388 h 3163521"/>
              <a:gd name="connsiteX175" fmla="*/ 3401876 w 12193149"/>
              <a:gd name="connsiteY175" fmla="*/ 2781340 h 3163521"/>
              <a:gd name="connsiteX176" fmla="*/ 3365036 w 12193149"/>
              <a:gd name="connsiteY176" fmla="*/ 2798292 h 3163521"/>
              <a:gd name="connsiteX177" fmla="*/ 3345174 w 12193149"/>
              <a:gd name="connsiteY177" fmla="*/ 2799974 h 3163521"/>
              <a:gd name="connsiteX178" fmla="*/ 3342846 w 12193149"/>
              <a:gd name="connsiteY178" fmla="*/ 2798999 h 3163521"/>
              <a:gd name="connsiteX179" fmla="*/ 3263504 w 12193149"/>
              <a:gd name="connsiteY179" fmla="*/ 2804876 h 3163521"/>
              <a:gd name="connsiteX180" fmla="*/ 3143704 w 12193149"/>
              <a:gd name="connsiteY180" fmla="*/ 2812651 h 3163521"/>
              <a:gd name="connsiteX181" fmla="*/ 3031439 w 12193149"/>
              <a:gd name="connsiteY181" fmla="*/ 2815294 h 3163521"/>
              <a:gd name="connsiteX182" fmla="*/ 2782717 w 12193149"/>
              <a:gd name="connsiteY182" fmla="*/ 2837115 h 3163521"/>
              <a:gd name="connsiteX183" fmla="*/ 2647675 w 12193149"/>
              <a:gd name="connsiteY183" fmla="*/ 2847651 h 3163521"/>
              <a:gd name="connsiteX184" fmla="*/ 2569176 w 12193149"/>
              <a:gd name="connsiteY184" fmla="*/ 2821410 h 3163521"/>
              <a:gd name="connsiteX185" fmla="*/ 2444403 w 12193149"/>
              <a:gd name="connsiteY185" fmla="*/ 2835311 h 3163521"/>
              <a:gd name="connsiteX186" fmla="*/ 2316260 w 12193149"/>
              <a:gd name="connsiteY186" fmla="*/ 2843778 h 3163521"/>
              <a:gd name="connsiteX187" fmla="*/ 2209726 w 12193149"/>
              <a:gd name="connsiteY187" fmla="*/ 2838545 h 3163521"/>
              <a:gd name="connsiteX188" fmla="*/ 2095813 w 12193149"/>
              <a:gd name="connsiteY188" fmla="*/ 2821834 h 3163521"/>
              <a:gd name="connsiteX189" fmla="*/ 1998504 w 12193149"/>
              <a:gd name="connsiteY189" fmla="*/ 2813814 h 3163521"/>
              <a:gd name="connsiteX190" fmla="*/ 1929320 w 12193149"/>
              <a:gd name="connsiteY190" fmla="*/ 2835759 h 3163521"/>
              <a:gd name="connsiteX191" fmla="*/ 1922798 w 12193149"/>
              <a:gd name="connsiteY191" fmla="*/ 2830928 h 3163521"/>
              <a:gd name="connsiteX192" fmla="*/ 1874228 w 12193149"/>
              <a:gd name="connsiteY192" fmla="*/ 2832523 h 3163521"/>
              <a:gd name="connsiteX193" fmla="*/ 1787803 w 12193149"/>
              <a:gd name="connsiteY193" fmla="*/ 2860145 h 3163521"/>
              <a:gd name="connsiteX194" fmla="*/ 1739352 w 12193149"/>
              <a:gd name="connsiteY194" fmla="*/ 2855094 h 3163521"/>
              <a:gd name="connsiteX195" fmla="*/ 1676219 w 12193149"/>
              <a:gd name="connsiteY195" fmla="*/ 2838745 h 3163521"/>
              <a:gd name="connsiteX196" fmla="*/ 1609817 w 12193149"/>
              <a:gd name="connsiteY196" fmla="*/ 2831848 h 3163521"/>
              <a:gd name="connsiteX197" fmla="*/ 1497258 w 12193149"/>
              <a:gd name="connsiteY197" fmla="*/ 2806258 h 3163521"/>
              <a:gd name="connsiteX198" fmla="*/ 1151127 w 12193149"/>
              <a:gd name="connsiteY198" fmla="*/ 2756823 h 3163521"/>
              <a:gd name="connsiteX199" fmla="*/ 859417 w 12193149"/>
              <a:gd name="connsiteY199" fmla="*/ 2747390 h 3163521"/>
              <a:gd name="connsiteX200" fmla="*/ 838688 w 12193149"/>
              <a:gd name="connsiteY200" fmla="*/ 2748603 h 3163521"/>
              <a:gd name="connsiteX201" fmla="*/ 817957 w 12193149"/>
              <a:gd name="connsiteY201" fmla="*/ 2746639 h 3163521"/>
              <a:gd name="connsiteX202" fmla="*/ 812654 w 12193149"/>
              <a:gd name="connsiteY202" fmla="*/ 2749533 h 3163521"/>
              <a:gd name="connsiteX203" fmla="*/ 721195 w 12193149"/>
              <a:gd name="connsiteY203" fmla="*/ 2748443 h 3163521"/>
              <a:gd name="connsiteX204" fmla="*/ 720890 w 12193149"/>
              <a:gd name="connsiteY204" fmla="*/ 2747181 h 3163521"/>
              <a:gd name="connsiteX205" fmla="*/ 710023 w 12193149"/>
              <a:gd name="connsiteY205" fmla="*/ 2741504 h 3163521"/>
              <a:gd name="connsiteX206" fmla="*/ 597940 w 12193149"/>
              <a:gd name="connsiteY206" fmla="*/ 2698646 h 3163521"/>
              <a:gd name="connsiteX207" fmla="*/ 579683 w 12193149"/>
              <a:gd name="connsiteY207" fmla="*/ 2695994 h 3163521"/>
              <a:gd name="connsiteX208" fmla="*/ 572865 w 12193149"/>
              <a:gd name="connsiteY208" fmla="*/ 2696183 h 3163521"/>
              <a:gd name="connsiteX209" fmla="*/ 446247 w 12193149"/>
              <a:gd name="connsiteY209" fmla="*/ 2658153 h 3163521"/>
              <a:gd name="connsiteX210" fmla="*/ 405163 w 12193149"/>
              <a:gd name="connsiteY210" fmla="*/ 2652330 h 3163521"/>
              <a:gd name="connsiteX211" fmla="*/ 293583 w 12193149"/>
              <a:gd name="connsiteY211" fmla="*/ 2631634 h 3163521"/>
              <a:gd name="connsiteX212" fmla="*/ 119529 w 12193149"/>
              <a:gd name="connsiteY212" fmla="*/ 2579829 h 3163521"/>
              <a:gd name="connsiteX213" fmla="*/ 16674 w 12193149"/>
              <a:gd name="connsiteY213" fmla="*/ 2576973 h 3163521"/>
              <a:gd name="connsiteX214" fmla="*/ 1150 w 12193149"/>
              <a:gd name="connsiteY214" fmla="*/ 2571504 h 3163521"/>
              <a:gd name="connsiteX215" fmla="*/ 1148 w 12193149"/>
              <a:gd name="connsiteY215" fmla="*/ 1040995 h 3163521"/>
              <a:gd name="connsiteX216" fmla="*/ 1148 w 12193149"/>
              <a:gd name="connsiteY216" fmla="*/ 818782 h 3163521"/>
              <a:gd name="connsiteX0" fmla="*/ 1148 w 12193149"/>
              <a:gd name="connsiteY0" fmla="*/ 0 h 3171710"/>
              <a:gd name="connsiteX1" fmla="*/ 12181789 w 12193149"/>
              <a:gd name="connsiteY1" fmla="*/ 8189 h 3171710"/>
              <a:gd name="connsiteX2" fmla="*/ 12193149 w 12193149"/>
              <a:gd name="connsiteY2" fmla="*/ 1406710 h 3171710"/>
              <a:gd name="connsiteX3" fmla="*/ 12185986 w 12193149"/>
              <a:gd name="connsiteY3" fmla="*/ 1411160 h 3171710"/>
              <a:gd name="connsiteX4" fmla="*/ 12156363 w 12193149"/>
              <a:gd name="connsiteY4" fmla="*/ 1424337 h 3171710"/>
              <a:gd name="connsiteX5" fmla="*/ 12139215 w 12193149"/>
              <a:gd name="connsiteY5" fmla="*/ 1450150 h 3171710"/>
              <a:gd name="connsiteX6" fmla="*/ 12126327 w 12193149"/>
              <a:gd name="connsiteY6" fmla="*/ 1451661 h 3171710"/>
              <a:gd name="connsiteX7" fmla="*/ 12124007 w 12193149"/>
              <a:gd name="connsiteY7" fmla="*/ 1451765 h 3171710"/>
              <a:gd name="connsiteX8" fmla="*/ 12116854 w 12193149"/>
              <a:gd name="connsiteY8" fmla="*/ 1455579 h 3171710"/>
              <a:gd name="connsiteX9" fmla="*/ 12099497 w 12193149"/>
              <a:gd name="connsiteY9" fmla="*/ 1455110 h 3171710"/>
              <a:gd name="connsiteX10" fmla="*/ 12087073 w 12193149"/>
              <a:gd name="connsiteY10" fmla="*/ 1463312 h 3171710"/>
              <a:gd name="connsiteX11" fmla="*/ 12031073 w 12193149"/>
              <a:gd name="connsiteY11" fmla="*/ 1506980 h 3171710"/>
              <a:gd name="connsiteX12" fmla="*/ 11995833 w 12193149"/>
              <a:gd name="connsiteY12" fmla="*/ 1530429 h 3171710"/>
              <a:gd name="connsiteX13" fmla="*/ 11979717 w 12193149"/>
              <a:gd name="connsiteY13" fmla="*/ 1535132 h 3171710"/>
              <a:gd name="connsiteX14" fmla="*/ 11959046 w 12193149"/>
              <a:gd name="connsiteY14" fmla="*/ 1544529 h 3171710"/>
              <a:gd name="connsiteX15" fmla="*/ 11920454 w 12193149"/>
              <a:gd name="connsiteY15" fmla="*/ 1557854 h 3171710"/>
              <a:gd name="connsiteX16" fmla="*/ 11903656 w 12193149"/>
              <a:gd name="connsiteY16" fmla="*/ 1569397 h 3171710"/>
              <a:gd name="connsiteX17" fmla="*/ 11895048 w 12193149"/>
              <a:gd name="connsiteY17" fmla="*/ 1571762 h 3171710"/>
              <a:gd name="connsiteX18" fmla="*/ 11891968 w 12193149"/>
              <a:gd name="connsiteY18" fmla="*/ 1582700 h 3171710"/>
              <a:gd name="connsiteX19" fmla="*/ 11870776 w 12193149"/>
              <a:gd name="connsiteY19" fmla="*/ 1604787 h 3171710"/>
              <a:gd name="connsiteX20" fmla="*/ 11813376 w 12193149"/>
              <a:gd name="connsiteY20" fmla="*/ 1624630 h 3171710"/>
              <a:gd name="connsiteX21" fmla="*/ 11590693 w 12193149"/>
              <a:gd name="connsiteY21" fmla="*/ 1790748 h 3171710"/>
              <a:gd name="connsiteX22" fmla="*/ 11506817 w 12193149"/>
              <a:gd name="connsiteY22" fmla="*/ 1860594 h 3171710"/>
              <a:gd name="connsiteX23" fmla="*/ 11280332 w 12193149"/>
              <a:gd name="connsiteY23" fmla="*/ 2050542 h 3171710"/>
              <a:gd name="connsiteX24" fmla="*/ 11228309 w 12193149"/>
              <a:gd name="connsiteY24" fmla="*/ 2103207 h 3171710"/>
              <a:gd name="connsiteX25" fmla="*/ 11218087 w 12193149"/>
              <a:gd name="connsiteY25" fmla="*/ 2102932 h 3171710"/>
              <a:gd name="connsiteX26" fmla="*/ 11217184 w 12193149"/>
              <a:gd name="connsiteY26" fmla="*/ 2101989 h 3171710"/>
              <a:gd name="connsiteX27" fmla="*/ 11188885 w 12193149"/>
              <a:gd name="connsiteY27" fmla="*/ 2119354 h 3171710"/>
              <a:gd name="connsiteX28" fmla="*/ 11184501 w 12193149"/>
              <a:gd name="connsiteY28" fmla="*/ 2119496 h 3171710"/>
              <a:gd name="connsiteX29" fmla="*/ 11166854 w 12193149"/>
              <a:gd name="connsiteY29" fmla="*/ 2133583 h 3171710"/>
              <a:gd name="connsiteX30" fmla="*/ 11157311 w 12193149"/>
              <a:gd name="connsiteY30" fmla="*/ 2139385 h 3171710"/>
              <a:gd name="connsiteX31" fmla="*/ 11155496 w 12193149"/>
              <a:gd name="connsiteY31" fmla="*/ 2144068 h 3171710"/>
              <a:gd name="connsiteX32" fmla="*/ 11140961 w 12193149"/>
              <a:gd name="connsiteY32" fmla="*/ 2151086 h 3171710"/>
              <a:gd name="connsiteX33" fmla="*/ 11138961 w 12193149"/>
              <a:gd name="connsiteY33" fmla="*/ 2150743 h 3171710"/>
              <a:gd name="connsiteX34" fmla="*/ 11128208 w 12193149"/>
              <a:gd name="connsiteY34" fmla="*/ 2160803 h 3171710"/>
              <a:gd name="connsiteX35" fmla="*/ 11120691 w 12193149"/>
              <a:gd name="connsiteY35" fmla="*/ 2174395 h 3171710"/>
              <a:gd name="connsiteX36" fmla="*/ 10894683 w 12193149"/>
              <a:gd name="connsiteY36" fmla="*/ 2300370 h 3171710"/>
              <a:gd name="connsiteX37" fmla="*/ 10773300 w 12193149"/>
              <a:gd name="connsiteY37" fmla="*/ 2350162 h 3171710"/>
              <a:gd name="connsiteX38" fmla="*/ 10627668 w 12193149"/>
              <a:gd name="connsiteY38" fmla="*/ 2386200 h 3171710"/>
              <a:gd name="connsiteX39" fmla="*/ 10581895 w 12193149"/>
              <a:gd name="connsiteY39" fmla="*/ 2395660 h 3171710"/>
              <a:gd name="connsiteX40" fmla="*/ 10547790 w 12193149"/>
              <a:gd name="connsiteY40" fmla="*/ 2425394 h 3171710"/>
              <a:gd name="connsiteX41" fmla="*/ 10529643 w 12193149"/>
              <a:gd name="connsiteY41" fmla="*/ 2423878 h 3171710"/>
              <a:gd name="connsiteX42" fmla="*/ 10526446 w 12193149"/>
              <a:gd name="connsiteY42" fmla="*/ 2423382 h 3171710"/>
              <a:gd name="connsiteX43" fmla="*/ 10515129 w 12193149"/>
              <a:gd name="connsiteY43" fmla="*/ 2426508 h 3171710"/>
              <a:gd name="connsiteX44" fmla="*/ 10491735 w 12193149"/>
              <a:gd name="connsiteY44" fmla="*/ 2421127 h 3171710"/>
              <a:gd name="connsiteX45" fmla="*/ 10471418 w 12193149"/>
              <a:gd name="connsiteY45" fmla="*/ 2428664 h 3171710"/>
              <a:gd name="connsiteX46" fmla="*/ 10377042 w 12193149"/>
              <a:gd name="connsiteY46" fmla="*/ 2471569 h 3171710"/>
              <a:gd name="connsiteX47" fmla="*/ 10319338 w 12193149"/>
              <a:gd name="connsiteY47" fmla="*/ 2493192 h 3171710"/>
              <a:gd name="connsiteX48" fmla="*/ 10295467 w 12193149"/>
              <a:gd name="connsiteY48" fmla="*/ 2495050 h 3171710"/>
              <a:gd name="connsiteX49" fmla="*/ 10263443 w 12193149"/>
              <a:gd name="connsiteY49" fmla="*/ 2501919 h 3171710"/>
              <a:gd name="connsiteX50" fmla="*/ 10205418 w 12193149"/>
              <a:gd name="connsiteY50" fmla="*/ 2509120 h 3171710"/>
              <a:gd name="connsiteX51" fmla="*/ 10177759 w 12193149"/>
              <a:gd name="connsiteY51" fmla="*/ 2519914 h 3171710"/>
              <a:gd name="connsiteX52" fmla="*/ 10165070 w 12193149"/>
              <a:gd name="connsiteY52" fmla="*/ 2520710 h 3171710"/>
              <a:gd name="connsiteX53" fmla="*/ 10156308 w 12193149"/>
              <a:gd name="connsiteY53" fmla="*/ 2534458 h 3171710"/>
              <a:gd name="connsiteX54" fmla="*/ 10118267 w 12193149"/>
              <a:gd name="connsiteY54" fmla="*/ 2558113 h 3171710"/>
              <a:gd name="connsiteX55" fmla="*/ 10083317 w 12193149"/>
              <a:gd name="connsiteY55" fmla="*/ 2570267 h 3171710"/>
              <a:gd name="connsiteX56" fmla="*/ 10040388 w 12193149"/>
              <a:gd name="connsiteY56" fmla="*/ 2568603 h 3171710"/>
              <a:gd name="connsiteX57" fmla="*/ 9961167 w 12193149"/>
              <a:gd name="connsiteY57" fmla="*/ 2584118 h 3171710"/>
              <a:gd name="connsiteX58" fmla="*/ 9848940 w 12193149"/>
              <a:gd name="connsiteY58" fmla="*/ 2590886 h 3171710"/>
              <a:gd name="connsiteX59" fmla="*/ 9729457 w 12193149"/>
              <a:gd name="connsiteY59" fmla="*/ 2611093 h 3171710"/>
              <a:gd name="connsiteX60" fmla="*/ 9613704 w 12193149"/>
              <a:gd name="connsiteY60" fmla="*/ 2639342 h 3171710"/>
              <a:gd name="connsiteX61" fmla="*/ 9338590 w 12193149"/>
              <a:gd name="connsiteY61" fmla="*/ 2696264 h 3171710"/>
              <a:gd name="connsiteX62" fmla="*/ 9232518 w 12193149"/>
              <a:gd name="connsiteY62" fmla="*/ 2720120 h 3171710"/>
              <a:gd name="connsiteX63" fmla="*/ 9156690 w 12193149"/>
              <a:gd name="connsiteY63" fmla="*/ 2730199 h 3171710"/>
              <a:gd name="connsiteX64" fmla="*/ 9054601 w 12193149"/>
              <a:gd name="connsiteY64" fmla="*/ 2737726 h 3171710"/>
              <a:gd name="connsiteX65" fmla="*/ 9006634 w 12193149"/>
              <a:gd name="connsiteY65" fmla="*/ 2741011 h 3171710"/>
              <a:gd name="connsiteX66" fmla="*/ 9006349 w 12193149"/>
              <a:gd name="connsiteY66" fmla="*/ 2740771 h 3171710"/>
              <a:gd name="connsiteX67" fmla="*/ 8997380 w 12193149"/>
              <a:gd name="connsiteY67" fmla="*/ 2741982 h 3171710"/>
              <a:gd name="connsiteX68" fmla="*/ 8991542 w 12193149"/>
              <a:gd name="connsiteY68" fmla="*/ 2744043 h 3171710"/>
              <a:gd name="connsiteX69" fmla="*/ 8975485 w 12193149"/>
              <a:gd name="connsiteY69" fmla="*/ 2747269 h 3171710"/>
              <a:gd name="connsiteX70" fmla="*/ 8969159 w 12193149"/>
              <a:gd name="connsiteY70" fmla="*/ 2746569 h 3171710"/>
              <a:gd name="connsiteX71" fmla="*/ 8964196 w 12193149"/>
              <a:gd name="connsiteY71" fmla="*/ 2744344 h 3171710"/>
              <a:gd name="connsiteX72" fmla="*/ 8930136 w 12193149"/>
              <a:gd name="connsiteY72" fmla="*/ 2741156 h 3171710"/>
              <a:gd name="connsiteX73" fmla="*/ 8753592 w 12193149"/>
              <a:gd name="connsiteY73" fmla="*/ 2760388 h 3171710"/>
              <a:gd name="connsiteX74" fmla="*/ 8708995 w 12193149"/>
              <a:gd name="connsiteY74" fmla="*/ 2762489 h 3171710"/>
              <a:gd name="connsiteX75" fmla="*/ 8597219 w 12193149"/>
              <a:gd name="connsiteY75" fmla="*/ 2771061 h 3171710"/>
              <a:gd name="connsiteX76" fmla="*/ 8526378 w 12193149"/>
              <a:gd name="connsiteY76" fmla="*/ 2756219 h 3171710"/>
              <a:gd name="connsiteX77" fmla="*/ 8512131 w 12193149"/>
              <a:gd name="connsiteY77" fmla="*/ 2762134 h 3171710"/>
              <a:gd name="connsiteX78" fmla="*/ 8507315 w 12193149"/>
              <a:gd name="connsiteY78" fmla="*/ 2765135 h 3171710"/>
              <a:gd name="connsiteX79" fmla="*/ 8499116 w 12193149"/>
              <a:gd name="connsiteY79" fmla="*/ 2767873 h 3171710"/>
              <a:gd name="connsiteX80" fmla="*/ 8498742 w 12193149"/>
              <a:gd name="connsiteY80" fmla="*/ 2767694 h 3171710"/>
              <a:gd name="connsiteX81" fmla="*/ 8491397 w 12193149"/>
              <a:gd name="connsiteY81" fmla="*/ 2770744 h 3171710"/>
              <a:gd name="connsiteX82" fmla="*/ 8368330 w 12193149"/>
              <a:gd name="connsiteY82" fmla="*/ 2784786 h 3171710"/>
              <a:gd name="connsiteX83" fmla="*/ 8354947 w 12193149"/>
              <a:gd name="connsiteY83" fmla="*/ 2784980 h 3171710"/>
              <a:gd name="connsiteX84" fmla="*/ 8321252 w 12193149"/>
              <a:gd name="connsiteY84" fmla="*/ 2801558 h 3171710"/>
              <a:gd name="connsiteX85" fmla="*/ 8315581 w 12193149"/>
              <a:gd name="connsiteY85" fmla="*/ 2801884 h 3171710"/>
              <a:gd name="connsiteX86" fmla="*/ 8296322 w 12193149"/>
              <a:gd name="connsiteY86" fmla="*/ 2815779 h 3171710"/>
              <a:gd name="connsiteX87" fmla="*/ 8285424 w 12193149"/>
              <a:gd name="connsiteY87" fmla="*/ 2821602 h 3171710"/>
              <a:gd name="connsiteX88" fmla="*/ 8284298 w 12193149"/>
              <a:gd name="connsiteY88" fmla="*/ 2826045 h 3171710"/>
              <a:gd name="connsiteX89" fmla="*/ 8267224 w 12193149"/>
              <a:gd name="connsiteY89" fmla="*/ 2833220 h 3171710"/>
              <a:gd name="connsiteX90" fmla="*/ 8264525 w 12193149"/>
              <a:gd name="connsiteY90" fmla="*/ 2832990 h 3171710"/>
              <a:gd name="connsiteX91" fmla="*/ 8253181 w 12193149"/>
              <a:gd name="connsiteY91" fmla="*/ 2842833 h 3171710"/>
              <a:gd name="connsiteX92" fmla="*/ 8246982 w 12193149"/>
              <a:gd name="connsiteY92" fmla="*/ 2855825 h 3171710"/>
              <a:gd name="connsiteX93" fmla="*/ 8091420 w 12193149"/>
              <a:gd name="connsiteY93" fmla="*/ 2901986 h 3171710"/>
              <a:gd name="connsiteX94" fmla="*/ 7906555 w 12193149"/>
              <a:gd name="connsiteY94" fmla="*/ 2943959 h 3171710"/>
              <a:gd name="connsiteX95" fmla="*/ 7719893 w 12193149"/>
              <a:gd name="connsiteY95" fmla="*/ 2969674 h 3171710"/>
              <a:gd name="connsiteX96" fmla="*/ 7615495 w 12193149"/>
              <a:gd name="connsiteY96" fmla="*/ 2966203 h 3171710"/>
              <a:gd name="connsiteX97" fmla="*/ 7528691 w 12193149"/>
              <a:gd name="connsiteY97" fmla="*/ 2972031 h 3171710"/>
              <a:gd name="connsiteX98" fmla="*/ 7520719 w 12193149"/>
              <a:gd name="connsiteY98" fmla="*/ 2974584 h 3171710"/>
              <a:gd name="connsiteX99" fmla="*/ 7508559 w 12193149"/>
              <a:gd name="connsiteY99" fmla="*/ 2975919 h 3171710"/>
              <a:gd name="connsiteX100" fmla="*/ 7508188 w 12193149"/>
              <a:gd name="connsiteY100" fmla="*/ 2975592 h 3171710"/>
              <a:gd name="connsiteX101" fmla="*/ 7496943 w 12193149"/>
              <a:gd name="connsiteY101" fmla="*/ 2977544 h 3171710"/>
              <a:gd name="connsiteX102" fmla="*/ 7219707 w 12193149"/>
              <a:gd name="connsiteY102" fmla="*/ 2983651 h 3171710"/>
              <a:gd name="connsiteX103" fmla="*/ 7202249 w 12193149"/>
              <a:gd name="connsiteY103" fmla="*/ 2988201 h 3171710"/>
              <a:gd name="connsiteX104" fmla="*/ 7198152 w 12193149"/>
              <a:gd name="connsiteY104" fmla="*/ 2993559 h 3171710"/>
              <a:gd name="connsiteX105" fmla="*/ 7171956 w 12193149"/>
              <a:gd name="connsiteY105" fmla="*/ 2998207 h 3171710"/>
              <a:gd name="connsiteX106" fmla="*/ 7098136 w 12193149"/>
              <a:gd name="connsiteY106" fmla="*/ 3010435 h 3171710"/>
              <a:gd name="connsiteX107" fmla="*/ 7019644 w 12193149"/>
              <a:gd name="connsiteY107" fmla="*/ 3010061 h 3171710"/>
              <a:gd name="connsiteX108" fmla="*/ 6905294 w 12193149"/>
              <a:gd name="connsiteY108" fmla="*/ 3039567 h 3171710"/>
              <a:gd name="connsiteX109" fmla="*/ 6709370 w 12193149"/>
              <a:gd name="connsiteY109" fmla="*/ 3067522 h 3171710"/>
              <a:gd name="connsiteX110" fmla="*/ 6550602 w 12193149"/>
              <a:gd name="connsiteY110" fmla="*/ 3096298 h 3171710"/>
              <a:gd name="connsiteX111" fmla="*/ 6318708 w 12193149"/>
              <a:gd name="connsiteY111" fmla="*/ 3143098 h 3171710"/>
              <a:gd name="connsiteX112" fmla="*/ 6169822 w 12193149"/>
              <a:gd name="connsiteY112" fmla="*/ 3145185 h 3171710"/>
              <a:gd name="connsiteX113" fmla="*/ 6074996 w 12193149"/>
              <a:gd name="connsiteY113" fmla="*/ 3165647 h 3171710"/>
              <a:gd name="connsiteX114" fmla="*/ 6069677 w 12193149"/>
              <a:gd name="connsiteY114" fmla="*/ 3164110 h 3171710"/>
              <a:gd name="connsiteX115" fmla="*/ 6049786 w 12193149"/>
              <a:gd name="connsiteY115" fmla="*/ 3164793 h 3171710"/>
              <a:gd name="connsiteX116" fmla="*/ 6042433 w 12193149"/>
              <a:gd name="connsiteY116" fmla="*/ 3156444 h 3171710"/>
              <a:gd name="connsiteX117" fmla="*/ 6011238 w 12193149"/>
              <a:gd name="connsiteY117" fmla="*/ 3151351 h 3171710"/>
              <a:gd name="connsiteX118" fmla="*/ 5958523 w 12193149"/>
              <a:gd name="connsiteY118" fmla="*/ 3154995 h 3171710"/>
              <a:gd name="connsiteX119" fmla="*/ 5760067 w 12193149"/>
              <a:gd name="connsiteY119" fmla="*/ 3170687 h 3171710"/>
              <a:gd name="connsiteX120" fmla="*/ 5628108 w 12193149"/>
              <a:gd name="connsiteY120" fmla="*/ 3171710 h 3171710"/>
              <a:gd name="connsiteX121" fmla="*/ 5472054 w 12193149"/>
              <a:gd name="connsiteY121" fmla="*/ 3157690 h 3171710"/>
              <a:gd name="connsiteX122" fmla="*/ 5433909 w 12193149"/>
              <a:gd name="connsiteY122" fmla="*/ 3146437 h 3171710"/>
              <a:gd name="connsiteX123" fmla="*/ 5382817 w 12193149"/>
              <a:gd name="connsiteY123" fmla="*/ 3128735 h 3171710"/>
              <a:gd name="connsiteX124" fmla="*/ 5262912 w 12193149"/>
              <a:gd name="connsiteY124" fmla="*/ 3108318 h 3171710"/>
              <a:gd name="connsiteX125" fmla="*/ 5224109 w 12193149"/>
              <a:gd name="connsiteY125" fmla="*/ 3097194 h 3171710"/>
              <a:gd name="connsiteX126" fmla="*/ 5175808 w 12193149"/>
              <a:gd name="connsiteY126" fmla="*/ 3094204 h 3171710"/>
              <a:gd name="connsiteX127" fmla="*/ 5157702 w 12193149"/>
              <a:gd name="connsiteY127" fmla="*/ 3086981 h 3171710"/>
              <a:gd name="connsiteX128" fmla="*/ 5143747 w 12193149"/>
              <a:gd name="connsiteY128" fmla="*/ 3083581 h 3171710"/>
              <a:gd name="connsiteX129" fmla="*/ 5140744 w 12193149"/>
              <a:gd name="connsiteY129" fmla="*/ 3081480 h 3171710"/>
              <a:gd name="connsiteX130" fmla="*/ 5122807 w 12193149"/>
              <a:gd name="connsiteY130" fmla="*/ 3070627 h 3171710"/>
              <a:gd name="connsiteX131" fmla="*/ 5066938 w 12193149"/>
              <a:gd name="connsiteY131" fmla="*/ 3077198 h 3171710"/>
              <a:gd name="connsiteX132" fmla="*/ 5012662 w 12193149"/>
              <a:gd name="connsiteY132" fmla="*/ 3060817 h 3171710"/>
              <a:gd name="connsiteX133" fmla="*/ 4841589 w 12193149"/>
              <a:gd name="connsiteY133" fmla="*/ 3036800 h 3171710"/>
              <a:gd name="connsiteX134" fmla="*/ 4763595 w 12193149"/>
              <a:gd name="connsiteY134" fmla="*/ 3009032 h 3171710"/>
              <a:gd name="connsiteX135" fmla="*/ 4724334 w 12193149"/>
              <a:gd name="connsiteY135" fmla="*/ 3000018 h 3171710"/>
              <a:gd name="connsiteX136" fmla="*/ 4722324 w 12193149"/>
              <a:gd name="connsiteY136" fmla="*/ 2999269 h 3171710"/>
              <a:gd name="connsiteX137" fmla="*/ 4723259 w 12193149"/>
              <a:gd name="connsiteY137" fmla="*/ 2999058 h 3171710"/>
              <a:gd name="connsiteX138" fmla="*/ 4718350 w 12193149"/>
              <a:gd name="connsiteY138" fmla="*/ 2997788 h 3171710"/>
              <a:gd name="connsiteX139" fmla="*/ 4722324 w 12193149"/>
              <a:gd name="connsiteY139" fmla="*/ 2999269 h 3171710"/>
              <a:gd name="connsiteX140" fmla="*/ 4716674 w 12193149"/>
              <a:gd name="connsiteY140" fmla="*/ 3000544 h 3171710"/>
              <a:gd name="connsiteX141" fmla="*/ 4516962 w 12193149"/>
              <a:gd name="connsiteY141" fmla="*/ 2990642 h 3171710"/>
              <a:gd name="connsiteX142" fmla="*/ 4429691 w 12193149"/>
              <a:gd name="connsiteY142" fmla="*/ 2979991 h 3171710"/>
              <a:gd name="connsiteX143" fmla="*/ 4364023 w 12193149"/>
              <a:gd name="connsiteY143" fmla="*/ 2978645 h 3171710"/>
              <a:gd name="connsiteX144" fmla="*/ 4318114 w 12193149"/>
              <a:gd name="connsiteY144" fmla="*/ 2985260 h 3171710"/>
              <a:gd name="connsiteX145" fmla="*/ 4316258 w 12193149"/>
              <a:gd name="connsiteY145" fmla="*/ 2983919 h 3171710"/>
              <a:gd name="connsiteX146" fmla="*/ 4296292 w 12193149"/>
              <a:gd name="connsiteY146" fmla="*/ 2982040 h 3171710"/>
              <a:gd name="connsiteX147" fmla="*/ 4291212 w 12193149"/>
              <a:gd name="connsiteY147" fmla="*/ 2984957 h 3171710"/>
              <a:gd name="connsiteX148" fmla="*/ 4277290 w 12193149"/>
              <a:gd name="connsiteY148" fmla="*/ 2984711 h 3171710"/>
              <a:gd name="connsiteX149" fmla="*/ 4249265 w 12193149"/>
              <a:gd name="connsiteY149" fmla="*/ 2987035 h 3171710"/>
              <a:gd name="connsiteX150" fmla="*/ 4203199 w 12193149"/>
              <a:gd name="connsiteY150" fmla="*/ 2984240 h 3171710"/>
              <a:gd name="connsiteX151" fmla="*/ 4202893 w 12193149"/>
              <a:gd name="connsiteY151" fmla="*/ 2982981 h 3171710"/>
              <a:gd name="connsiteX152" fmla="*/ 4192396 w 12193149"/>
              <a:gd name="connsiteY152" fmla="*/ 2977347 h 3171710"/>
              <a:gd name="connsiteX153" fmla="*/ 4143893 w 12193149"/>
              <a:gd name="connsiteY153" fmla="*/ 2961482 h 3171710"/>
              <a:gd name="connsiteX154" fmla="*/ 4084245 w 12193149"/>
              <a:gd name="connsiteY154" fmla="*/ 2934949 h 3171710"/>
              <a:gd name="connsiteX155" fmla="*/ 4075694 w 12193149"/>
              <a:gd name="connsiteY155" fmla="*/ 2934114 h 3171710"/>
              <a:gd name="connsiteX156" fmla="*/ 4075575 w 12193149"/>
              <a:gd name="connsiteY156" fmla="*/ 2933815 h 3171710"/>
              <a:gd name="connsiteX157" fmla="*/ 4066658 w 12193149"/>
              <a:gd name="connsiteY157" fmla="*/ 2932371 h 3171710"/>
              <a:gd name="connsiteX158" fmla="*/ 4060102 w 12193149"/>
              <a:gd name="connsiteY158" fmla="*/ 2932589 h 3171710"/>
              <a:gd name="connsiteX159" fmla="*/ 4043512 w 12193149"/>
              <a:gd name="connsiteY159" fmla="*/ 2930968 h 3171710"/>
              <a:gd name="connsiteX160" fmla="*/ 4038145 w 12193149"/>
              <a:gd name="connsiteY160" fmla="*/ 2928534 h 3171710"/>
              <a:gd name="connsiteX161" fmla="*/ 4036511 w 12193149"/>
              <a:gd name="connsiteY161" fmla="*/ 2924867 h 3171710"/>
              <a:gd name="connsiteX162" fmla="*/ 4034926 w 12193149"/>
              <a:gd name="connsiteY162" fmla="*/ 2925102 h 3171710"/>
              <a:gd name="connsiteX163" fmla="*/ 4005686 w 12193149"/>
              <a:gd name="connsiteY163" fmla="*/ 2912534 h 3171710"/>
              <a:gd name="connsiteX164" fmla="*/ 3937994 w 12193149"/>
              <a:gd name="connsiteY164" fmla="*/ 2895077 h 3171710"/>
              <a:gd name="connsiteX165" fmla="*/ 3898423 w 12193149"/>
              <a:gd name="connsiteY165" fmla="*/ 2889422 h 3171710"/>
              <a:gd name="connsiteX166" fmla="*/ 3790908 w 12193149"/>
              <a:gd name="connsiteY166" fmla="*/ 2869184 h 3171710"/>
              <a:gd name="connsiteX167" fmla="*/ 3683661 w 12193149"/>
              <a:gd name="connsiteY167" fmla="*/ 2845261 h 3171710"/>
              <a:gd name="connsiteX168" fmla="*/ 3611183 w 12193149"/>
              <a:gd name="connsiteY168" fmla="*/ 2812990 h 3171710"/>
              <a:gd name="connsiteX169" fmla="*/ 3605003 w 12193149"/>
              <a:gd name="connsiteY169" fmla="*/ 2814352 h 3171710"/>
              <a:gd name="connsiteX170" fmla="*/ 3595884 w 12193149"/>
              <a:gd name="connsiteY170" fmla="*/ 2814516 h 3171710"/>
              <a:gd name="connsiteX171" fmla="*/ 3595649 w 12193149"/>
              <a:gd name="connsiteY171" fmla="*/ 2814247 h 3171710"/>
              <a:gd name="connsiteX172" fmla="*/ 3587126 w 12193149"/>
              <a:gd name="connsiteY172" fmla="*/ 2814937 h 3171710"/>
              <a:gd name="connsiteX173" fmla="*/ 3537283 w 12193149"/>
              <a:gd name="connsiteY173" fmla="*/ 2805238 h 3171710"/>
              <a:gd name="connsiteX174" fmla="*/ 3474371 w 12193149"/>
              <a:gd name="connsiteY174" fmla="*/ 2801577 h 3171710"/>
              <a:gd name="connsiteX175" fmla="*/ 3401876 w 12193149"/>
              <a:gd name="connsiteY175" fmla="*/ 2789529 h 3171710"/>
              <a:gd name="connsiteX176" fmla="*/ 3365036 w 12193149"/>
              <a:gd name="connsiteY176" fmla="*/ 2806481 h 3171710"/>
              <a:gd name="connsiteX177" fmla="*/ 3345174 w 12193149"/>
              <a:gd name="connsiteY177" fmla="*/ 2808163 h 3171710"/>
              <a:gd name="connsiteX178" fmla="*/ 3342846 w 12193149"/>
              <a:gd name="connsiteY178" fmla="*/ 2807188 h 3171710"/>
              <a:gd name="connsiteX179" fmla="*/ 3263504 w 12193149"/>
              <a:gd name="connsiteY179" fmla="*/ 2813065 h 3171710"/>
              <a:gd name="connsiteX180" fmla="*/ 3143704 w 12193149"/>
              <a:gd name="connsiteY180" fmla="*/ 2820840 h 3171710"/>
              <a:gd name="connsiteX181" fmla="*/ 3031439 w 12193149"/>
              <a:gd name="connsiteY181" fmla="*/ 2823483 h 3171710"/>
              <a:gd name="connsiteX182" fmla="*/ 2782717 w 12193149"/>
              <a:gd name="connsiteY182" fmla="*/ 2845304 h 3171710"/>
              <a:gd name="connsiteX183" fmla="*/ 2647675 w 12193149"/>
              <a:gd name="connsiteY183" fmla="*/ 2855840 h 3171710"/>
              <a:gd name="connsiteX184" fmla="*/ 2569176 w 12193149"/>
              <a:gd name="connsiteY184" fmla="*/ 2829599 h 3171710"/>
              <a:gd name="connsiteX185" fmla="*/ 2444403 w 12193149"/>
              <a:gd name="connsiteY185" fmla="*/ 2843500 h 3171710"/>
              <a:gd name="connsiteX186" fmla="*/ 2316260 w 12193149"/>
              <a:gd name="connsiteY186" fmla="*/ 2851967 h 3171710"/>
              <a:gd name="connsiteX187" fmla="*/ 2209726 w 12193149"/>
              <a:gd name="connsiteY187" fmla="*/ 2846734 h 3171710"/>
              <a:gd name="connsiteX188" fmla="*/ 2095813 w 12193149"/>
              <a:gd name="connsiteY188" fmla="*/ 2830023 h 3171710"/>
              <a:gd name="connsiteX189" fmla="*/ 1998504 w 12193149"/>
              <a:gd name="connsiteY189" fmla="*/ 2822003 h 3171710"/>
              <a:gd name="connsiteX190" fmla="*/ 1929320 w 12193149"/>
              <a:gd name="connsiteY190" fmla="*/ 2843948 h 3171710"/>
              <a:gd name="connsiteX191" fmla="*/ 1922798 w 12193149"/>
              <a:gd name="connsiteY191" fmla="*/ 2839117 h 3171710"/>
              <a:gd name="connsiteX192" fmla="*/ 1874228 w 12193149"/>
              <a:gd name="connsiteY192" fmla="*/ 2840712 h 3171710"/>
              <a:gd name="connsiteX193" fmla="*/ 1787803 w 12193149"/>
              <a:gd name="connsiteY193" fmla="*/ 2868334 h 3171710"/>
              <a:gd name="connsiteX194" fmla="*/ 1739352 w 12193149"/>
              <a:gd name="connsiteY194" fmla="*/ 2863283 h 3171710"/>
              <a:gd name="connsiteX195" fmla="*/ 1676219 w 12193149"/>
              <a:gd name="connsiteY195" fmla="*/ 2846934 h 3171710"/>
              <a:gd name="connsiteX196" fmla="*/ 1609817 w 12193149"/>
              <a:gd name="connsiteY196" fmla="*/ 2840037 h 3171710"/>
              <a:gd name="connsiteX197" fmla="*/ 1497258 w 12193149"/>
              <a:gd name="connsiteY197" fmla="*/ 2814447 h 3171710"/>
              <a:gd name="connsiteX198" fmla="*/ 1151127 w 12193149"/>
              <a:gd name="connsiteY198" fmla="*/ 2765012 h 3171710"/>
              <a:gd name="connsiteX199" fmla="*/ 859417 w 12193149"/>
              <a:gd name="connsiteY199" fmla="*/ 2755579 h 3171710"/>
              <a:gd name="connsiteX200" fmla="*/ 838688 w 12193149"/>
              <a:gd name="connsiteY200" fmla="*/ 2756792 h 3171710"/>
              <a:gd name="connsiteX201" fmla="*/ 817957 w 12193149"/>
              <a:gd name="connsiteY201" fmla="*/ 2754828 h 3171710"/>
              <a:gd name="connsiteX202" fmla="*/ 812654 w 12193149"/>
              <a:gd name="connsiteY202" fmla="*/ 2757722 h 3171710"/>
              <a:gd name="connsiteX203" fmla="*/ 721195 w 12193149"/>
              <a:gd name="connsiteY203" fmla="*/ 2756632 h 3171710"/>
              <a:gd name="connsiteX204" fmla="*/ 720890 w 12193149"/>
              <a:gd name="connsiteY204" fmla="*/ 2755370 h 3171710"/>
              <a:gd name="connsiteX205" fmla="*/ 710023 w 12193149"/>
              <a:gd name="connsiteY205" fmla="*/ 2749693 h 3171710"/>
              <a:gd name="connsiteX206" fmla="*/ 597940 w 12193149"/>
              <a:gd name="connsiteY206" fmla="*/ 2706835 h 3171710"/>
              <a:gd name="connsiteX207" fmla="*/ 579683 w 12193149"/>
              <a:gd name="connsiteY207" fmla="*/ 2704183 h 3171710"/>
              <a:gd name="connsiteX208" fmla="*/ 572865 w 12193149"/>
              <a:gd name="connsiteY208" fmla="*/ 2704372 h 3171710"/>
              <a:gd name="connsiteX209" fmla="*/ 446247 w 12193149"/>
              <a:gd name="connsiteY209" fmla="*/ 2666342 h 3171710"/>
              <a:gd name="connsiteX210" fmla="*/ 405163 w 12193149"/>
              <a:gd name="connsiteY210" fmla="*/ 2660519 h 3171710"/>
              <a:gd name="connsiteX211" fmla="*/ 293583 w 12193149"/>
              <a:gd name="connsiteY211" fmla="*/ 2639823 h 3171710"/>
              <a:gd name="connsiteX212" fmla="*/ 119529 w 12193149"/>
              <a:gd name="connsiteY212" fmla="*/ 2588018 h 3171710"/>
              <a:gd name="connsiteX213" fmla="*/ 16674 w 12193149"/>
              <a:gd name="connsiteY213" fmla="*/ 2585162 h 3171710"/>
              <a:gd name="connsiteX214" fmla="*/ 1150 w 12193149"/>
              <a:gd name="connsiteY214" fmla="*/ 2579693 h 3171710"/>
              <a:gd name="connsiteX215" fmla="*/ 1148 w 12193149"/>
              <a:gd name="connsiteY215" fmla="*/ 1049184 h 3171710"/>
              <a:gd name="connsiteX216" fmla="*/ 1148 w 12193149"/>
              <a:gd name="connsiteY216" fmla="*/ 0 h 317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317171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Box 8">
            <a:extLst>
              <a:ext uri="{FF2B5EF4-FFF2-40B4-BE49-F238E27FC236}">
                <a16:creationId xmlns:a16="http://schemas.microsoft.com/office/drawing/2014/main" id="{4D218A37-69EF-C00E-CEAF-B6B6005D4E55}"/>
              </a:ext>
            </a:extLst>
          </p:cNvPr>
          <p:cNvSpPr txBox="1"/>
          <p:nvPr/>
        </p:nvSpPr>
        <p:spPr>
          <a:xfrm>
            <a:off x="740228" y="2200059"/>
            <a:ext cx="7875037" cy="3685156"/>
          </a:xfrm>
          <a:prstGeom prst="rect">
            <a:avLst/>
          </a:prstGeom>
        </p:spPr>
        <p:txBody>
          <a:bodyPr vert="horz" lIns="91440" tIns="45720" rIns="91440" bIns="45720" rtlCol="0" anchor="ctr">
            <a:noAutofit/>
          </a:bodyPr>
          <a:lstStyle/>
          <a:p>
            <a:pPr defTabSz="914400">
              <a:lnSpc>
                <a:spcPct val="90000"/>
              </a:lnSpc>
              <a:spcAft>
                <a:spcPts val="600"/>
              </a:spcAft>
            </a:pPr>
            <a:r>
              <a:rPr lang="en-US" sz="2400" b="1" dirty="0">
                <a:solidFill>
                  <a:schemeClr val="tx1">
                    <a:lumMod val="85000"/>
                    <a:lumOff val="15000"/>
                  </a:schemeClr>
                </a:solidFill>
              </a:rPr>
              <a:t>How to Create a Dictionary</a:t>
            </a:r>
          </a:p>
          <a:p>
            <a:pPr defTabSz="914400">
              <a:lnSpc>
                <a:spcPct val="90000"/>
              </a:lnSpc>
              <a:spcAft>
                <a:spcPts val="600"/>
              </a:spcAft>
            </a:pPr>
            <a:endParaRPr lang="en-US" sz="2400" b="1" dirty="0">
              <a:solidFill>
                <a:schemeClr val="tx1">
                  <a:lumMod val="85000"/>
                  <a:lumOff val="15000"/>
                </a:schemeClr>
              </a:solidFill>
            </a:endParaRPr>
          </a:p>
          <a:p>
            <a:pPr defTabSz="914400">
              <a:lnSpc>
                <a:spcPct val="90000"/>
              </a:lnSpc>
              <a:spcAft>
                <a:spcPts val="600"/>
              </a:spcAft>
            </a:pPr>
            <a:r>
              <a:rPr lang="en-US" sz="2400" dirty="0">
                <a:solidFill>
                  <a:schemeClr val="tx1">
                    <a:lumMod val="85000"/>
                    <a:lumOff val="15000"/>
                  </a:schemeClr>
                </a:solidFill>
              </a:rPr>
              <a:t>Dictionary can be created by placing a sequence of elements within curly </a:t>
            </a:r>
            <a:r>
              <a:rPr lang="en-US" sz="2400" dirty="0">
                <a:solidFill>
                  <a:schemeClr val="tx1">
                    <a:lumMod val="85000"/>
                    <a:lumOff val="15000"/>
                  </a:schemeClr>
                </a:solidFill>
                <a:highlight>
                  <a:srgbClr val="FFFF00"/>
                </a:highlight>
              </a:rPr>
              <a:t>{}</a:t>
            </a:r>
            <a:r>
              <a:rPr lang="en-US" sz="2400" dirty="0">
                <a:solidFill>
                  <a:schemeClr val="tx1">
                    <a:lumMod val="85000"/>
                    <a:lumOff val="15000"/>
                  </a:schemeClr>
                </a:solidFill>
              </a:rPr>
              <a:t> braces, separated by a 'comma'.</a:t>
            </a:r>
          </a:p>
          <a:p>
            <a:pPr defTabSz="914400">
              <a:lnSpc>
                <a:spcPct val="90000"/>
              </a:lnSpc>
              <a:spcAft>
                <a:spcPts val="600"/>
              </a:spcAft>
            </a:pPr>
            <a:r>
              <a:rPr lang="en-US" sz="2400" dirty="0">
                <a:solidFill>
                  <a:schemeClr val="tx1">
                    <a:lumMod val="85000"/>
                    <a:lumOff val="15000"/>
                  </a:schemeClr>
                </a:solidFill>
                <a:highlight>
                  <a:srgbClr val="00FF00"/>
                </a:highlight>
              </a:rPr>
              <a:t>d1 = {1: 'Programming', 2: 'For', 3: '</a:t>
            </a:r>
            <a:r>
              <a:rPr lang="en-US" sz="2400" dirty="0" err="1">
                <a:solidFill>
                  <a:schemeClr val="tx1">
                    <a:lumMod val="85000"/>
                    <a:lumOff val="15000"/>
                  </a:schemeClr>
                </a:solidFill>
                <a:highlight>
                  <a:srgbClr val="00FF00"/>
                </a:highlight>
              </a:rPr>
              <a:t>DataAnalytics</a:t>
            </a:r>
            <a:r>
              <a:rPr lang="en-US" sz="2400" dirty="0">
                <a:solidFill>
                  <a:schemeClr val="tx1">
                    <a:lumMod val="85000"/>
                    <a:lumOff val="15000"/>
                  </a:schemeClr>
                </a:solidFill>
                <a:highlight>
                  <a:srgbClr val="00FF00"/>
                </a:highlight>
              </a:rPr>
              <a:t>'}</a:t>
            </a:r>
          </a:p>
          <a:p>
            <a:pPr defTabSz="914400">
              <a:lnSpc>
                <a:spcPct val="90000"/>
              </a:lnSpc>
              <a:spcAft>
                <a:spcPts val="600"/>
              </a:spcAft>
            </a:pPr>
            <a:r>
              <a:rPr lang="en-US" sz="2400" dirty="0">
                <a:solidFill>
                  <a:schemeClr val="tx1">
                    <a:lumMod val="85000"/>
                    <a:lumOff val="15000"/>
                  </a:schemeClr>
                </a:solidFill>
                <a:highlight>
                  <a:srgbClr val="00FF00"/>
                </a:highlight>
              </a:rPr>
              <a:t>print(d1)</a:t>
            </a:r>
          </a:p>
          <a:p>
            <a:pPr defTabSz="914400">
              <a:lnSpc>
                <a:spcPct val="90000"/>
              </a:lnSpc>
              <a:spcAft>
                <a:spcPts val="600"/>
              </a:spcAft>
            </a:pPr>
            <a:r>
              <a:rPr lang="en-US" sz="2400" dirty="0">
                <a:solidFill>
                  <a:schemeClr val="tx1">
                    <a:lumMod val="85000"/>
                    <a:lumOff val="15000"/>
                  </a:schemeClr>
                </a:solidFill>
              </a:rPr>
              <a:t>​</a:t>
            </a:r>
          </a:p>
          <a:p>
            <a:pPr defTabSz="914400">
              <a:lnSpc>
                <a:spcPct val="90000"/>
              </a:lnSpc>
              <a:spcAft>
                <a:spcPts val="600"/>
              </a:spcAft>
            </a:pPr>
            <a:r>
              <a:rPr lang="en-US" sz="2400" b="1" dirty="0">
                <a:solidFill>
                  <a:schemeClr val="tx1">
                    <a:lumMod val="85000"/>
                    <a:lumOff val="15000"/>
                  </a:schemeClr>
                </a:solidFill>
              </a:rPr>
              <a:t># create dictionary using </a:t>
            </a:r>
            <a:r>
              <a:rPr lang="en-US" sz="2400" b="1" dirty="0" err="1">
                <a:solidFill>
                  <a:schemeClr val="tx1">
                    <a:lumMod val="85000"/>
                    <a:lumOff val="15000"/>
                  </a:schemeClr>
                </a:solidFill>
                <a:highlight>
                  <a:srgbClr val="FFFF00"/>
                </a:highlight>
              </a:rPr>
              <a:t>dict</a:t>
            </a:r>
            <a:r>
              <a:rPr lang="en-US" sz="2400" b="1" dirty="0">
                <a:solidFill>
                  <a:schemeClr val="tx1">
                    <a:lumMod val="85000"/>
                    <a:lumOff val="15000"/>
                  </a:schemeClr>
                </a:solidFill>
                <a:highlight>
                  <a:srgbClr val="FFFF00"/>
                </a:highlight>
              </a:rPr>
              <a:t>() </a:t>
            </a:r>
            <a:r>
              <a:rPr lang="en-US" sz="2400" b="1" dirty="0">
                <a:solidFill>
                  <a:schemeClr val="tx1">
                    <a:lumMod val="85000"/>
                    <a:lumOff val="15000"/>
                  </a:schemeClr>
                </a:solidFill>
              </a:rPr>
              <a:t>constructor</a:t>
            </a:r>
          </a:p>
          <a:p>
            <a:pPr defTabSz="914400">
              <a:lnSpc>
                <a:spcPct val="90000"/>
              </a:lnSpc>
              <a:spcAft>
                <a:spcPts val="600"/>
              </a:spcAft>
            </a:pPr>
            <a:r>
              <a:rPr lang="en-US" sz="2400" dirty="0">
                <a:solidFill>
                  <a:schemeClr val="tx1">
                    <a:lumMod val="85000"/>
                    <a:lumOff val="15000"/>
                  </a:schemeClr>
                </a:solidFill>
              </a:rPr>
              <a:t>d2 = </a:t>
            </a:r>
            <a:r>
              <a:rPr lang="en-US" sz="2400" dirty="0" err="1">
                <a:solidFill>
                  <a:schemeClr val="tx1">
                    <a:lumMod val="85000"/>
                    <a:lumOff val="15000"/>
                  </a:schemeClr>
                </a:solidFill>
              </a:rPr>
              <a:t>dict</a:t>
            </a:r>
            <a:r>
              <a:rPr lang="en-US" sz="2400" dirty="0">
                <a:solidFill>
                  <a:schemeClr val="tx1">
                    <a:lumMod val="85000"/>
                    <a:lumOff val="15000"/>
                  </a:schemeClr>
                </a:solidFill>
              </a:rPr>
              <a:t>(a = " Programming ", b = " ‘for ", c = “Students")</a:t>
            </a:r>
          </a:p>
          <a:p>
            <a:pPr defTabSz="914400">
              <a:lnSpc>
                <a:spcPct val="90000"/>
              </a:lnSpc>
              <a:spcAft>
                <a:spcPts val="600"/>
              </a:spcAft>
            </a:pPr>
            <a:r>
              <a:rPr lang="en-US" sz="2400" dirty="0">
                <a:solidFill>
                  <a:schemeClr val="tx1">
                    <a:lumMod val="85000"/>
                    <a:lumOff val="15000"/>
                  </a:schemeClr>
                </a:solidFill>
              </a:rPr>
              <a:t>print(d2)</a:t>
            </a:r>
          </a:p>
          <a:p>
            <a:pPr defTabSz="914400">
              <a:lnSpc>
                <a:spcPct val="90000"/>
              </a:lnSpc>
              <a:spcAft>
                <a:spcPts val="600"/>
              </a:spcAft>
            </a:pPr>
            <a:r>
              <a:rPr lang="en-US" sz="2400" b="1" dirty="0">
                <a:solidFill>
                  <a:schemeClr val="tx1">
                    <a:lumMod val="85000"/>
                    <a:lumOff val="15000"/>
                  </a:schemeClr>
                </a:solidFill>
              </a:rPr>
              <a:t>Output</a:t>
            </a:r>
          </a:p>
          <a:p>
            <a:pPr defTabSz="914400">
              <a:lnSpc>
                <a:spcPct val="90000"/>
              </a:lnSpc>
              <a:spcAft>
                <a:spcPts val="600"/>
              </a:spcAft>
            </a:pPr>
            <a:r>
              <a:rPr lang="en-US" sz="2400" dirty="0">
                <a:solidFill>
                  <a:schemeClr val="tx1">
                    <a:lumMod val="85000"/>
                    <a:lumOff val="15000"/>
                  </a:schemeClr>
                </a:solidFill>
              </a:rPr>
              <a:t>{1: Programming ', 2: 'For', 3: </a:t>
            </a:r>
            <a:r>
              <a:rPr lang="en-US" sz="2400" dirty="0" err="1">
                <a:solidFill>
                  <a:schemeClr val="tx1">
                    <a:lumMod val="85000"/>
                    <a:lumOff val="15000"/>
                  </a:schemeClr>
                </a:solidFill>
              </a:rPr>
              <a:t>DataAnalytics</a:t>
            </a:r>
            <a:r>
              <a:rPr lang="en-US" sz="2400" dirty="0">
                <a:solidFill>
                  <a:schemeClr val="tx1">
                    <a:lumMod val="85000"/>
                    <a:lumOff val="15000"/>
                  </a:schemeClr>
                </a:solidFill>
              </a:rPr>
              <a:t> '}</a:t>
            </a:r>
          </a:p>
          <a:p>
            <a:pPr defTabSz="914400">
              <a:lnSpc>
                <a:spcPct val="90000"/>
              </a:lnSpc>
              <a:spcAft>
                <a:spcPts val="600"/>
              </a:spcAft>
            </a:pPr>
            <a:r>
              <a:rPr lang="en-US" sz="2400" dirty="0">
                <a:solidFill>
                  <a:schemeClr val="tx1">
                    <a:lumMod val="85000"/>
                    <a:lumOff val="15000"/>
                  </a:schemeClr>
                </a:solidFill>
              </a:rPr>
              <a:t>{'a': Programming ', 'b': ‘for ', 'c': ‘Students'}</a:t>
            </a:r>
          </a:p>
        </p:txBody>
      </p:sp>
    </p:spTree>
    <p:extLst>
      <p:ext uri="{BB962C8B-B14F-4D97-AF65-F5344CB8AC3E}">
        <p14:creationId xmlns:p14="http://schemas.microsoft.com/office/powerpoint/2010/main" val="53260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DEB9DB6-6920-25D9-8D60-60873A4F4F21}"/>
              </a:ext>
            </a:extLst>
          </p:cNvPr>
          <p:cNvSpPr>
            <a:spLocks noGrp="1"/>
          </p:cNvSpPr>
          <p:nvPr>
            <p:ph sz="half" idx="2"/>
          </p:nvPr>
        </p:nvSpPr>
        <p:spPr>
          <a:xfrm>
            <a:off x="295470" y="373225"/>
            <a:ext cx="3971730" cy="6149716"/>
          </a:xfrm>
          <a:solidFill>
            <a:schemeClr val="accent1">
              <a:lumMod val="20000"/>
              <a:lumOff val="80000"/>
            </a:schemeClr>
          </a:solidFill>
        </p:spPr>
        <p:txBody>
          <a:bodyPr>
            <a:normAutofit fontScale="77500" lnSpcReduction="20000"/>
          </a:bodyPr>
          <a:lstStyle/>
          <a:p>
            <a:pPr marL="0" indent="0">
              <a:buNone/>
            </a:pPr>
            <a:r>
              <a:rPr lang="en-US" sz="3400" b="1" dirty="0"/>
              <a:t>Accessing Dictionary Items</a:t>
            </a:r>
          </a:p>
          <a:p>
            <a:pPr marL="0" indent="0">
              <a:buNone/>
            </a:pPr>
            <a:endParaRPr lang="en-US" dirty="0"/>
          </a:p>
          <a:p>
            <a:pPr marL="0" indent="0">
              <a:buNone/>
            </a:pPr>
            <a:r>
              <a:rPr lang="en-US" sz="2600" dirty="0"/>
              <a:t>We can access a value from a dictionary by using the key within square brackets or get() method.</a:t>
            </a:r>
          </a:p>
          <a:p>
            <a:pPr marL="0" indent="0">
              <a:buNone/>
            </a:pPr>
            <a:endParaRPr lang="en-US" sz="2600" dirty="0"/>
          </a:p>
          <a:p>
            <a:pPr marL="0" indent="0">
              <a:buNone/>
            </a:pPr>
            <a:r>
              <a:rPr lang="en-US" sz="2600" dirty="0"/>
              <a:t>d = { "name": “Amazon", </a:t>
            </a:r>
          </a:p>
          <a:p>
            <a:pPr marL="0" indent="0">
              <a:buNone/>
            </a:pPr>
            <a:r>
              <a:rPr lang="en-US" sz="2600" dirty="0"/>
              <a:t>	1: "Python", </a:t>
            </a:r>
          </a:p>
          <a:p>
            <a:pPr marL="0" indent="0">
              <a:buNone/>
            </a:pPr>
            <a:r>
              <a:rPr lang="en-US" sz="2600" dirty="0"/>
              <a:t>	(1, 2): [1,2,4] </a:t>
            </a:r>
          </a:p>
          <a:p>
            <a:pPr marL="0" indent="0">
              <a:buNone/>
            </a:pPr>
            <a:r>
              <a:rPr lang="en-US" sz="2600" dirty="0"/>
              <a:t>	}</a:t>
            </a:r>
          </a:p>
          <a:p>
            <a:pPr marL="0" indent="0">
              <a:buNone/>
            </a:pPr>
            <a:r>
              <a:rPr lang="en-US" sz="2600" dirty="0"/>
              <a:t>​</a:t>
            </a:r>
          </a:p>
          <a:p>
            <a:pPr marL="0" indent="0">
              <a:buNone/>
            </a:pPr>
            <a:r>
              <a:rPr lang="en-US" sz="2600" dirty="0"/>
              <a:t># Access using key</a:t>
            </a:r>
          </a:p>
          <a:p>
            <a:pPr marL="0" indent="0">
              <a:buNone/>
            </a:pPr>
            <a:r>
              <a:rPr lang="en-US" sz="2600" dirty="0"/>
              <a:t>print(d["name"])</a:t>
            </a:r>
          </a:p>
          <a:p>
            <a:pPr marL="0" indent="0">
              <a:buNone/>
            </a:pPr>
            <a:r>
              <a:rPr lang="en-US" sz="2600" dirty="0"/>
              <a:t>​</a:t>
            </a:r>
          </a:p>
          <a:p>
            <a:pPr marL="0" indent="0">
              <a:buNone/>
            </a:pPr>
            <a:r>
              <a:rPr lang="en-US" sz="2600" dirty="0"/>
              <a:t># Access using get()</a:t>
            </a:r>
          </a:p>
          <a:p>
            <a:pPr marL="0" indent="0">
              <a:buNone/>
            </a:pPr>
            <a:r>
              <a:rPr lang="en-US" sz="2600" dirty="0"/>
              <a:t>print(</a:t>
            </a:r>
            <a:r>
              <a:rPr lang="en-US" sz="2600" dirty="0" err="1"/>
              <a:t>d.get</a:t>
            </a:r>
            <a:r>
              <a:rPr lang="en-US" sz="2600" dirty="0"/>
              <a:t>("name"))</a:t>
            </a:r>
          </a:p>
          <a:p>
            <a:pPr marL="0" indent="0">
              <a:buNone/>
            </a:pPr>
            <a:endParaRPr lang="en-US" sz="2600" dirty="0"/>
          </a:p>
          <a:p>
            <a:pPr marL="0" indent="0">
              <a:buNone/>
            </a:pPr>
            <a:r>
              <a:rPr lang="en-US" sz="2600" b="1" dirty="0"/>
              <a:t>Output</a:t>
            </a:r>
          </a:p>
          <a:p>
            <a:pPr marL="0" indent="0">
              <a:buNone/>
            </a:pPr>
            <a:r>
              <a:rPr lang="en-US" sz="2600" dirty="0"/>
              <a:t>Amazon</a:t>
            </a:r>
          </a:p>
          <a:p>
            <a:pPr marL="0" indent="0">
              <a:buNone/>
            </a:pPr>
            <a:r>
              <a:rPr lang="en-US" sz="2600" dirty="0"/>
              <a:t>Amazon</a:t>
            </a:r>
            <a:endParaRPr lang="en-GB" sz="2600" dirty="0"/>
          </a:p>
          <a:p>
            <a:pPr marL="0" indent="0">
              <a:buNone/>
            </a:pPr>
            <a:endParaRPr lang="en-GB" dirty="0"/>
          </a:p>
        </p:txBody>
      </p:sp>
      <p:sp>
        <p:nvSpPr>
          <p:cNvPr id="9" name="Content Placeholder 8">
            <a:extLst>
              <a:ext uri="{FF2B5EF4-FFF2-40B4-BE49-F238E27FC236}">
                <a16:creationId xmlns:a16="http://schemas.microsoft.com/office/drawing/2014/main" id="{9D3F49E2-23A2-797B-6176-FED81029041F}"/>
              </a:ext>
            </a:extLst>
          </p:cNvPr>
          <p:cNvSpPr>
            <a:spLocks noGrp="1"/>
          </p:cNvSpPr>
          <p:nvPr>
            <p:ph sz="quarter" idx="4"/>
          </p:nvPr>
        </p:nvSpPr>
        <p:spPr>
          <a:xfrm>
            <a:off x="4335658" y="373226"/>
            <a:ext cx="4752357" cy="6149714"/>
          </a:xfrm>
          <a:solidFill>
            <a:schemeClr val="bg1">
              <a:lumMod val="95000"/>
            </a:schemeClr>
          </a:solidFill>
        </p:spPr>
        <p:txBody>
          <a:bodyPr>
            <a:noAutofit/>
          </a:bodyPr>
          <a:lstStyle/>
          <a:p>
            <a:pPr marL="0" indent="0">
              <a:buNone/>
            </a:pPr>
            <a:r>
              <a:rPr lang="en-GB" b="1" dirty="0"/>
              <a:t>Adding and Updating Dictionary Items</a:t>
            </a:r>
          </a:p>
          <a:p>
            <a:pPr marL="0" indent="0">
              <a:buNone/>
            </a:pPr>
            <a:r>
              <a:rPr lang="en-GB" sz="2000" dirty="0"/>
              <a:t>We can add new key-value pairs or update existing keys by using assignment.</a:t>
            </a:r>
          </a:p>
          <a:p>
            <a:pPr marL="0" indent="0">
              <a:buNone/>
            </a:pPr>
            <a:endParaRPr lang="en-GB" sz="2000" dirty="0"/>
          </a:p>
          <a:p>
            <a:pPr marL="0" indent="0">
              <a:buNone/>
            </a:pPr>
            <a:r>
              <a:rPr lang="en-GB" sz="2000" dirty="0"/>
              <a:t>d = {1: ‘we', 2: are', 3: ‘students'}</a:t>
            </a:r>
          </a:p>
          <a:p>
            <a:pPr marL="0" indent="0">
              <a:buNone/>
            </a:pPr>
            <a:r>
              <a:rPr lang="en-GB" sz="2000" dirty="0"/>
              <a:t>​</a:t>
            </a:r>
          </a:p>
          <a:p>
            <a:pPr marL="0" indent="0">
              <a:buNone/>
            </a:pPr>
            <a:r>
              <a:rPr lang="en-GB" sz="2000" dirty="0"/>
              <a:t># Adding a new key-value pair</a:t>
            </a:r>
          </a:p>
          <a:p>
            <a:pPr marL="0" indent="0">
              <a:buNone/>
            </a:pPr>
            <a:r>
              <a:rPr lang="en-GB" sz="2000" dirty="0"/>
              <a:t>d["age"] = 22</a:t>
            </a:r>
          </a:p>
          <a:p>
            <a:pPr marL="0" indent="0">
              <a:buNone/>
            </a:pPr>
            <a:r>
              <a:rPr lang="en-GB" sz="2000" dirty="0"/>
              <a:t># Updating an existing value</a:t>
            </a:r>
          </a:p>
          <a:p>
            <a:pPr marL="0" indent="0">
              <a:buNone/>
            </a:pPr>
            <a:r>
              <a:rPr lang="en-GB" sz="2000" dirty="0"/>
              <a:t>d[1] = "Python"</a:t>
            </a:r>
          </a:p>
          <a:p>
            <a:pPr marL="0" indent="0">
              <a:buNone/>
            </a:pPr>
            <a:r>
              <a:rPr lang="en-GB" sz="2000" dirty="0"/>
              <a:t>print(d)</a:t>
            </a:r>
          </a:p>
          <a:p>
            <a:pPr marL="0" indent="0">
              <a:buNone/>
            </a:pPr>
            <a:endParaRPr lang="en-GB" sz="2000" dirty="0"/>
          </a:p>
          <a:p>
            <a:pPr marL="0" indent="0">
              <a:buNone/>
            </a:pPr>
            <a:r>
              <a:rPr lang="en-GB" sz="2000" b="1" dirty="0"/>
              <a:t>Output</a:t>
            </a:r>
          </a:p>
          <a:p>
            <a:pPr marL="0" indent="0">
              <a:buNone/>
            </a:pPr>
            <a:r>
              <a:rPr lang="en-GB" sz="2000" dirty="0"/>
              <a:t>{1: 'Python </a:t>
            </a:r>
            <a:r>
              <a:rPr lang="en-GB" sz="2000" dirty="0" err="1"/>
              <a:t>dict</a:t>
            </a:r>
            <a:r>
              <a:rPr lang="en-GB" sz="2000" dirty="0"/>
              <a:t>', 2: ' are', 3: ' students', 'age': 22}</a:t>
            </a:r>
          </a:p>
          <a:p>
            <a:pPr marL="0" indent="0">
              <a:buNone/>
            </a:pPr>
            <a:endParaRPr lang="en-GB" sz="2000" dirty="0"/>
          </a:p>
        </p:txBody>
      </p:sp>
    </p:spTree>
    <p:extLst>
      <p:ext uri="{BB962C8B-B14F-4D97-AF65-F5344CB8AC3E}">
        <p14:creationId xmlns:p14="http://schemas.microsoft.com/office/powerpoint/2010/main" val="1259140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4293"/>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3125451"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8FD61CA7-805A-CA4A-2AB2-B6B84F349FAB}"/>
              </a:ext>
            </a:extLst>
          </p:cNvPr>
          <p:cNvSpPr txBox="1"/>
          <p:nvPr/>
        </p:nvSpPr>
        <p:spPr>
          <a:xfrm>
            <a:off x="3335480" y="442054"/>
            <a:ext cx="5292225" cy="5585619"/>
          </a:xfrm>
          <a:prstGeom prst="rect">
            <a:avLst/>
          </a:prstGeom>
        </p:spPr>
        <p:txBody>
          <a:bodyPr vert="horz" lIns="91440" tIns="45720" rIns="91440" bIns="45720" rtlCol="0" anchor="ctr">
            <a:noAutofit/>
          </a:bodyPr>
          <a:lstStyle/>
          <a:p>
            <a:pPr defTabSz="914400">
              <a:lnSpc>
                <a:spcPct val="90000"/>
              </a:lnSpc>
              <a:spcAft>
                <a:spcPts val="600"/>
              </a:spcAft>
            </a:pPr>
            <a:r>
              <a:rPr lang="en-US" sz="2400" b="1" dirty="0"/>
              <a:t>Adding and Updating Dictionary Items</a:t>
            </a:r>
          </a:p>
          <a:p>
            <a:pPr defTabSz="914400">
              <a:lnSpc>
                <a:spcPct val="90000"/>
              </a:lnSpc>
              <a:spcAft>
                <a:spcPts val="600"/>
              </a:spcAft>
            </a:pPr>
            <a:endParaRPr lang="en-US" sz="2000" dirty="0"/>
          </a:p>
          <a:p>
            <a:pPr defTabSz="914400">
              <a:lnSpc>
                <a:spcPct val="90000"/>
              </a:lnSpc>
              <a:spcAft>
                <a:spcPts val="600"/>
              </a:spcAft>
            </a:pPr>
            <a:r>
              <a:rPr lang="en-US" sz="2000" dirty="0"/>
              <a:t>We can add new key-value pairs or update existing keys by using assignment.</a:t>
            </a:r>
          </a:p>
          <a:p>
            <a:pPr defTabSz="914400">
              <a:lnSpc>
                <a:spcPct val="90000"/>
              </a:lnSpc>
              <a:spcAft>
                <a:spcPts val="600"/>
              </a:spcAft>
            </a:pPr>
            <a:r>
              <a:rPr lang="en-US" sz="2000" dirty="0"/>
              <a:t>d = {1: ‘we', 2: are', 3: ‘students'}</a:t>
            </a:r>
          </a:p>
          <a:p>
            <a:pPr defTabSz="914400">
              <a:lnSpc>
                <a:spcPct val="90000"/>
              </a:lnSpc>
              <a:spcAft>
                <a:spcPts val="600"/>
              </a:spcAft>
            </a:pPr>
            <a:r>
              <a:rPr lang="en-US" sz="2000" dirty="0"/>
              <a:t>​</a:t>
            </a:r>
          </a:p>
          <a:p>
            <a:pPr defTabSz="914400">
              <a:lnSpc>
                <a:spcPct val="90000"/>
              </a:lnSpc>
              <a:spcAft>
                <a:spcPts val="600"/>
              </a:spcAft>
            </a:pPr>
            <a:r>
              <a:rPr lang="en-US" sz="2000" dirty="0"/>
              <a:t># Adding a new key-value pair</a:t>
            </a:r>
          </a:p>
          <a:p>
            <a:pPr defTabSz="914400">
              <a:lnSpc>
                <a:spcPct val="90000"/>
              </a:lnSpc>
              <a:spcAft>
                <a:spcPts val="600"/>
              </a:spcAft>
            </a:pPr>
            <a:r>
              <a:rPr lang="en-US" sz="2000" dirty="0"/>
              <a:t>d["age"] = 22</a:t>
            </a:r>
          </a:p>
          <a:p>
            <a:pPr defTabSz="914400">
              <a:lnSpc>
                <a:spcPct val="90000"/>
              </a:lnSpc>
              <a:spcAft>
                <a:spcPts val="600"/>
              </a:spcAft>
            </a:pPr>
            <a:r>
              <a:rPr lang="en-US" sz="2000" dirty="0"/>
              <a:t>​# Updating an existing value</a:t>
            </a:r>
          </a:p>
          <a:p>
            <a:pPr defTabSz="914400">
              <a:lnSpc>
                <a:spcPct val="90000"/>
              </a:lnSpc>
              <a:spcAft>
                <a:spcPts val="600"/>
              </a:spcAft>
            </a:pPr>
            <a:r>
              <a:rPr lang="en-US" sz="2000" dirty="0"/>
              <a:t>d[1] = "Python"</a:t>
            </a:r>
          </a:p>
          <a:p>
            <a:pPr defTabSz="914400">
              <a:lnSpc>
                <a:spcPct val="90000"/>
              </a:lnSpc>
              <a:spcAft>
                <a:spcPts val="600"/>
              </a:spcAft>
            </a:pPr>
            <a:r>
              <a:rPr lang="en-US" sz="2000" dirty="0"/>
              <a:t>​</a:t>
            </a:r>
          </a:p>
          <a:p>
            <a:pPr defTabSz="914400">
              <a:lnSpc>
                <a:spcPct val="90000"/>
              </a:lnSpc>
              <a:spcAft>
                <a:spcPts val="600"/>
              </a:spcAft>
            </a:pPr>
            <a:r>
              <a:rPr lang="en-US" sz="2000" dirty="0"/>
              <a:t>print(d)</a:t>
            </a:r>
          </a:p>
          <a:p>
            <a:pPr defTabSz="914400">
              <a:lnSpc>
                <a:spcPct val="90000"/>
              </a:lnSpc>
              <a:spcAft>
                <a:spcPts val="600"/>
              </a:spcAft>
            </a:pPr>
            <a:endParaRPr lang="en-US" sz="2000" dirty="0"/>
          </a:p>
          <a:p>
            <a:pPr defTabSz="914400">
              <a:lnSpc>
                <a:spcPct val="90000"/>
              </a:lnSpc>
              <a:spcAft>
                <a:spcPts val="600"/>
              </a:spcAft>
            </a:pPr>
            <a:r>
              <a:rPr lang="en-US" sz="2000" b="1" dirty="0"/>
              <a:t>Output</a:t>
            </a:r>
          </a:p>
          <a:p>
            <a:pPr defTabSz="914400">
              <a:lnSpc>
                <a:spcPct val="90000"/>
              </a:lnSpc>
              <a:spcAft>
                <a:spcPts val="600"/>
              </a:spcAft>
            </a:pPr>
            <a:r>
              <a:rPr lang="en-US" sz="2000" dirty="0"/>
              <a:t>{1: 'Python </a:t>
            </a:r>
            <a:r>
              <a:rPr lang="en-US" sz="2000" dirty="0" err="1"/>
              <a:t>dict</a:t>
            </a:r>
            <a:r>
              <a:rPr lang="en-US" sz="2000" dirty="0"/>
              <a:t>', 2: ' are', 3: ' students', 'age': 22}</a:t>
            </a:r>
          </a:p>
        </p:txBody>
      </p:sp>
    </p:spTree>
    <p:extLst>
      <p:ext uri="{BB962C8B-B14F-4D97-AF65-F5344CB8AC3E}">
        <p14:creationId xmlns:p14="http://schemas.microsoft.com/office/powerpoint/2010/main" val="1860688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6CC9A3B-66FF-7D9E-B421-05A1E0C29ADF}"/>
              </a:ext>
            </a:extLst>
          </p:cNvPr>
          <p:cNvSpPr txBox="1"/>
          <p:nvPr/>
        </p:nvSpPr>
        <p:spPr>
          <a:xfrm>
            <a:off x="335903" y="150094"/>
            <a:ext cx="4652865" cy="6555641"/>
          </a:xfrm>
          <a:prstGeom prst="rect">
            <a:avLst/>
          </a:prstGeom>
          <a:solidFill>
            <a:schemeClr val="bg2"/>
          </a:solidFill>
        </p:spPr>
        <p:txBody>
          <a:bodyPr wrap="square">
            <a:spAutoFit/>
          </a:bodyPr>
          <a:lstStyle/>
          <a:p>
            <a:r>
              <a:rPr lang="en-US" sz="2000" b="1" dirty="0"/>
              <a:t>Removing Dictionary Items</a:t>
            </a:r>
          </a:p>
          <a:p>
            <a:r>
              <a:rPr lang="en-US" sz="2000" dirty="0"/>
              <a:t>We can remove items from dictionary using the following methods:</a:t>
            </a:r>
          </a:p>
          <a:p>
            <a:endParaRPr lang="en-US" sz="2000" dirty="0"/>
          </a:p>
          <a:p>
            <a:r>
              <a:rPr lang="en-US" sz="2000" b="1" dirty="0"/>
              <a:t>del:</a:t>
            </a:r>
            <a:r>
              <a:rPr lang="en-US" sz="2000" dirty="0"/>
              <a:t> Removes an item by key.</a:t>
            </a:r>
          </a:p>
          <a:p>
            <a:r>
              <a:rPr lang="en-US" sz="2000" b="1" dirty="0"/>
              <a:t>pop():</a:t>
            </a:r>
            <a:r>
              <a:rPr lang="en-US" sz="2000" dirty="0"/>
              <a:t> Removes an item by key and returns its value.</a:t>
            </a:r>
          </a:p>
          <a:p>
            <a:r>
              <a:rPr lang="en-US" sz="2000" b="1" dirty="0"/>
              <a:t>clear():</a:t>
            </a:r>
            <a:r>
              <a:rPr lang="en-US" sz="2000" dirty="0"/>
              <a:t> Empties the dictionary.</a:t>
            </a:r>
          </a:p>
          <a:p>
            <a:r>
              <a:rPr lang="en-US" sz="2000" b="1" dirty="0" err="1"/>
              <a:t>popitem</a:t>
            </a:r>
            <a:r>
              <a:rPr lang="en-US" sz="2000" b="1" dirty="0"/>
              <a:t>():</a:t>
            </a:r>
            <a:r>
              <a:rPr lang="en-US" sz="2000" dirty="0"/>
              <a:t> Removes and returns the last key-value pair.</a:t>
            </a:r>
          </a:p>
          <a:p>
            <a:endParaRPr lang="en-US" sz="2000" dirty="0"/>
          </a:p>
          <a:p>
            <a:r>
              <a:rPr lang="en-US" sz="2000" dirty="0"/>
              <a:t>d = ​</a:t>
            </a:r>
            <a:r>
              <a:rPr lang="en-GB" sz="2000" dirty="0"/>
              <a:t>{1: 'Python </a:t>
            </a:r>
            <a:r>
              <a:rPr lang="en-GB" sz="2000" dirty="0" err="1"/>
              <a:t>dict</a:t>
            </a:r>
            <a:r>
              <a:rPr lang="en-GB" sz="2000" dirty="0"/>
              <a:t>', 2: ' are', 3: ' students', 'age': 22}</a:t>
            </a:r>
          </a:p>
          <a:p>
            <a:endParaRPr lang="en-US" sz="2000" dirty="0"/>
          </a:p>
          <a:p>
            <a:r>
              <a:rPr lang="en-US" sz="2000" b="1" dirty="0"/>
              <a:t># Using del to remove an item</a:t>
            </a:r>
          </a:p>
          <a:p>
            <a:r>
              <a:rPr lang="en-US" sz="2000" dirty="0"/>
              <a:t>del d["age"]</a:t>
            </a:r>
          </a:p>
          <a:p>
            <a:r>
              <a:rPr lang="en-US" sz="2000" dirty="0"/>
              <a:t>print(d)</a:t>
            </a:r>
          </a:p>
          <a:p>
            <a:r>
              <a:rPr lang="en-US" sz="2000" dirty="0"/>
              <a:t>​</a:t>
            </a:r>
            <a:r>
              <a:rPr lang="en-US" sz="2000" b="1" dirty="0"/>
              <a:t># Using pop() to remove an item and </a:t>
            </a:r>
          </a:p>
          <a:p>
            <a:r>
              <a:rPr lang="en-US" sz="2000" b="1" dirty="0"/>
              <a:t># return the value</a:t>
            </a:r>
          </a:p>
          <a:p>
            <a:r>
              <a:rPr lang="en-US" sz="2000" dirty="0" err="1"/>
              <a:t>val</a:t>
            </a:r>
            <a:r>
              <a:rPr lang="en-US" sz="2000" dirty="0"/>
              <a:t> = </a:t>
            </a:r>
            <a:r>
              <a:rPr lang="en-US" sz="2000" dirty="0" err="1"/>
              <a:t>d.pop</a:t>
            </a:r>
            <a:r>
              <a:rPr lang="en-US" sz="2000" dirty="0"/>
              <a:t>(1)</a:t>
            </a:r>
          </a:p>
          <a:p>
            <a:r>
              <a:rPr lang="en-US" sz="2000" dirty="0"/>
              <a:t>print(</a:t>
            </a:r>
            <a:r>
              <a:rPr lang="en-US" sz="2000" dirty="0" err="1"/>
              <a:t>val</a:t>
            </a:r>
            <a:r>
              <a:rPr lang="en-US" sz="2000" dirty="0"/>
              <a:t>)​</a:t>
            </a:r>
            <a:endParaRPr lang="en-GB" sz="2000" dirty="0"/>
          </a:p>
        </p:txBody>
      </p:sp>
      <p:sp>
        <p:nvSpPr>
          <p:cNvPr id="11" name="TextBox 10">
            <a:extLst>
              <a:ext uri="{FF2B5EF4-FFF2-40B4-BE49-F238E27FC236}">
                <a16:creationId xmlns:a16="http://schemas.microsoft.com/office/drawing/2014/main" id="{201600D7-FA0D-1C59-3E3D-53F25B00A631}"/>
              </a:ext>
            </a:extLst>
          </p:cNvPr>
          <p:cNvSpPr txBox="1"/>
          <p:nvPr/>
        </p:nvSpPr>
        <p:spPr>
          <a:xfrm>
            <a:off x="5181601" y="984875"/>
            <a:ext cx="3850431" cy="5016758"/>
          </a:xfrm>
          <a:prstGeom prst="rect">
            <a:avLst/>
          </a:prstGeom>
          <a:solidFill>
            <a:schemeClr val="accent1">
              <a:lumMod val="20000"/>
              <a:lumOff val="80000"/>
            </a:schemeClr>
          </a:solidFill>
        </p:spPr>
        <p:txBody>
          <a:bodyPr wrap="square">
            <a:spAutoFit/>
          </a:bodyPr>
          <a:lstStyle/>
          <a:p>
            <a:r>
              <a:rPr lang="en-US" sz="2000" b="1" dirty="0"/>
              <a:t># Using </a:t>
            </a:r>
            <a:r>
              <a:rPr lang="en-US" sz="2000" b="1" dirty="0" err="1"/>
              <a:t>popitem</a:t>
            </a:r>
            <a:r>
              <a:rPr lang="en-US" sz="2000" b="1" dirty="0"/>
              <a:t> to removes and returns the last key-value pair.</a:t>
            </a:r>
          </a:p>
          <a:p>
            <a:r>
              <a:rPr lang="en-US" sz="2000" dirty="0"/>
              <a:t>key, </a:t>
            </a:r>
            <a:r>
              <a:rPr lang="en-US" sz="2000" dirty="0" err="1"/>
              <a:t>val</a:t>
            </a:r>
            <a:r>
              <a:rPr lang="en-US" sz="2000" dirty="0"/>
              <a:t> = </a:t>
            </a:r>
            <a:r>
              <a:rPr lang="en-US" sz="2000" dirty="0" err="1"/>
              <a:t>d.popitem</a:t>
            </a:r>
            <a:r>
              <a:rPr lang="en-US" sz="2000" dirty="0"/>
              <a:t>()</a:t>
            </a:r>
          </a:p>
          <a:p>
            <a:r>
              <a:rPr lang="en-US" sz="2000" dirty="0"/>
              <a:t>print(</a:t>
            </a:r>
            <a:r>
              <a:rPr lang="en-US" sz="2000" dirty="0" err="1"/>
              <a:t>f"Key</a:t>
            </a:r>
            <a:r>
              <a:rPr lang="en-US" sz="2000" dirty="0"/>
              <a:t>: {key}, Value: {</a:t>
            </a:r>
            <a:r>
              <a:rPr lang="en-US" sz="2000" dirty="0" err="1"/>
              <a:t>val</a:t>
            </a:r>
            <a:r>
              <a:rPr lang="en-US" sz="2000" dirty="0"/>
              <a:t>}")</a:t>
            </a:r>
          </a:p>
          <a:p>
            <a:r>
              <a:rPr lang="en-US" sz="2000" dirty="0"/>
              <a:t>​</a:t>
            </a:r>
          </a:p>
          <a:p>
            <a:r>
              <a:rPr lang="en-US" sz="2000" b="1" dirty="0"/>
              <a:t># Clear all items from the dictionary</a:t>
            </a:r>
          </a:p>
          <a:p>
            <a:r>
              <a:rPr lang="en-US" sz="2000" dirty="0" err="1"/>
              <a:t>d.clear</a:t>
            </a:r>
            <a:r>
              <a:rPr lang="en-US" sz="2000" dirty="0"/>
              <a:t>()</a:t>
            </a:r>
          </a:p>
          <a:p>
            <a:r>
              <a:rPr lang="en-US" sz="2000" dirty="0"/>
              <a:t>print(d)</a:t>
            </a:r>
          </a:p>
          <a:p>
            <a:endParaRPr lang="en-US" sz="2000" dirty="0"/>
          </a:p>
          <a:p>
            <a:r>
              <a:rPr lang="en-US" sz="2000" b="1" dirty="0"/>
              <a:t>Output</a:t>
            </a:r>
          </a:p>
          <a:p>
            <a:r>
              <a:rPr lang="en-GB" sz="2000" dirty="0"/>
              <a:t>{1: 'Python </a:t>
            </a:r>
            <a:r>
              <a:rPr lang="en-GB" sz="2000" dirty="0" err="1"/>
              <a:t>dict</a:t>
            </a:r>
            <a:r>
              <a:rPr lang="en-GB" sz="2000" dirty="0"/>
              <a:t>', 2: ' are', 3: ' students'}</a:t>
            </a:r>
          </a:p>
          <a:p>
            <a:r>
              <a:rPr lang="en-GB" sz="2000" dirty="0"/>
              <a:t>Python </a:t>
            </a:r>
            <a:r>
              <a:rPr lang="en-GB" sz="2000" dirty="0" err="1"/>
              <a:t>dict</a:t>
            </a:r>
            <a:endParaRPr lang="en-US" sz="2000" dirty="0"/>
          </a:p>
          <a:p>
            <a:r>
              <a:rPr lang="en-US" sz="2000" dirty="0"/>
              <a:t>Key: 3, Value: </a:t>
            </a:r>
            <a:r>
              <a:rPr lang="en-GB" sz="2000" dirty="0"/>
              <a:t>students</a:t>
            </a:r>
            <a:endParaRPr lang="en-US" sz="2000" dirty="0"/>
          </a:p>
          <a:p>
            <a:r>
              <a:rPr lang="en-US" sz="2000" dirty="0"/>
              <a:t>{}</a:t>
            </a:r>
            <a:endParaRPr lang="en-GB" sz="2000" dirty="0"/>
          </a:p>
        </p:txBody>
      </p:sp>
    </p:spTree>
    <p:extLst>
      <p:ext uri="{BB962C8B-B14F-4D97-AF65-F5344CB8AC3E}">
        <p14:creationId xmlns:p14="http://schemas.microsoft.com/office/powerpoint/2010/main" val="1121734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780A6C7-94EE-E2AC-33A1-A8F25021C296}"/>
              </a:ext>
            </a:extLst>
          </p:cNvPr>
          <p:cNvSpPr txBox="1"/>
          <p:nvPr/>
        </p:nvSpPr>
        <p:spPr>
          <a:xfrm>
            <a:off x="1094793" y="379169"/>
            <a:ext cx="7470710" cy="1384995"/>
          </a:xfrm>
          <a:prstGeom prst="rect">
            <a:avLst/>
          </a:prstGeom>
          <a:noFill/>
          <a:ln>
            <a:solidFill>
              <a:schemeClr val="accent1"/>
            </a:solidFill>
          </a:ln>
        </p:spPr>
        <p:txBody>
          <a:bodyPr wrap="square">
            <a:spAutoFit/>
          </a:bodyPr>
          <a:lstStyle/>
          <a:p>
            <a:pPr algn="ctr"/>
            <a:r>
              <a:rPr lang="en-US" sz="2400" b="1" dirty="0"/>
              <a:t>Iterating Through a Dictionary</a:t>
            </a:r>
          </a:p>
          <a:p>
            <a:pPr algn="ctr"/>
            <a:endParaRPr lang="en-US" sz="2000" b="1" dirty="0"/>
          </a:p>
          <a:p>
            <a:r>
              <a:rPr lang="en-US" sz="2000" dirty="0"/>
              <a:t>We can iterate over </a:t>
            </a:r>
            <a:r>
              <a:rPr lang="en-US" sz="2000" dirty="0">
                <a:highlight>
                  <a:srgbClr val="FFFF00"/>
                </a:highlight>
              </a:rPr>
              <a:t>keys</a:t>
            </a:r>
            <a:r>
              <a:rPr lang="en-US" sz="2000" dirty="0"/>
              <a:t> [</a:t>
            </a:r>
            <a:r>
              <a:rPr lang="en-US" sz="2000" b="1" dirty="0"/>
              <a:t>using keys() method</a:t>
            </a:r>
            <a:r>
              <a:rPr lang="en-US" sz="2000" dirty="0"/>
              <a:t>] , </a:t>
            </a:r>
            <a:r>
              <a:rPr lang="en-US" sz="2000" dirty="0">
                <a:highlight>
                  <a:srgbClr val="FFFF00"/>
                </a:highlight>
              </a:rPr>
              <a:t>values</a:t>
            </a:r>
            <a:r>
              <a:rPr lang="en-US" sz="2000" dirty="0"/>
              <a:t> [</a:t>
            </a:r>
            <a:r>
              <a:rPr lang="en-US" sz="2000" b="1" dirty="0"/>
              <a:t>using </a:t>
            </a:r>
            <a:r>
              <a:rPr lang="en-US" sz="2000" dirty="0"/>
              <a:t>values</a:t>
            </a:r>
            <a:r>
              <a:rPr lang="en-US" sz="2000" b="1" dirty="0"/>
              <a:t>() method</a:t>
            </a:r>
            <a:r>
              <a:rPr lang="en-US" sz="2000" dirty="0"/>
              <a:t>] or </a:t>
            </a:r>
            <a:r>
              <a:rPr lang="en-US" sz="2000" dirty="0">
                <a:highlight>
                  <a:srgbClr val="FFFF00"/>
                </a:highlight>
              </a:rPr>
              <a:t>both</a:t>
            </a:r>
            <a:r>
              <a:rPr lang="en-US" sz="2000" dirty="0"/>
              <a:t> [</a:t>
            </a:r>
            <a:r>
              <a:rPr lang="en-US" sz="2000" b="1" dirty="0"/>
              <a:t>using item() method</a:t>
            </a:r>
            <a:r>
              <a:rPr lang="en-US" sz="2000" dirty="0"/>
              <a:t>] with a for loop.</a:t>
            </a:r>
          </a:p>
        </p:txBody>
      </p:sp>
      <p:sp>
        <p:nvSpPr>
          <p:cNvPr id="9" name="TextBox 8">
            <a:extLst>
              <a:ext uri="{FF2B5EF4-FFF2-40B4-BE49-F238E27FC236}">
                <a16:creationId xmlns:a16="http://schemas.microsoft.com/office/drawing/2014/main" id="{AB21799D-7D6D-0E6D-5BFC-E8719FD65DFB}"/>
              </a:ext>
            </a:extLst>
          </p:cNvPr>
          <p:cNvSpPr txBox="1"/>
          <p:nvPr/>
        </p:nvSpPr>
        <p:spPr>
          <a:xfrm>
            <a:off x="1309396" y="2199716"/>
            <a:ext cx="4052596" cy="4093428"/>
          </a:xfrm>
          <a:prstGeom prst="rect">
            <a:avLst/>
          </a:prstGeom>
          <a:solidFill>
            <a:schemeClr val="accent3">
              <a:lumMod val="20000"/>
              <a:lumOff val="80000"/>
            </a:schemeClr>
          </a:solidFill>
        </p:spPr>
        <p:txBody>
          <a:bodyPr wrap="square">
            <a:spAutoFit/>
          </a:bodyPr>
          <a:lstStyle/>
          <a:p>
            <a:r>
              <a:rPr lang="en-GB" sz="2000" dirty="0"/>
              <a:t>d = {1: ‘we', 2: ‘are', 'age’: students}</a:t>
            </a:r>
          </a:p>
          <a:p>
            <a:endParaRPr lang="en-GB" sz="2000" dirty="0"/>
          </a:p>
          <a:p>
            <a:r>
              <a:rPr lang="en-GB" sz="2000" dirty="0"/>
              <a:t># Iterate over keys</a:t>
            </a:r>
          </a:p>
          <a:p>
            <a:r>
              <a:rPr lang="en-GB" sz="2000" dirty="0"/>
              <a:t>for key in d:</a:t>
            </a:r>
          </a:p>
          <a:p>
            <a:r>
              <a:rPr lang="en-GB" sz="2000" dirty="0"/>
              <a:t>    print(key)</a:t>
            </a:r>
          </a:p>
          <a:p>
            <a:endParaRPr lang="en-GB" sz="2000" dirty="0"/>
          </a:p>
          <a:p>
            <a:r>
              <a:rPr lang="en-GB" sz="2000" dirty="0"/>
              <a:t># Iterate over values</a:t>
            </a:r>
          </a:p>
          <a:p>
            <a:r>
              <a:rPr lang="en-GB" sz="2000" dirty="0"/>
              <a:t>for value in </a:t>
            </a:r>
            <a:r>
              <a:rPr lang="en-GB" sz="2000" dirty="0" err="1"/>
              <a:t>d.values</a:t>
            </a:r>
            <a:r>
              <a:rPr lang="en-GB" sz="2000" dirty="0"/>
              <a:t>():</a:t>
            </a:r>
          </a:p>
          <a:p>
            <a:r>
              <a:rPr lang="en-GB" sz="2000" dirty="0"/>
              <a:t>    print(value)</a:t>
            </a:r>
          </a:p>
          <a:p>
            <a:endParaRPr lang="en-GB" sz="2000" dirty="0"/>
          </a:p>
          <a:p>
            <a:r>
              <a:rPr lang="en-GB" sz="2000" dirty="0"/>
              <a:t># Iterate over key-value pairs</a:t>
            </a:r>
          </a:p>
          <a:p>
            <a:r>
              <a:rPr lang="en-GB" sz="2000" dirty="0"/>
              <a:t>for key, value in </a:t>
            </a:r>
            <a:r>
              <a:rPr lang="en-GB" sz="2000" dirty="0" err="1"/>
              <a:t>d.items</a:t>
            </a:r>
            <a:r>
              <a:rPr lang="en-GB" sz="2000" dirty="0"/>
              <a:t>():</a:t>
            </a:r>
          </a:p>
          <a:p>
            <a:r>
              <a:rPr lang="en-GB" sz="2000" dirty="0"/>
              <a:t>    print(f"{key}: {value}")</a:t>
            </a:r>
          </a:p>
        </p:txBody>
      </p:sp>
      <p:sp>
        <p:nvSpPr>
          <p:cNvPr id="11" name="TextBox 10">
            <a:extLst>
              <a:ext uri="{FF2B5EF4-FFF2-40B4-BE49-F238E27FC236}">
                <a16:creationId xmlns:a16="http://schemas.microsoft.com/office/drawing/2014/main" id="{BC94E80E-F6A6-E4C9-76A4-0DC3A634825E}"/>
              </a:ext>
            </a:extLst>
          </p:cNvPr>
          <p:cNvSpPr txBox="1"/>
          <p:nvPr/>
        </p:nvSpPr>
        <p:spPr>
          <a:xfrm>
            <a:off x="5987142" y="2143733"/>
            <a:ext cx="1520890" cy="4298613"/>
          </a:xfrm>
          <a:prstGeom prst="rect">
            <a:avLst/>
          </a:prstGeom>
          <a:solidFill>
            <a:schemeClr val="bg2"/>
          </a:solidFill>
        </p:spPr>
        <p:txBody>
          <a:bodyPr wrap="square">
            <a:spAutoFit/>
          </a:bodyPr>
          <a:lstStyle/>
          <a:p>
            <a:pPr>
              <a:buNone/>
            </a:pPr>
            <a:r>
              <a:rPr lang="en-US" sz="2000" b="1" i="0" dirty="0">
                <a:solidFill>
                  <a:srgbClr val="273239"/>
                </a:solidFill>
                <a:effectLst/>
              </a:rPr>
              <a:t>Output</a:t>
            </a:r>
            <a:endParaRPr lang="en-US" sz="2000" dirty="0"/>
          </a:p>
          <a:p>
            <a:pPr algn="l" fontAlgn="base">
              <a:spcAft>
                <a:spcPts val="750"/>
              </a:spcAft>
              <a:buNone/>
            </a:pPr>
            <a:r>
              <a:rPr lang="en-US" sz="2000" b="0" i="0" dirty="0">
                <a:effectLst/>
              </a:rPr>
              <a:t>1</a:t>
            </a:r>
          </a:p>
          <a:p>
            <a:pPr algn="l" fontAlgn="base">
              <a:spcAft>
                <a:spcPts val="750"/>
              </a:spcAft>
              <a:buNone/>
            </a:pPr>
            <a:r>
              <a:rPr lang="en-US" sz="2000" b="0" i="0" dirty="0">
                <a:effectLst/>
              </a:rPr>
              <a:t>2</a:t>
            </a:r>
          </a:p>
          <a:p>
            <a:pPr algn="l" fontAlgn="base">
              <a:spcAft>
                <a:spcPts val="750"/>
              </a:spcAft>
              <a:buNone/>
            </a:pPr>
            <a:r>
              <a:rPr lang="en-US" sz="2000" b="0" i="0" dirty="0">
                <a:effectLst/>
              </a:rPr>
              <a:t>age</a:t>
            </a:r>
          </a:p>
          <a:p>
            <a:pPr algn="l" fontAlgn="base">
              <a:spcAft>
                <a:spcPts val="750"/>
              </a:spcAft>
              <a:buNone/>
            </a:pPr>
            <a:r>
              <a:rPr lang="en-US" sz="2000" b="0" i="0" dirty="0">
                <a:effectLst/>
              </a:rPr>
              <a:t>we</a:t>
            </a:r>
          </a:p>
          <a:p>
            <a:pPr algn="l" fontAlgn="base">
              <a:spcAft>
                <a:spcPts val="750"/>
              </a:spcAft>
              <a:buNone/>
            </a:pPr>
            <a:r>
              <a:rPr lang="en-US" sz="2000" b="0" i="0" dirty="0">
                <a:effectLst/>
              </a:rPr>
              <a:t>are</a:t>
            </a:r>
          </a:p>
          <a:p>
            <a:pPr algn="l" fontAlgn="base">
              <a:spcAft>
                <a:spcPts val="750"/>
              </a:spcAft>
              <a:buNone/>
            </a:pPr>
            <a:r>
              <a:rPr lang="en-US" sz="2000" b="0" i="0" dirty="0">
                <a:effectLst/>
              </a:rPr>
              <a:t>students</a:t>
            </a:r>
          </a:p>
          <a:p>
            <a:pPr algn="l" fontAlgn="base">
              <a:spcAft>
                <a:spcPts val="750"/>
              </a:spcAft>
              <a:buNone/>
            </a:pPr>
            <a:r>
              <a:rPr lang="en-US" sz="2000" b="0" i="0" dirty="0">
                <a:effectLst/>
              </a:rPr>
              <a:t>1: we</a:t>
            </a:r>
          </a:p>
          <a:p>
            <a:pPr algn="l" fontAlgn="base">
              <a:spcAft>
                <a:spcPts val="750"/>
              </a:spcAft>
              <a:buNone/>
            </a:pPr>
            <a:r>
              <a:rPr lang="en-US" sz="2000" b="0" i="0" dirty="0">
                <a:effectLst/>
              </a:rPr>
              <a:t>2: are</a:t>
            </a:r>
          </a:p>
          <a:p>
            <a:pPr algn="l" fontAlgn="base">
              <a:spcAft>
                <a:spcPts val="750"/>
              </a:spcAft>
              <a:buNone/>
            </a:pPr>
            <a:r>
              <a:rPr lang="en-US" sz="2000" b="0" i="0" dirty="0">
                <a:effectLst/>
              </a:rPr>
              <a:t>age: students</a:t>
            </a:r>
          </a:p>
        </p:txBody>
      </p:sp>
    </p:spTree>
    <p:extLst>
      <p:ext uri="{BB962C8B-B14F-4D97-AF65-F5344CB8AC3E}">
        <p14:creationId xmlns:p14="http://schemas.microsoft.com/office/powerpoint/2010/main" val="3713251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732EC2F7-0837-4EF0-9AD8-8BF12856606C}"/>
              </a:ext>
            </a:extLst>
          </p:cNvPr>
          <p:cNvSpPr txBox="1">
            <a:spLocks noChangeArrowheads="1"/>
          </p:cNvSpPr>
          <p:nvPr/>
        </p:nvSpPr>
        <p:spPr>
          <a:xfrm>
            <a:off x="1127035" y="117254"/>
            <a:ext cx="7065243" cy="6675432"/>
          </a:xfrm>
          <a:prstGeom prst="rect">
            <a:avLst/>
          </a:prstGeom>
          <a:solidFill>
            <a:schemeClr val="accent5">
              <a:lumMod val="20000"/>
              <a:lumOff val="80000"/>
            </a:schemeClr>
          </a:solidFill>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en-US" sz="2000" b="1" dirty="0"/>
              <a:t>Hash tables, "associative arrays"</a:t>
            </a:r>
          </a:p>
          <a:p>
            <a:pPr lvl="2"/>
            <a:r>
              <a:rPr lang="en-US" altLang="en-US" sz="2000" dirty="0"/>
              <a:t>d = {"</a:t>
            </a:r>
            <a:r>
              <a:rPr lang="en-US" altLang="en-US" sz="2000" dirty="0">
                <a:highlight>
                  <a:srgbClr val="FFFF00"/>
                </a:highlight>
              </a:rPr>
              <a:t>duck": "</a:t>
            </a:r>
            <a:r>
              <a:rPr lang="en-US" altLang="en-US" sz="2000" dirty="0" err="1">
                <a:highlight>
                  <a:srgbClr val="FFFF00"/>
                </a:highlight>
              </a:rPr>
              <a:t>eend</a:t>
            </a:r>
            <a:r>
              <a:rPr lang="en-US" altLang="en-US" sz="2000" dirty="0">
                <a:highlight>
                  <a:srgbClr val="FFFF00"/>
                </a:highlight>
              </a:rPr>
              <a:t>"</a:t>
            </a:r>
            <a:r>
              <a:rPr lang="en-US" altLang="en-US" sz="2000" dirty="0"/>
              <a:t>, "water": "water", "</a:t>
            </a:r>
            <a:r>
              <a:rPr lang="en-US" altLang="en-US" sz="2000" dirty="0">
                <a:highlight>
                  <a:srgbClr val="FFFF00"/>
                </a:highlight>
              </a:rPr>
              <a:t>back": "rug</a:t>
            </a:r>
            <a:r>
              <a:rPr lang="en-US" altLang="en-US" sz="2000" dirty="0"/>
              <a:t>"}</a:t>
            </a:r>
          </a:p>
          <a:p>
            <a:pPr marL="0" indent="0">
              <a:buNone/>
            </a:pPr>
            <a:r>
              <a:rPr lang="en-US" altLang="en-US" sz="2000" b="1" dirty="0"/>
              <a:t>Lookup:</a:t>
            </a:r>
          </a:p>
          <a:p>
            <a:pPr lvl="2"/>
            <a:r>
              <a:rPr lang="en-US" altLang="en-US" sz="2000" dirty="0"/>
              <a:t>d["duck"] -&gt; "</a:t>
            </a:r>
            <a:r>
              <a:rPr lang="en-US" altLang="en-US" sz="2000" dirty="0" err="1"/>
              <a:t>eend</a:t>
            </a:r>
            <a:r>
              <a:rPr lang="en-US" altLang="en-US" sz="2000" dirty="0"/>
              <a:t>"</a:t>
            </a:r>
          </a:p>
          <a:p>
            <a:pPr lvl="2"/>
            <a:r>
              <a:rPr lang="en-US" altLang="en-US" sz="2000" dirty="0"/>
              <a:t>d["back"] # raises </a:t>
            </a:r>
            <a:r>
              <a:rPr lang="en-US" altLang="en-US" sz="2000" dirty="0" err="1"/>
              <a:t>KeyError</a:t>
            </a:r>
            <a:r>
              <a:rPr lang="en-US" altLang="en-US" sz="2000" dirty="0"/>
              <a:t> exception</a:t>
            </a:r>
          </a:p>
          <a:p>
            <a:pPr marL="0" indent="0">
              <a:buNone/>
            </a:pPr>
            <a:r>
              <a:rPr lang="en-US" altLang="en-US" sz="2000" b="1" dirty="0"/>
              <a:t>Delete, insert, overwrite:</a:t>
            </a:r>
          </a:p>
          <a:p>
            <a:pPr lvl="2"/>
            <a:r>
              <a:rPr lang="en-US" altLang="en-US" sz="2000" dirty="0"/>
              <a:t>del d["water"] 		# {"duck": "</a:t>
            </a:r>
            <a:r>
              <a:rPr lang="en-US" altLang="en-US" sz="2000" dirty="0" err="1"/>
              <a:t>eend</a:t>
            </a:r>
            <a:r>
              <a:rPr lang="en-US" altLang="en-US" sz="2000" dirty="0"/>
              <a:t>", "back": "rug"}</a:t>
            </a:r>
          </a:p>
          <a:p>
            <a:pPr lvl="2"/>
            <a:r>
              <a:rPr lang="en-US" altLang="en-US" sz="2000" dirty="0"/>
              <a:t>d["back"] = "rug" 	# {"duck": "</a:t>
            </a:r>
            <a:r>
              <a:rPr lang="en-US" altLang="en-US" sz="2000" dirty="0" err="1"/>
              <a:t>eend</a:t>
            </a:r>
            <a:r>
              <a:rPr lang="en-US" altLang="en-US" sz="2000" dirty="0"/>
              <a:t>", "back": "rug"}</a:t>
            </a:r>
          </a:p>
          <a:p>
            <a:pPr lvl="2"/>
            <a:r>
              <a:rPr lang="en-US" altLang="en-US" sz="2000" dirty="0"/>
              <a:t>d["duck"] = "</a:t>
            </a:r>
            <a:r>
              <a:rPr lang="en-US" altLang="en-US" sz="2000" dirty="0" err="1"/>
              <a:t>duik</a:t>
            </a:r>
            <a:r>
              <a:rPr lang="en-US" altLang="en-US" sz="2000" dirty="0"/>
              <a:t>" 	# {"duck": "</a:t>
            </a:r>
            <a:r>
              <a:rPr lang="en-US" altLang="en-US" sz="2000" dirty="0" err="1"/>
              <a:t>duik</a:t>
            </a:r>
            <a:r>
              <a:rPr lang="en-US" altLang="en-US" sz="2000" dirty="0"/>
              <a:t>", "back": "rug"}</a:t>
            </a:r>
          </a:p>
          <a:p>
            <a:pPr marL="0" indent="0">
              <a:buNone/>
            </a:pPr>
            <a:r>
              <a:rPr lang="en-US" altLang="en-US" sz="2000" b="1" dirty="0"/>
              <a:t>Keys, values, items:</a:t>
            </a:r>
          </a:p>
          <a:p>
            <a:pPr lvl="2"/>
            <a:r>
              <a:rPr lang="en-US" altLang="en-US" sz="2000" dirty="0" err="1"/>
              <a:t>d.keys</a:t>
            </a:r>
            <a:r>
              <a:rPr lang="en-US" altLang="en-US" sz="2000" dirty="0"/>
              <a:t>() -&gt; ["duck", "back"]</a:t>
            </a:r>
          </a:p>
          <a:p>
            <a:pPr lvl="2"/>
            <a:r>
              <a:rPr lang="en-US" altLang="en-US" sz="2000" dirty="0" err="1"/>
              <a:t>d.values</a:t>
            </a:r>
            <a:r>
              <a:rPr lang="en-US" altLang="en-US" sz="2000" dirty="0"/>
              <a:t>() -&gt; ["</a:t>
            </a:r>
            <a:r>
              <a:rPr lang="en-US" altLang="en-US" sz="2000" dirty="0" err="1"/>
              <a:t>duik</a:t>
            </a:r>
            <a:r>
              <a:rPr lang="en-US" altLang="en-US" sz="2000" dirty="0"/>
              <a:t>", "rug"]</a:t>
            </a:r>
          </a:p>
          <a:p>
            <a:pPr lvl="2"/>
            <a:r>
              <a:rPr lang="en-US" altLang="en-US" sz="2000" dirty="0" err="1"/>
              <a:t>d.items</a:t>
            </a:r>
            <a:r>
              <a:rPr lang="en-US" altLang="en-US" sz="2000" dirty="0"/>
              <a:t>() -&gt; [("duck","</a:t>
            </a:r>
            <a:r>
              <a:rPr lang="en-US" altLang="en-US" sz="2000" dirty="0" err="1"/>
              <a:t>duik</a:t>
            </a:r>
            <a:r>
              <a:rPr lang="en-US" altLang="en-US" sz="2000" dirty="0"/>
              <a:t>"), ("</a:t>
            </a:r>
            <a:r>
              <a:rPr lang="en-US" altLang="en-US" sz="2000" dirty="0" err="1"/>
              <a:t>back","rug</a:t>
            </a:r>
            <a:r>
              <a:rPr lang="en-US" altLang="en-US" sz="2000" dirty="0"/>
              <a:t>")]</a:t>
            </a:r>
          </a:p>
          <a:p>
            <a:pPr marL="0" indent="0">
              <a:buNone/>
            </a:pPr>
            <a:r>
              <a:rPr lang="en-US" altLang="en-US" sz="2000" b="1" dirty="0"/>
              <a:t>Presence check:</a:t>
            </a:r>
          </a:p>
          <a:p>
            <a:pPr lvl="2"/>
            <a:r>
              <a:rPr lang="en-US" altLang="en-US" sz="2000" dirty="0" err="1"/>
              <a:t>d.has_key</a:t>
            </a:r>
            <a:r>
              <a:rPr lang="en-US" altLang="en-US" sz="2000" dirty="0"/>
              <a:t>("duck") -&gt; 1; </a:t>
            </a:r>
            <a:r>
              <a:rPr lang="en-US" altLang="en-US" sz="2000" dirty="0" err="1"/>
              <a:t>d.has_key</a:t>
            </a:r>
            <a:r>
              <a:rPr lang="en-US" altLang="en-US" sz="2000" dirty="0"/>
              <a:t>("spam") -&gt; 0</a:t>
            </a:r>
          </a:p>
          <a:p>
            <a:pPr marL="0" indent="0">
              <a:buNone/>
            </a:pPr>
            <a:r>
              <a:rPr lang="en-US" altLang="en-US" sz="2000" b="1" dirty="0"/>
              <a:t>Values of any type; keys almost any</a:t>
            </a:r>
          </a:p>
          <a:p>
            <a:pPr lvl="2"/>
            <a:r>
              <a:rPr lang="en-US" altLang="en-US" sz="2000" dirty="0"/>
              <a:t>{"</a:t>
            </a:r>
            <a:r>
              <a:rPr lang="en-US" altLang="en-US" sz="2000" dirty="0" err="1"/>
              <a:t>name":"Guido</a:t>
            </a:r>
            <a:r>
              <a:rPr lang="en-US" altLang="en-US" sz="2000" dirty="0"/>
              <a:t>", "age":43, ("</a:t>
            </a:r>
            <a:r>
              <a:rPr lang="en-US" altLang="en-US" sz="2000" dirty="0" err="1"/>
              <a:t>hello","world</a:t>
            </a:r>
            <a:r>
              <a:rPr lang="en-US" altLang="en-US" sz="2000" dirty="0"/>
              <a:t>"):1,</a:t>
            </a:r>
            <a:br>
              <a:rPr lang="en-US" altLang="en-US" sz="2000" dirty="0"/>
            </a:br>
            <a:r>
              <a:rPr lang="en-US" altLang="en-US" sz="2000" dirty="0"/>
              <a:t>  42:"yes", "flag": ["</a:t>
            </a:r>
            <a:r>
              <a:rPr lang="en-US" altLang="en-US" sz="2000" dirty="0" err="1"/>
              <a:t>red","white","blue</a:t>
            </a:r>
            <a:r>
              <a:rPr lang="en-US" altLang="en-US" sz="2000" dirty="0"/>
              <a:t>"]}</a:t>
            </a:r>
          </a:p>
        </p:txBody>
      </p:sp>
    </p:spTree>
    <p:extLst>
      <p:ext uri="{BB962C8B-B14F-4D97-AF65-F5344CB8AC3E}">
        <p14:creationId xmlns:p14="http://schemas.microsoft.com/office/powerpoint/2010/main" val="1405229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D940CC-ED2B-2EFB-9D07-299DC4D5351D}"/>
              </a:ext>
            </a:extLst>
          </p:cNvPr>
          <p:cNvSpPr>
            <a:spLocks noGrp="1"/>
          </p:cNvSpPr>
          <p:nvPr>
            <p:ph type="title"/>
          </p:nvPr>
        </p:nvSpPr>
        <p:spPr>
          <a:xfrm>
            <a:off x="3973321" y="640080"/>
            <a:ext cx="4688333" cy="3566160"/>
          </a:xfrm>
        </p:spPr>
        <p:txBody>
          <a:bodyPr vert="horz" lIns="91440" tIns="45720" rIns="91440" bIns="45720" rtlCol="0" anchor="b">
            <a:normAutofit/>
          </a:bodyPr>
          <a:lstStyle/>
          <a:p>
            <a:pPr algn="l" defTabSz="914400">
              <a:lnSpc>
                <a:spcPct val="90000"/>
              </a:lnSpc>
            </a:pPr>
            <a:r>
              <a:rPr lang="en-US" sz="4700"/>
              <a:t>Set</a:t>
            </a:r>
          </a:p>
        </p:txBody>
      </p:sp>
      <p:pic>
        <p:nvPicPr>
          <p:cNvPr id="4" name="Picture 3" descr="Overhead shot of different shapes and sizes of buttons">
            <a:extLst>
              <a:ext uri="{FF2B5EF4-FFF2-40B4-BE49-F238E27FC236}">
                <a16:creationId xmlns:a16="http://schemas.microsoft.com/office/drawing/2014/main" id="{6EF36E91-C0CD-C1D3-CCB2-1D2832710DB3}"/>
              </a:ext>
            </a:extLst>
          </p:cNvPr>
          <p:cNvPicPr>
            <a:picLocks noChangeAspect="1"/>
          </p:cNvPicPr>
          <p:nvPr/>
        </p:nvPicPr>
        <p:blipFill>
          <a:blip r:embed="rId2"/>
          <a:srcRect l="27994" r="38008" b="-1"/>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0"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646" y="4409267"/>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2029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18D6830-859E-B9EB-1B3C-3B35F937596A}"/>
              </a:ext>
            </a:extLst>
          </p:cNvPr>
          <p:cNvSpPr>
            <a:spLocks noGrp="1"/>
          </p:cNvSpPr>
          <p:nvPr>
            <p:ph idx="1"/>
          </p:nvPr>
        </p:nvSpPr>
        <p:spPr>
          <a:xfrm>
            <a:off x="621120" y="575323"/>
            <a:ext cx="7886700" cy="3026293"/>
          </a:xfrm>
        </p:spPr>
        <p:txBody>
          <a:bodyPr>
            <a:normAutofit/>
          </a:bodyPr>
          <a:lstStyle/>
          <a:p>
            <a:pPr fontAlgn="base">
              <a:lnSpc>
                <a:spcPct val="90000"/>
              </a:lnSpc>
            </a:pPr>
            <a:r>
              <a:rPr lang="en-US" sz="2000" dirty="0"/>
              <a:t>Python set is an unordered collection of multiple items having different datatypes. In Python, sets are mutable, unindexed and do not contain duplicates. The order of elements in a set is not preserved and can change.</a:t>
            </a:r>
          </a:p>
          <a:p>
            <a:pPr fontAlgn="base">
              <a:lnSpc>
                <a:spcPct val="90000"/>
              </a:lnSpc>
            </a:pPr>
            <a:r>
              <a:rPr lang="en-US" sz="2000" dirty="0"/>
              <a:t>Can store </a:t>
            </a:r>
            <a:r>
              <a:rPr lang="en-US" sz="2000" b="1" dirty="0"/>
              <a:t>None</a:t>
            </a:r>
            <a:r>
              <a:rPr lang="en-US" sz="2000" dirty="0"/>
              <a:t> values.</a:t>
            </a:r>
          </a:p>
          <a:p>
            <a:pPr fontAlgn="base">
              <a:lnSpc>
                <a:spcPct val="90000"/>
              </a:lnSpc>
            </a:pPr>
            <a:r>
              <a:rPr lang="en-US" sz="2000" dirty="0"/>
              <a:t>Implemented using hash tables internally.</a:t>
            </a:r>
          </a:p>
          <a:p>
            <a:pPr fontAlgn="base">
              <a:lnSpc>
                <a:spcPct val="90000"/>
              </a:lnSpc>
            </a:pPr>
            <a:r>
              <a:rPr lang="en-US" sz="2000" dirty="0"/>
              <a:t>Python sets are not inherently thread-safe; synchronization is needed if used across threads.</a:t>
            </a:r>
          </a:p>
        </p:txBody>
      </p:sp>
      <p:sp>
        <p:nvSpPr>
          <p:cNvPr id="2" name="TextBox 1">
            <a:extLst>
              <a:ext uri="{FF2B5EF4-FFF2-40B4-BE49-F238E27FC236}">
                <a16:creationId xmlns:a16="http://schemas.microsoft.com/office/drawing/2014/main" id="{4FE4489D-C885-7E3C-E8F7-945486129864}"/>
              </a:ext>
            </a:extLst>
          </p:cNvPr>
          <p:cNvSpPr txBox="1"/>
          <p:nvPr/>
        </p:nvSpPr>
        <p:spPr>
          <a:xfrm>
            <a:off x="1884785" y="3283718"/>
            <a:ext cx="6481665" cy="3046988"/>
          </a:xfrm>
          <a:prstGeom prst="rect">
            <a:avLst/>
          </a:prstGeom>
          <a:solidFill>
            <a:schemeClr val="accent5">
              <a:lumMod val="20000"/>
              <a:lumOff val="80000"/>
            </a:schemeClr>
          </a:solidFill>
        </p:spPr>
        <p:txBody>
          <a:bodyPr wrap="square">
            <a:spAutoFit/>
          </a:bodyPr>
          <a:lstStyle/>
          <a:p>
            <a:r>
              <a:rPr lang="en-US" sz="2400" b="1" dirty="0"/>
              <a:t>Creating a Set in Python</a:t>
            </a:r>
          </a:p>
          <a:p>
            <a:r>
              <a:rPr lang="en-US" sz="2400" dirty="0"/>
              <a:t>In Python, the most basic and efficient method for creating a set is using curly braces.</a:t>
            </a:r>
          </a:p>
          <a:p>
            <a:r>
              <a:rPr lang="en-US" sz="2400" dirty="0"/>
              <a:t>set1 = {1, 2, 3, 4}</a:t>
            </a:r>
          </a:p>
          <a:p>
            <a:r>
              <a:rPr lang="en-US" sz="2400" dirty="0"/>
              <a:t>print(set1)</a:t>
            </a:r>
          </a:p>
          <a:p>
            <a:endParaRPr lang="en-US" sz="2400" dirty="0"/>
          </a:p>
          <a:p>
            <a:r>
              <a:rPr lang="en-US" sz="2400" dirty="0"/>
              <a:t>Output</a:t>
            </a:r>
          </a:p>
          <a:p>
            <a:r>
              <a:rPr lang="en-US" sz="2400" dirty="0"/>
              <a:t>{1, 2, 3, 4}</a:t>
            </a:r>
            <a:endParaRPr lang="en-GB" sz="2400" dirty="0"/>
          </a:p>
        </p:txBody>
      </p:sp>
    </p:spTree>
    <p:extLst>
      <p:ext uri="{BB962C8B-B14F-4D97-AF65-F5344CB8AC3E}">
        <p14:creationId xmlns:p14="http://schemas.microsoft.com/office/powerpoint/2010/main" val="3172773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77C4729-D2A4-1416-7793-91C47C26DE81}"/>
              </a:ext>
            </a:extLst>
          </p:cNvPr>
          <p:cNvSpPr txBox="1"/>
          <p:nvPr/>
        </p:nvSpPr>
        <p:spPr>
          <a:xfrm>
            <a:off x="335902" y="70177"/>
            <a:ext cx="8652588" cy="1323439"/>
          </a:xfrm>
          <a:prstGeom prst="rect">
            <a:avLst/>
          </a:prstGeom>
          <a:noFill/>
          <a:ln w="3175">
            <a:solidFill>
              <a:schemeClr val="tx1"/>
            </a:solidFill>
          </a:ln>
        </p:spPr>
        <p:txBody>
          <a:bodyPr wrap="square">
            <a:spAutoFit/>
          </a:bodyPr>
          <a:lstStyle/>
          <a:p>
            <a:r>
              <a:rPr lang="en-US" sz="2000" b="1" dirty="0"/>
              <a:t>Using the set() function</a:t>
            </a:r>
          </a:p>
          <a:p>
            <a:r>
              <a:rPr lang="en-US" sz="2000" dirty="0"/>
              <a:t>Python Sets can be created by using the built-in </a:t>
            </a:r>
            <a:r>
              <a:rPr lang="en-US" sz="2000" b="1" dirty="0"/>
              <a:t>set() </a:t>
            </a:r>
            <a:r>
              <a:rPr lang="en-US" sz="2000" dirty="0"/>
              <a:t>function with an </a:t>
            </a:r>
            <a:r>
              <a:rPr lang="en-US" sz="2000" dirty="0" err="1"/>
              <a:t>iterable</a:t>
            </a:r>
            <a:r>
              <a:rPr lang="en-US" sz="2000" dirty="0"/>
              <a:t> object or a sequence by placing the sequence inside curly braces, separated by a 'comma'.</a:t>
            </a:r>
            <a:endParaRPr lang="en-GB" sz="2000" dirty="0"/>
          </a:p>
        </p:txBody>
      </p:sp>
      <p:sp>
        <p:nvSpPr>
          <p:cNvPr id="15" name="TextBox 14">
            <a:extLst>
              <a:ext uri="{FF2B5EF4-FFF2-40B4-BE49-F238E27FC236}">
                <a16:creationId xmlns:a16="http://schemas.microsoft.com/office/drawing/2014/main" id="{052785F7-C95A-0D1C-6FC5-AF866650081D}"/>
              </a:ext>
            </a:extLst>
          </p:cNvPr>
          <p:cNvSpPr txBox="1"/>
          <p:nvPr/>
        </p:nvSpPr>
        <p:spPr>
          <a:xfrm>
            <a:off x="385665" y="1415649"/>
            <a:ext cx="4932783" cy="5324535"/>
          </a:xfrm>
          <a:prstGeom prst="rect">
            <a:avLst/>
          </a:prstGeom>
          <a:solidFill>
            <a:schemeClr val="accent4">
              <a:lumMod val="20000"/>
              <a:lumOff val="80000"/>
            </a:schemeClr>
          </a:solidFill>
        </p:spPr>
        <p:txBody>
          <a:bodyPr wrap="square">
            <a:spAutoFit/>
          </a:bodyPr>
          <a:lstStyle/>
          <a:p>
            <a:r>
              <a:rPr lang="en-US" sz="2000" dirty="0"/>
              <a:t>set1 = set()</a:t>
            </a:r>
          </a:p>
          <a:p>
            <a:r>
              <a:rPr lang="en-US" sz="2000" dirty="0"/>
              <a:t>print(set1)</a:t>
            </a:r>
          </a:p>
          <a:p>
            <a:endParaRPr lang="en-US" sz="2000" dirty="0"/>
          </a:p>
          <a:p>
            <a:r>
              <a:rPr lang="en-US" sz="2000" dirty="0"/>
              <a:t>set1 = set("</a:t>
            </a:r>
            <a:r>
              <a:rPr lang="en-US" sz="2000" dirty="0" err="1"/>
              <a:t>dataanalysisclass</a:t>
            </a:r>
            <a:r>
              <a:rPr lang="en-US" sz="2000" dirty="0"/>
              <a:t>")</a:t>
            </a:r>
          </a:p>
          <a:p>
            <a:r>
              <a:rPr lang="en-US" sz="2000" dirty="0"/>
              <a:t>print(set1)</a:t>
            </a:r>
          </a:p>
          <a:p>
            <a:endParaRPr lang="en-US" sz="2000" dirty="0"/>
          </a:p>
          <a:p>
            <a:r>
              <a:rPr lang="en-US" sz="2000" dirty="0"/>
              <a:t># Creating a Set with the use of a List</a:t>
            </a:r>
          </a:p>
          <a:p>
            <a:r>
              <a:rPr lang="en-US" sz="2000" dirty="0"/>
              <a:t>set1 = set(["data", "analysis", "course"])</a:t>
            </a:r>
          </a:p>
          <a:p>
            <a:r>
              <a:rPr lang="en-US" sz="2000" dirty="0"/>
              <a:t>print(set1)</a:t>
            </a:r>
          </a:p>
          <a:p>
            <a:endParaRPr lang="en-US" sz="2000" dirty="0"/>
          </a:p>
          <a:p>
            <a:r>
              <a:rPr lang="en-US" sz="2000" dirty="0"/>
              <a:t># Creating a Set with the use of a tuple</a:t>
            </a:r>
          </a:p>
          <a:p>
            <a:r>
              <a:rPr lang="en-US" sz="2000" dirty="0"/>
              <a:t>tup = ("course", "</a:t>
            </a:r>
            <a:r>
              <a:rPr lang="en-US" sz="2000" dirty="0" err="1"/>
              <a:t>anaLYSis</a:t>
            </a:r>
            <a:r>
              <a:rPr lang="en-US" sz="2000" dirty="0"/>
              <a:t>", "course")</a:t>
            </a:r>
          </a:p>
          <a:p>
            <a:r>
              <a:rPr lang="en-US" sz="2000" dirty="0"/>
              <a:t>print(set(tup))</a:t>
            </a:r>
          </a:p>
          <a:p>
            <a:endParaRPr lang="en-US" sz="2000" dirty="0"/>
          </a:p>
          <a:p>
            <a:r>
              <a:rPr lang="en-US" sz="2000" dirty="0"/>
              <a:t># Creating a Set with the use of a dictionary</a:t>
            </a:r>
          </a:p>
          <a:p>
            <a:r>
              <a:rPr lang="en-US" sz="2000" dirty="0"/>
              <a:t>d = {"data": 1, "analytics": 2, "data": 3}</a:t>
            </a:r>
          </a:p>
          <a:p>
            <a:r>
              <a:rPr lang="en-US" sz="2000" dirty="0"/>
              <a:t>print(set(d))</a:t>
            </a:r>
            <a:endParaRPr lang="en-GB" sz="2000" dirty="0"/>
          </a:p>
        </p:txBody>
      </p:sp>
      <p:sp>
        <p:nvSpPr>
          <p:cNvPr id="17" name="TextBox 16">
            <a:extLst>
              <a:ext uri="{FF2B5EF4-FFF2-40B4-BE49-F238E27FC236}">
                <a16:creationId xmlns:a16="http://schemas.microsoft.com/office/drawing/2014/main" id="{0EC5D435-6BFD-1CA4-4AF0-59EBCAD2D4F7}"/>
              </a:ext>
            </a:extLst>
          </p:cNvPr>
          <p:cNvSpPr txBox="1"/>
          <p:nvPr/>
        </p:nvSpPr>
        <p:spPr>
          <a:xfrm>
            <a:off x="5654350" y="2771008"/>
            <a:ext cx="3209732" cy="1754326"/>
          </a:xfrm>
          <a:prstGeom prst="rect">
            <a:avLst/>
          </a:prstGeom>
          <a:solidFill>
            <a:schemeClr val="accent6">
              <a:lumMod val="20000"/>
              <a:lumOff val="80000"/>
            </a:schemeClr>
          </a:solidFill>
        </p:spPr>
        <p:txBody>
          <a:bodyPr wrap="square">
            <a:spAutoFit/>
          </a:bodyPr>
          <a:lstStyle/>
          <a:p>
            <a:pPr>
              <a:buNone/>
            </a:pPr>
            <a:r>
              <a:rPr lang="en-GB" b="1" i="0" dirty="0">
                <a:solidFill>
                  <a:srgbClr val="273239"/>
                </a:solidFill>
                <a:effectLst/>
              </a:rPr>
              <a:t>Output</a:t>
            </a:r>
            <a:endParaRPr lang="en-GB" dirty="0"/>
          </a:p>
          <a:p>
            <a:r>
              <a:rPr lang="en-GB" dirty="0"/>
              <a:t>set()</a:t>
            </a:r>
          </a:p>
          <a:p>
            <a:r>
              <a:rPr lang="en-GB" dirty="0"/>
              <a:t>{'l', 't', 'a', '</a:t>
            </a:r>
            <a:r>
              <a:rPr lang="en-GB" dirty="0" err="1"/>
              <a:t>i</a:t>
            </a:r>
            <a:r>
              <a:rPr lang="en-GB" dirty="0"/>
              <a:t>', 's', 'n', 'c', 'd', 'y'}</a:t>
            </a:r>
          </a:p>
          <a:p>
            <a:r>
              <a:rPr lang="en-GB" dirty="0"/>
              <a:t>{'analysis', 'data', 'course'}</a:t>
            </a:r>
          </a:p>
          <a:p>
            <a:r>
              <a:rPr lang="en-GB" dirty="0"/>
              <a:t>{'</a:t>
            </a:r>
            <a:r>
              <a:rPr lang="en-GB" dirty="0" err="1"/>
              <a:t>anaLYSis</a:t>
            </a:r>
            <a:r>
              <a:rPr lang="en-GB" dirty="0"/>
              <a:t>', 'course'}</a:t>
            </a:r>
          </a:p>
          <a:p>
            <a:r>
              <a:rPr lang="en-GB" dirty="0"/>
              <a:t>{'analytics', 'data'}</a:t>
            </a:r>
          </a:p>
        </p:txBody>
      </p:sp>
    </p:spTree>
    <p:extLst>
      <p:ext uri="{BB962C8B-B14F-4D97-AF65-F5344CB8AC3E}">
        <p14:creationId xmlns:p14="http://schemas.microsoft.com/office/powerpoint/2010/main" val="1330552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5F08E18-D353-8CD0-4B56-D94BEC3C4A10}"/>
              </a:ext>
            </a:extLst>
          </p:cNvPr>
          <p:cNvSpPr txBox="1"/>
          <p:nvPr/>
        </p:nvSpPr>
        <p:spPr>
          <a:xfrm>
            <a:off x="385276" y="0"/>
            <a:ext cx="8478806" cy="3477875"/>
          </a:xfrm>
          <a:prstGeom prst="rect">
            <a:avLst/>
          </a:prstGeom>
          <a:noFill/>
          <a:ln w="3175">
            <a:solidFill>
              <a:schemeClr val="tx1"/>
            </a:solidFill>
          </a:ln>
        </p:spPr>
        <p:txBody>
          <a:bodyPr wrap="square">
            <a:spAutoFit/>
          </a:bodyPr>
          <a:lstStyle/>
          <a:p>
            <a:r>
              <a:rPr lang="en-US" sz="2000" b="1" dirty="0"/>
              <a:t>Unordered, Unindexed and Mutability</a:t>
            </a:r>
          </a:p>
          <a:p>
            <a:r>
              <a:rPr lang="en-US" sz="2000" dirty="0"/>
              <a:t>In set, the order of elements is not guaranteed to be the same as the order in which they were added. The output could vary each time we run the program. Also, the duplicate items entered are removed by itself.</a:t>
            </a:r>
          </a:p>
          <a:p>
            <a:endParaRPr lang="en-US" sz="2000" dirty="0"/>
          </a:p>
          <a:p>
            <a:r>
              <a:rPr lang="en-US" sz="2000" dirty="0"/>
              <a:t>Sets do not support indexing. Trying to access an element by index (set[0]) raises a </a:t>
            </a:r>
            <a:r>
              <a:rPr lang="en-US" sz="2000" dirty="0" err="1">
                <a:highlight>
                  <a:srgbClr val="FFFF00"/>
                </a:highlight>
              </a:rPr>
              <a:t>TypeError</a:t>
            </a:r>
            <a:r>
              <a:rPr lang="en-US" sz="2000" dirty="0"/>
              <a:t>.</a:t>
            </a:r>
          </a:p>
          <a:p>
            <a:endParaRPr lang="en-US" sz="2000" dirty="0"/>
          </a:p>
          <a:p>
            <a:r>
              <a:rPr lang="en-US" sz="2000" dirty="0"/>
              <a:t>We can add elements to the set using </a:t>
            </a:r>
            <a:r>
              <a:rPr lang="en-US" sz="2000" b="1" dirty="0"/>
              <a:t>add()</a:t>
            </a:r>
            <a:r>
              <a:rPr lang="en-US" sz="2000" dirty="0"/>
              <a:t>. We can remove elements from the set using </a:t>
            </a:r>
            <a:r>
              <a:rPr lang="en-US" sz="2000" b="1" dirty="0"/>
              <a:t>remove(). </a:t>
            </a:r>
            <a:r>
              <a:rPr lang="en-US" sz="2000" dirty="0"/>
              <a:t>The set changes after these operations, demonstrating its mutability. However, we cannot change its items directly.</a:t>
            </a:r>
            <a:endParaRPr lang="en-GB" sz="2000" dirty="0"/>
          </a:p>
        </p:txBody>
      </p:sp>
      <p:sp>
        <p:nvSpPr>
          <p:cNvPr id="9" name="TextBox 8">
            <a:extLst>
              <a:ext uri="{FF2B5EF4-FFF2-40B4-BE49-F238E27FC236}">
                <a16:creationId xmlns:a16="http://schemas.microsoft.com/office/drawing/2014/main" id="{31073239-7C2C-1FAA-912A-14C7FEB99967}"/>
              </a:ext>
            </a:extLst>
          </p:cNvPr>
          <p:cNvSpPr txBox="1"/>
          <p:nvPr/>
        </p:nvSpPr>
        <p:spPr>
          <a:xfrm>
            <a:off x="223935" y="3580838"/>
            <a:ext cx="5066663" cy="3170099"/>
          </a:xfrm>
          <a:prstGeom prst="rect">
            <a:avLst/>
          </a:prstGeom>
          <a:solidFill>
            <a:schemeClr val="accent6">
              <a:lumMod val="20000"/>
              <a:lumOff val="80000"/>
            </a:schemeClr>
          </a:solidFill>
        </p:spPr>
        <p:txBody>
          <a:bodyPr wrap="square">
            <a:spAutoFit/>
          </a:bodyPr>
          <a:lstStyle/>
          <a:p>
            <a:r>
              <a:rPr lang="en-GB" sz="2000" dirty="0"/>
              <a:t>set1 = {3, 1, 4, 1, 5, 9, 2}</a:t>
            </a:r>
          </a:p>
          <a:p>
            <a:r>
              <a:rPr lang="en-GB" sz="2000" dirty="0"/>
              <a:t>print(set1)  # Output may vary: {1, 2, 3, 4, 5, 9}</a:t>
            </a:r>
          </a:p>
          <a:p>
            <a:endParaRPr lang="en-GB" sz="2000" dirty="0"/>
          </a:p>
          <a:p>
            <a:r>
              <a:rPr lang="en-GB" sz="2000" dirty="0"/>
              <a:t># Unindexed: Accessing elements by index is not possible</a:t>
            </a:r>
          </a:p>
          <a:p>
            <a:r>
              <a:rPr lang="en-GB" sz="2000" dirty="0"/>
              <a:t># This will raise a </a:t>
            </a:r>
            <a:r>
              <a:rPr lang="en-GB" sz="2000" dirty="0" err="1"/>
              <a:t>TypeError</a:t>
            </a:r>
            <a:endParaRPr lang="en-GB" sz="2000" dirty="0"/>
          </a:p>
          <a:p>
            <a:r>
              <a:rPr lang="en-GB" sz="2000" dirty="0"/>
              <a:t>try:</a:t>
            </a:r>
          </a:p>
          <a:p>
            <a:r>
              <a:rPr lang="en-GB" sz="2000" dirty="0"/>
              <a:t>    print(set1[0])</a:t>
            </a:r>
          </a:p>
          <a:p>
            <a:r>
              <a:rPr lang="en-GB" sz="2000" dirty="0"/>
              <a:t>except </a:t>
            </a:r>
            <a:r>
              <a:rPr lang="en-GB" sz="2000" dirty="0" err="1"/>
              <a:t>TypeError</a:t>
            </a:r>
            <a:r>
              <a:rPr lang="en-GB" sz="2000" dirty="0"/>
              <a:t> as e:</a:t>
            </a:r>
          </a:p>
          <a:p>
            <a:r>
              <a:rPr lang="en-GB" sz="2000" dirty="0"/>
              <a:t>    print(e)</a:t>
            </a:r>
          </a:p>
        </p:txBody>
      </p:sp>
      <p:sp>
        <p:nvSpPr>
          <p:cNvPr id="13" name="TextBox 12">
            <a:extLst>
              <a:ext uri="{FF2B5EF4-FFF2-40B4-BE49-F238E27FC236}">
                <a16:creationId xmlns:a16="http://schemas.microsoft.com/office/drawing/2014/main" id="{7C6C9493-EE44-68C2-CB44-D54D348FC4F7}"/>
              </a:ext>
            </a:extLst>
          </p:cNvPr>
          <p:cNvSpPr txBox="1"/>
          <p:nvPr/>
        </p:nvSpPr>
        <p:spPr>
          <a:xfrm>
            <a:off x="5290598" y="4094783"/>
            <a:ext cx="3716554" cy="1015663"/>
          </a:xfrm>
          <a:prstGeom prst="rect">
            <a:avLst/>
          </a:prstGeom>
          <a:solidFill>
            <a:schemeClr val="accent5">
              <a:lumMod val="20000"/>
              <a:lumOff val="80000"/>
            </a:schemeClr>
          </a:solidFill>
        </p:spPr>
        <p:txBody>
          <a:bodyPr wrap="square">
            <a:spAutoFit/>
          </a:bodyPr>
          <a:lstStyle/>
          <a:p>
            <a:r>
              <a:rPr lang="en-US" sz="2000" dirty="0"/>
              <a:t>Output</a:t>
            </a:r>
          </a:p>
          <a:p>
            <a:r>
              <a:rPr lang="en-US" sz="2000" dirty="0"/>
              <a:t>{1, 2, 3, 4, 5, 9}</a:t>
            </a:r>
          </a:p>
          <a:p>
            <a:r>
              <a:rPr lang="en-US" sz="2000" dirty="0"/>
              <a:t>'set' object is not </a:t>
            </a:r>
            <a:r>
              <a:rPr lang="en-US" sz="2000" dirty="0" err="1"/>
              <a:t>subscriptable</a:t>
            </a:r>
            <a:endParaRPr lang="en-GB" sz="2000" dirty="0"/>
          </a:p>
        </p:txBody>
      </p:sp>
    </p:spTree>
    <p:extLst>
      <p:ext uri="{BB962C8B-B14F-4D97-AF65-F5344CB8AC3E}">
        <p14:creationId xmlns:p14="http://schemas.microsoft.com/office/powerpoint/2010/main" val="1878479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down)">
                                      <p:cBhvr>
                                        <p:cTn id="14" dur="580">
                                          <p:stCondLst>
                                            <p:cond delay="0"/>
                                          </p:stCondLst>
                                        </p:cTn>
                                        <p:tgtEl>
                                          <p:spTgt spid="13"/>
                                        </p:tgtEl>
                                      </p:cBhvr>
                                    </p:animEffect>
                                    <p:anim calcmode="lin" valueType="num">
                                      <p:cBhvr>
                                        <p:cTn id="15"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20" dur="26">
                                          <p:stCondLst>
                                            <p:cond delay="650"/>
                                          </p:stCondLst>
                                        </p:cTn>
                                        <p:tgtEl>
                                          <p:spTgt spid="13"/>
                                        </p:tgtEl>
                                      </p:cBhvr>
                                      <p:to x="100000" y="60000"/>
                                    </p:animScale>
                                    <p:animScale>
                                      <p:cBhvr>
                                        <p:cTn id="21" dur="166" decel="50000">
                                          <p:stCondLst>
                                            <p:cond delay="676"/>
                                          </p:stCondLst>
                                        </p:cTn>
                                        <p:tgtEl>
                                          <p:spTgt spid="13"/>
                                        </p:tgtEl>
                                      </p:cBhvr>
                                      <p:to x="100000" y="100000"/>
                                    </p:animScale>
                                    <p:animScale>
                                      <p:cBhvr>
                                        <p:cTn id="22" dur="26">
                                          <p:stCondLst>
                                            <p:cond delay="1312"/>
                                          </p:stCondLst>
                                        </p:cTn>
                                        <p:tgtEl>
                                          <p:spTgt spid="13"/>
                                        </p:tgtEl>
                                      </p:cBhvr>
                                      <p:to x="100000" y="80000"/>
                                    </p:animScale>
                                    <p:animScale>
                                      <p:cBhvr>
                                        <p:cTn id="23" dur="166" decel="50000">
                                          <p:stCondLst>
                                            <p:cond delay="1338"/>
                                          </p:stCondLst>
                                        </p:cTn>
                                        <p:tgtEl>
                                          <p:spTgt spid="13"/>
                                        </p:tgtEl>
                                      </p:cBhvr>
                                      <p:to x="100000" y="100000"/>
                                    </p:animScale>
                                    <p:animScale>
                                      <p:cBhvr>
                                        <p:cTn id="24" dur="26">
                                          <p:stCondLst>
                                            <p:cond delay="1642"/>
                                          </p:stCondLst>
                                        </p:cTn>
                                        <p:tgtEl>
                                          <p:spTgt spid="13"/>
                                        </p:tgtEl>
                                      </p:cBhvr>
                                      <p:to x="100000" y="90000"/>
                                    </p:animScale>
                                    <p:animScale>
                                      <p:cBhvr>
                                        <p:cTn id="25" dur="166" decel="50000">
                                          <p:stCondLst>
                                            <p:cond delay="1668"/>
                                          </p:stCondLst>
                                        </p:cTn>
                                        <p:tgtEl>
                                          <p:spTgt spid="13"/>
                                        </p:tgtEl>
                                      </p:cBhvr>
                                      <p:to x="100000" y="100000"/>
                                    </p:animScale>
                                    <p:animScale>
                                      <p:cBhvr>
                                        <p:cTn id="26" dur="26">
                                          <p:stCondLst>
                                            <p:cond delay="1808"/>
                                          </p:stCondLst>
                                        </p:cTn>
                                        <p:tgtEl>
                                          <p:spTgt spid="13"/>
                                        </p:tgtEl>
                                      </p:cBhvr>
                                      <p:to x="100000" y="95000"/>
                                    </p:animScale>
                                    <p:animScale>
                                      <p:cBhvr>
                                        <p:cTn id="27" dur="166" decel="50000">
                                          <p:stCondLst>
                                            <p:cond delay="1834"/>
                                          </p:stCondLst>
                                        </p:cTn>
                                        <p:tgtEl>
                                          <p:spTgt spid="1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88C790F-54D8-6B2C-4631-CE36ED7AFCB1}"/>
              </a:ext>
            </a:extLst>
          </p:cNvPr>
          <p:cNvSpPr txBox="1"/>
          <p:nvPr/>
        </p:nvSpPr>
        <p:spPr>
          <a:xfrm>
            <a:off x="497632" y="988853"/>
            <a:ext cx="8465976" cy="1323439"/>
          </a:xfrm>
          <a:prstGeom prst="rect">
            <a:avLst/>
          </a:prstGeom>
          <a:noFill/>
          <a:ln>
            <a:solidFill>
              <a:schemeClr val="accent1"/>
            </a:solidFill>
          </a:ln>
        </p:spPr>
        <p:txBody>
          <a:bodyPr wrap="square">
            <a:spAutoFit/>
          </a:bodyPr>
          <a:lstStyle/>
          <a:p>
            <a:r>
              <a:rPr lang="en-US" sz="2000" b="1" dirty="0"/>
              <a:t>Adding Elements to a Set in Python</a:t>
            </a:r>
          </a:p>
          <a:p>
            <a:r>
              <a:rPr lang="en-US" sz="2000" dirty="0"/>
              <a:t>We can add items to a set using </a:t>
            </a:r>
            <a:r>
              <a:rPr lang="en-US" sz="2000" dirty="0">
                <a:highlight>
                  <a:srgbClr val="FFFF00"/>
                </a:highlight>
              </a:rPr>
              <a:t>add() </a:t>
            </a:r>
            <a:r>
              <a:rPr lang="en-US" sz="2000" dirty="0"/>
              <a:t>method and </a:t>
            </a:r>
            <a:r>
              <a:rPr lang="en-US" sz="2000" dirty="0">
                <a:highlight>
                  <a:srgbClr val="FFFF00"/>
                </a:highlight>
              </a:rPr>
              <a:t>update() </a:t>
            </a:r>
            <a:r>
              <a:rPr lang="en-US" sz="2000" dirty="0"/>
              <a:t>method. </a:t>
            </a:r>
            <a:r>
              <a:rPr lang="en-US" sz="2000" dirty="0">
                <a:highlight>
                  <a:srgbClr val="FFFF00"/>
                </a:highlight>
              </a:rPr>
              <a:t>add() </a:t>
            </a:r>
            <a:r>
              <a:rPr lang="en-US" sz="2000" dirty="0"/>
              <a:t>method can be used to add only a single item. To add multiple items, we use </a:t>
            </a:r>
            <a:r>
              <a:rPr lang="en-US" sz="2000" b="1" dirty="0"/>
              <a:t>update() </a:t>
            </a:r>
            <a:r>
              <a:rPr lang="en-US" sz="2000" dirty="0"/>
              <a:t>method.</a:t>
            </a:r>
            <a:endParaRPr lang="en-GB" sz="2000" dirty="0"/>
          </a:p>
        </p:txBody>
      </p:sp>
      <p:sp>
        <p:nvSpPr>
          <p:cNvPr id="7" name="TextBox 6">
            <a:extLst>
              <a:ext uri="{FF2B5EF4-FFF2-40B4-BE49-F238E27FC236}">
                <a16:creationId xmlns:a16="http://schemas.microsoft.com/office/drawing/2014/main" id="{6331CBD1-05A6-C9F8-90E3-66D15B7A1214}"/>
              </a:ext>
            </a:extLst>
          </p:cNvPr>
          <p:cNvSpPr txBox="1"/>
          <p:nvPr/>
        </p:nvSpPr>
        <p:spPr>
          <a:xfrm>
            <a:off x="1918997" y="2857811"/>
            <a:ext cx="2391747" cy="3170099"/>
          </a:xfrm>
          <a:prstGeom prst="rect">
            <a:avLst/>
          </a:prstGeom>
          <a:solidFill>
            <a:schemeClr val="accent5">
              <a:lumMod val="20000"/>
              <a:lumOff val="80000"/>
            </a:schemeClr>
          </a:solidFill>
        </p:spPr>
        <p:txBody>
          <a:bodyPr wrap="square">
            <a:spAutoFit/>
          </a:bodyPr>
          <a:lstStyle/>
          <a:p>
            <a:r>
              <a:rPr lang="en-GB" sz="2000" dirty="0"/>
              <a:t># Creating a set</a:t>
            </a:r>
          </a:p>
          <a:p>
            <a:r>
              <a:rPr lang="en-GB" sz="2000" dirty="0"/>
              <a:t>set1 = {1, 2, 3}</a:t>
            </a:r>
          </a:p>
          <a:p>
            <a:endParaRPr lang="en-GB" sz="2000" dirty="0"/>
          </a:p>
          <a:p>
            <a:r>
              <a:rPr lang="en-GB" sz="2000" dirty="0"/>
              <a:t># Add one item</a:t>
            </a:r>
          </a:p>
          <a:p>
            <a:r>
              <a:rPr lang="en-GB" sz="2000" dirty="0"/>
              <a:t>set1.add(4)</a:t>
            </a:r>
          </a:p>
          <a:p>
            <a:endParaRPr lang="en-GB" sz="2000" dirty="0"/>
          </a:p>
          <a:p>
            <a:r>
              <a:rPr lang="en-GB" sz="2000" dirty="0"/>
              <a:t># Add multiple items</a:t>
            </a:r>
          </a:p>
          <a:p>
            <a:r>
              <a:rPr lang="en-GB" sz="2000" dirty="0"/>
              <a:t>set1.update([5, 6])</a:t>
            </a:r>
          </a:p>
          <a:p>
            <a:endParaRPr lang="en-GB" sz="2000" dirty="0"/>
          </a:p>
          <a:p>
            <a:r>
              <a:rPr lang="en-GB" sz="2000" dirty="0"/>
              <a:t>print(set1)</a:t>
            </a:r>
          </a:p>
        </p:txBody>
      </p:sp>
      <p:sp>
        <p:nvSpPr>
          <p:cNvPr id="9" name="TextBox 8">
            <a:extLst>
              <a:ext uri="{FF2B5EF4-FFF2-40B4-BE49-F238E27FC236}">
                <a16:creationId xmlns:a16="http://schemas.microsoft.com/office/drawing/2014/main" id="{69928547-E607-B09D-E9AA-0300E1AC1B6A}"/>
              </a:ext>
            </a:extLst>
          </p:cNvPr>
          <p:cNvSpPr txBox="1"/>
          <p:nvPr/>
        </p:nvSpPr>
        <p:spPr>
          <a:xfrm>
            <a:off x="4985657" y="3200696"/>
            <a:ext cx="1900335" cy="707886"/>
          </a:xfrm>
          <a:prstGeom prst="rect">
            <a:avLst/>
          </a:prstGeom>
          <a:solidFill>
            <a:schemeClr val="accent6">
              <a:lumMod val="20000"/>
              <a:lumOff val="80000"/>
            </a:schemeClr>
          </a:solidFill>
        </p:spPr>
        <p:txBody>
          <a:bodyPr wrap="square">
            <a:spAutoFit/>
          </a:bodyPr>
          <a:lstStyle/>
          <a:p>
            <a:r>
              <a:rPr lang="en-US" sz="2000" dirty="0"/>
              <a:t>Output</a:t>
            </a:r>
          </a:p>
          <a:p>
            <a:r>
              <a:rPr lang="en-US" sz="2000" dirty="0"/>
              <a:t>{1, 2, 3, 4, 5, 6}</a:t>
            </a:r>
            <a:endParaRPr lang="en-GB" sz="2000" dirty="0"/>
          </a:p>
        </p:txBody>
      </p:sp>
    </p:spTree>
    <p:extLst>
      <p:ext uri="{BB962C8B-B14F-4D97-AF65-F5344CB8AC3E}">
        <p14:creationId xmlns:p14="http://schemas.microsoft.com/office/powerpoint/2010/main" val="3418080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FF452E-F75A-E36E-D5B1-13655151E663}"/>
              </a:ext>
            </a:extLst>
          </p:cNvPr>
          <p:cNvSpPr txBox="1"/>
          <p:nvPr/>
        </p:nvSpPr>
        <p:spPr>
          <a:xfrm>
            <a:off x="842864" y="430201"/>
            <a:ext cx="7635551" cy="1631216"/>
          </a:xfrm>
          <a:prstGeom prst="rect">
            <a:avLst/>
          </a:prstGeom>
          <a:noFill/>
          <a:ln>
            <a:solidFill>
              <a:schemeClr val="accent1"/>
            </a:solidFill>
          </a:ln>
        </p:spPr>
        <p:txBody>
          <a:bodyPr wrap="square">
            <a:spAutoFit/>
          </a:bodyPr>
          <a:lstStyle/>
          <a:p>
            <a:r>
              <a:rPr lang="en-US" sz="2000" b="1" dirty="0"/>
              <a:t>Accessing a Set in Python</a:t>
            </a:r>
          </a:p>
          <a:p>
            <a:r>
              <a:rPr lang="en-US" sz="2000" dirty="0"/>
              <a:t>We can loop through a set to access set items as set is unindexed and do not support accessing elements by indexing. Also, we can use in keyword which is membership operator to check if an item exists in a set.</a:t>
            </a:r>
          </a:p>
        </p:txBody>
      </p:sp>
      <p:sp>
        <p:nvSpPr>
          <p:cNvPr id="9" name="TextBox 8">
            <a:extLst>
              <a:ext uri="{FF2B5EF4-FFF2-40B4-BE49-F238E27FC236}">
                <a16:creationId xmlns:a16="http://schemas.microsoft.com/office/drawing/2014/main" id="{6726E685-9F95-49F4-5EDE-BCE4A883CF8D}"/>
              </a:ext>
            </a:extLst>
          </p:cNvPr>
          <p:cNvSpPr txBox="1"/>
          <p:nvPr/>
        </p:nvSpPr>
        <p:spPr>
          <a:xfrm>
            <a:off x="842864" y="2234205"/>
            <a:ext cx="4572000" cy="2554545"/>
          </a:xfrm>
          <a:prstGeom prst="rect">
            <a:avLst/>
          </a:prstGeom>
          <a:solidFill>
            <a:schemeClr val="accent4">
              <a:lumMod val="20000"/>
              <a:lumOff val="80000"/>
            </a:schemeClr>
          </a:solidFill>
        </p:spPr>
        <p:txBody>
          <a:bodyPr wrap="square">
            <a:spAutoFit/>
          </a:bodyPr>
          <a:lstStyle/>
          <a:p>
            <a:r>
              <a:rPr lang="en-GB" sz="2000" dirty="0"/>
              <a:t>set1 = set(["we", "learn", "python."])</a:t>
            </a:r>
          </a:p>
          <a:p>
            <a:endParaRPr lang="en-GB" sz="2000" dirty="0"/>
          </a:p>
          <a:p>
            <a:r>
              <a:rPr lang="en-GB" sz="2000" dirty="0"/>
              <a:t># Accessing element using For loop</a:t>
            </a:r>
          </a:p>
          <a:p>
            <a:r>
              <a:rPr lang="en-GB" sz="2000" dirty="0"/>
              <a:t>for </a:t>
            </a:r>
            <a:r>
              <a:rPr lang="en-GB" sz="2000" dirty="0" err="1"/>
              <a:t>i</a:t>
            </a:r>
            <a:r>
              <a:rPr lang="en-GB" sz="2000" dirty="0"/>
              <a:t> in set1:</a:t>
            </a:r>
          </a:p>
          <a:p>
            <a:r>
              <a:rPr lang="en-GB" sz="2000" dirty="0"/>
              <a:t>    print(</a:t>
            </a:r>
            <a:r>
              <a:rPr lang="en-GB" sz="2000" dirty="0" err="1"/>
              <a:t>i</a:t>
            </a:r>
            <a:r>
              <a:rPr lang="en-GB" sz="2000" dirty="0"/>
              <a:t>, end=" ")</a:t>
            </a:r>
          </a:p>
          <a:p>
            <a:endParaRPr lang="en-GB" sz="2000" dirty="0"/>
          </a:p>
          <a:p>
            <a:r>
              <a:rPr lang="en-GB" sz="2000" dirty="0"/>
              <a:t># Checking the element# using in keyword</a:t>
            </a:r>
          </a:p>
          <a:p>
            <a:r>
              <a:rPr lang="en-GB" sz="2000" dirty="0"/>
              <a:t>print("learn" in set1)</a:t>
            </a:r>
          </a:p>
        </p:txBody>
      </p:sp>
      <p:sp>
        <p:nvSpPr>
          <p:cNvPr id="13" name="TextBox 12">
            <a:extLst>
              <a:ext uri="{FF2B5EF4-FFF2-40B4-BE49-F238E27FC236}">
                <a16:creationId xmlns:a16="http://schemas.microsoft.com/office/drawing/2014/main" id="{56E05E80-6E82-AC9C-5A3C-87F8D2643827}"/>
              </a:ext>
            </a:extLst>
          </p:cNvPr>
          <p:cNvSpPr txBox="1"/>
          <p:nvPr/>
        </p:nvSpPr>
        <p:spPr>
          <a:xfrm>
            <a:off x="5557937" y="3034396"/>
            <a:ext cx="2453948" cy="707886"/>
          </a:xfrm>
          <a:prstGeom prst="rect">
            <a:avLst/>
          </a:prstGeom>
          <a:solidFill>
            <a:schemeClr val="accent6">
              <a:lumMod val="20000"/>
              <a:lumOff val="80000"/>
            </a:schemeClr>
          </a:solidFill>
        </p:spPr>
        <p:txBody>
          <a:bodyPr wrap="square">
            <a:spAutoFit/>
          </a:bodyPr>
          <a:lstStyle/>
          <a:p>
            <a:r>
              <a:rPr lang="en-GB" sz="2000" dirty="0"/>
              <a:t>Output: </a:t>
            </a:r>
          </a:p>
          <a:p>
            <a:r>
              <a:rPr lang="en-GB" sz="2000" dirty="0"/>
              <a:t>learn we python. True</a:t>
            </a:r>
          </a:p>
        </p:txBody>
      </p:sp>
      <p:sp>
        <p:nvSpPr>
          <p:cNvPr id="17" name="TextBox 16">
            <a:extLst>
              <a:ext uri="{FF2B5EF4-FFF2-40B4-BE49-F238E27FC236}">
                <a16:creationId xmlns:a16="http://schemas.microsoft.com/office/drawing/2014/main" id="{B7D25425-4AA8-24C2-C67C-D9110A7D4D18}"/>
              </a:ext>
            </a:extLst>
          </p:cNvPr>
          <p:cNvSpPr txBox="1"/>
          <p:nvPr/>
        </p:nvSpPr>
        <p:spPr>
          <a:xfrm>
            <a:off x="842864" y="5055646"/>
            <a:ext cx="7635551" cy="1015663"/>
          </a:xfrm>
          <a:prstGeom prst="rect">
            <a:avLst/>
          </a:prstGeom>
          <a:noFill/>
        </p:spPr>
        <p:txBody>
          <a:bodyPr wrap="square">
            <a:spAutoFit/>
          </a:bodyPr>
          <a:lstStyle/>
          <a:p>
            <a:r>
              <a:rPr lang="en-US" sz="2000" b="1" dirty="0"/>
              <a:t>Explanation:</a:t>
            </a:r>
            <a:endParaRPr lang="en-US" sz="2000" dirty="0"/>
          </a:p>
          <a:p>
            <a:r>
              <a:rPr lang="en-US" sz="2000" dirty="0"/>
              <a:t>This loop will print each item in the set. Since sets are unordered, the order of items printed is not guaranteed.</a:t>
            </a:r>
            <a:endParaRPr lang="en-GB" sz="2000" dirty="0"/>
          </a:p>
        </p:txBody>
      </p:sp>
    </p:spTree>
    <p:extLst>
      <p:ext uri="{BB962C8B-B14F-4D97-AF65-F5344CB8AC3E}">
        <p14:creationId xmlns:p14="http://schemas.microsoft.com/office/powerpoint/2010/main" val="4133839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6CE69F3-1134-544F-E562-7793B0522554}"/>
              </a:ext>
            </a:extLst>
          </p:cNvPr>
          <p:cNvSpPr txBox="1"/>
          <p:nvPr/>
        </p:nvSpPr>
        <p:spPr>
          <a:xfrm>
            <a:off x="578498" y="912473"/>
            <a:ext cx="7999445" cy="2677656"/>
          </a:xfrm>
          <a:prstGeom prst="rect">
            <a:avLst/>
          </a:prstGeom>
          <a:noFill/>
          <a:ln>
            <a:solidFill>
              <a:schemeClr val="accent1"/>
            </a:solidFill>
          </a:ln>
        </p:spPr>
        <p:txBody>
          <a:bodyPr wrap="square">
            <a:spAutoFit/>
          </a:bodyPr>
          <a:lstStyle/>
          <a:p>
            <a:pPr algn="ctr"/>
            <a:r>
              <a:rPr lang="en-US" sz="2400" b="1" dirty="0"/>
              <a:t>Removing Elements from the Set</a:t>
            </a:r>
          </a:p>
          <a:p>
            <a:pPr algn="ctr"/>
            <a:endParaRPr lang="en-US" sz="2400" b="1" dirty="0"/>
          </a:p>
          <a:p>
            <a:r>
              <a:rPr lang="en-US" sz="2000" dirty="0"/>
              <a:t>We can remove an element from a set in Python using several methods.</a:t>
            </a:r>
          </a:p>
          <a:p>
            <a:r>
              <a:rPr lang="en-US" sz="2000" dirty="0"/>
              <a:t>Each method works slightly differently :</a:t>
            </a:r>
          </a:p>
          <a:p>
            <a:endParaRPr lang="en-US" sz="2000" dirty="0"/>
          </a:p>
          <a:p>
            <a:r>
              <a:rPr lang="en-US" sz="2000" dirty="0"/>
              <a:t>Using </a:t>
            </a:r>
            <a:r>
              <a:rPr lang="en-US" sz="2000" dirty="0">
                <a:highlight>
                  <a:srgbClr val="FFFF00"/>
                </a:highlight>
              </a:rPr>
              <a:t>remove() Method </a:t>
            </a:r>
            <a:r>
              <a:rPr lang="en-US" sz="2000" dirty="0"/>
              <a:t>or </a:t>
            </a:r>
            <a:r>
              <a:rPr lang="en-US" sz="2000" dirty="0">
                <a:highlight>
                  <a:srgbClr val="FFFF00"/>
                </a:highlight>
              </a:rPr>
              <a:t>discard() Method</a:t>
            </a:r>
          </a:p>
          <a:p>
            <a:r>
              <a:rPr lang="en-US" sz="2000" dirty="0"/>
              <a:t>Using </a:t>
            </a:r>
            <a:r>
              <a:rPr lang="en-US" sz="2000" dirty="0">
                <a:highlight>
                  <a:srgbClr val="FFFF00"/>
                </a:highlight>
              </a:rPr>
              <a:t>pop() Method</a:t>
            </a:r>
          </a:p>
          <a:p>
            <a:r>
              <a:rPr lang="en-US" sz="2000" dirty="0"/>
              <a:t>Using </a:t>
            </a:r>
            <a:r>
              <a:rPr lang="en-US" sz="2000" dirty="0">
                <a:highlight>
                  <a:srgbClr val="FFFF00"/>
                </a:highlight>
              </a:rPr>
              <a:t>clear() Method</a:t>
            </a:r>
            <a:endParaRPr lang="en-GB" dirty="0">
              <a:highlight>
                <a:srgbClr val="FFFF00"/>
              </a:highlight>
            </a:endParaRPr>
          </a:p>
        </p:txBody>
      </p:sp>
      <p:sp>
        <p:nvSpPr>
          <p:cNvPr id="9" name="TextBox 8">
            <a:extLst>
              <a:ext uri="{FF2B5EF4-FFF2-40B4-BE49-F238E27FC236}">
                <a16:creationId xmlns:a16="http://schemas.microsoft.com/office/drawing/2014/main" id="{461EC11D-78C2-AA97-5291-24D7FB955234}"/>
              </a:ext>
            </a:extLst>
          </p:cNvPr>
          <p:cNvSpPr txBox="1"/>
          <p:nvPr/>
        </p:nvSpPr>
        <p:spPr>
          <a:xfrm>
            <a:off x="513184" y="4344385"/>
            <a:ext cx="8195387" cy="1323439"/>
          </a:xfrm>
          <a:prstGeom prst="rect">
            <a:avLst/>
          </a:prstGeom>
          <a:noFill/>
        </p:spPr>
        <p:txBody>
          <a:bodyPr wrap="square">
            <a:spAutoFit/>
          </a:bodyPr>
          <a:lstStyle/>
          <a:p>
            <a:r>
              <a:rPr lang="en-US" sz="2000" dirty="0"/>
              <a:t>remove() method removes a specified element from the set. If the element is not present in the set, it raises a </a:t>
            </a:r>
            <a:r>
              <a:rPr lang="en-US" sz="2000" dirty="0" err="1"/>
              <a:t>KeyError</a:t>
            </a:r>
            <a:r>
              <a:rPr lang="en-US" sz="2000" dirty="0"/>
              <a:t>. </a:t>
            </a:r>
          </a:p>
          <a:p>
            <a:r>
              <a:rPr lang="en-US" sz="2000" dirty="0"/>
              <a:t>discard() method also removes a specified element from the set. Unlike remove(), if the element is not found, it does not raise an error.</a:t>
            </a:r>
            <a:endParaRPr lang="en-GB" sz="2000" dirty="0"/>
          </a:p>
        </p:txBody>
      </p:sp>
    </p:spTree>
    <p:extLst>
      <p:ext uri="{BB962C8B-B14F-4D97-AF65-F5344CB8AC3E}">
        <p14:creationId xmlns:p14="http://schemas.microsoft.com/office/powerpoint/2010/main" val="11090750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1FB12B-1082-2C2F-7463-592CA4FEA71A}"/>
              </a:ext>
            </a:extLst>
          </p:cNvPr>
          <p:cNvSpPr txBox="1"/>
          <p:nvPr/>
        </p:nvSpPr>
        <p:spPr>
          <a:xfrm>
            <a:off x="1800807" y="731721"/>
            <a:ext cx="5539274" cy="5078313"/>
          </a:xfrm>
          <a:prstGeom prst="rect">
            <a:avLst/>
          </a:prstGeom>
          <a:solidFill>
            <a:schemeClr val="accent4">
              <a:lumMod val="20000"/>
              <a:lumOff val="80000"/>
            </a:schemeClr>
          </a:solidFill>
        </p:spPr>
        <p:txBody>
          <a:bodyPr wrap="square">
            <a:spAutoFit/>
          </a:bodyPr>
          <a:lstStyle/>
          <a:p>
            <a:r>
              <a:rPr lang="en-GB" dirty="0"/>
              <a:t># Using Remove Method</a:t>
            </a:r>
          </a:p>
          <a:p>
            <a:r>
              <a:rPr lang="en-GB" dirty="0"/>
              <a:t>set1 = {1, 2, "</a:t>
            </a:r>
            <a:r>
              <a:rPr lang="en-GB" dirty="0" err="1"/>
              <a:t>microsoft</a:t>
            </a:r>
            <a:r>
              <a:rPr lang="en-GB" dirty="0"/>
              <a:t>", "google", 5}</a:t>
            </a:r>
          </a:p>
          <a:p>
            <a:r>
              <a:rPr lang="en-GB" dirty="0"/>
              <a:t>set1.remove("</a:t>
            </a:r>
            <a:r>
              <a:rPr lang="en-GB" dirty="0" err="1"/>
              <a:t>microsoft</a:t>
            </a:r>
            <a:r>
              <a:rPr lang="en-GB" dirty="0"/>
              <a:t>")</a:t>
            </a:r>
          </a:p>
          <a:p>
            <a:r>
              <a:rPr lang="en-GB" dirty="0"/>
              <a:t>print(set1)  </a:t>
            </a:r>
          </a:p>
          <a:p>
            <a:endParaRPr lang="en-GB" dirty="0"/>
          </a:p>
          <a:p>
            <a:r>
              <a:rPr lang="en-GB" dirty="0"/>
              <a:t># Attempting to remove an element that does not exist</a:t>
            </a:r>
          </a:p>
          <a:p>
            <a:r>
              <a:rPr lang="en-GB" dirty="0"/>
              <a:t>try:</a:t>
            </a:r>
          </a:p>
          <a:p>
            <a:r>
              <a:rPr lang="en-GB" dirty="0"/>
              <a:t>    set1.remove(10)</a:t>
            </a:r>
          </a:p>
          <a:p>
            <a:r>
              <a:rPr lang="en-GB" dirty="0"/>
              <a:t>except </a:t>
            </a:r>
            <a:r>
              <a:rPr lang="en-GB" dirty="0" err="1"/>
              <a:t>KeyError</a:t>
            </a:r>
            <a:r>
              <a:rPr lang="en-GB" dirty="0"/>
              <a:t> as e:</a:t>
            </a:r>
          </a:p>
          <a:p>
            <a:r>
              <a:rPr lang="en-GB" dirty="0"/>
              <a:t>    print("Error:", e)  </a:t>
            </a:r>
          </a:p>
          <a:p>
            <a:endParaRPr lang="en-GB" dirty="0"/>
          </a:p>
          <a:p>
            <a:r>
              <a:rPr lang="en-GB" dirty="0"/>
              <a:t># Using discard() Method</a:t>
            </a:r>
          </a:p>
          <a:p>
            <a:r>
              <a:rPr lang="en-GB" dirty="0"/>
              <a:t>set1.discard(4)</a:t>
            </a:r>
          </a:p>
          <a:p>
            <a:r>
              <a:rPr lang="en-GB" dirty="0"/>
              <a:t>print(set1)  </a:t>
            </a:r>
          </a:p>
          <a:p>
            <a:endParaRPr lang="en-GB" dirty="0"/>
          </a:p>
          <a:p>
            <a:r>
              <a:rPr lang="en-GB" dirty="0"/>
              <a:t># Attempting to discard an element that does not exist</a:t>
            </a:r>
          </a:p>
          <a:p>
            <a:r>
              <a:rPr lang="en-GB" dirty="0"/>
              <a:t>set1.discard(10)  # No error raised</a:t>
            </a:r>
          </a:p>
          <a:p>
            <a:r>
              <a:rPr lang="en-GB" dirty="0"/>
              <a:t>print(set1)</a:t>
            </a:r>
          </a:p>
        </p:txBody>
      </p:sp>
      <p:sp>
        <p:nvSpPr>
          <p:cNvPr id="7" name="TextBox 6">
            <a:extLst>
              <a:ext uri="{FF2B5EF4-FFF2-40B4-BE49-F238E27FC236}">
                <a16:creationId xmlns:a16="http://schemas.microsoft.com/office/drawing/2014/main" id="{521DB038-24FF-A39F-2916-393FB420E582}"/>
              </a:ext>
            </a:extLst>
          </p:cNvPr>
          <p:cNvSpPr txBox="1"/>
          <p:nvPr/>
        </p:nvSpPr>
        <p:spPr>
          <a:xfrm>
            <a:off x="4954556" y="2724644"/>
            <a:ext cx="2049625" cy="1477328"/>
          </a:xfrm>
          <a:prstGeom prst="rect">
            <a:avLst/>
          </a:prstGeom>
          <a:solidFill>
            <a:schemeClr val="accent6">
              <a:lumMod val="20000"/>
              <a:lumOff val="80000"/>
            </a:schemeClr>
          </a:solidFill>
        </p:spPr>
        <p:txBody>
          <a:bodyPr wrap="square">
            <a:spAutoFit/>
          </a:bodyPr>
          <a:lstStyle/>
          <a:p>
            <a:r>
              <a:rPr lang="en-GB" b="1" dirty="0"/>
              <a:t>Output</a:t>
            </a:r>
          </a:p>
          <a:p>
            <a:r>
              <a:rPr lang="en-GB" dirty="0"/>
              <a:t>{1, 2, 5, 'google'}</a:t>
            </a:r>
          </a:p>
          <a:p>
            <a:r>
              <a:rPr lang="en-GB" dirty="0"/>
              <a:t>Error: 10</a:t>
            </a:r>
          </a:p>
          <a:p>
            <a:r>
              <a:rPr lang="en-GB" dirty="0"/>
              <a:t>{1, 2, 5, 'google'}</a:t>
            </a:r>
          </a:p>
          <a:p>
            <a:r>
              <a:rPr lang="en-GB" dirty="0"/>
              <a:t>{1, 2, 5, 'google'}</a:t>
            </a:r>
          </a:p>
        </p:txBody>
      </p:sp>
    </p:spTree>
    <p:extLst>
      <p:ext uri="{BB962C8B-B14F-4D97-AF65-F5344CB8AC3E}">
        <p14:creationId xmlns:p14="http://schemas.microsoft.com/office/powerpoint/2010/main" val="3827727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639E41-EA72-F6C4-7A1B-2E7494C59652}"/>
              </a:ext>
            </a:extLst>
          </p:cNvPr>
          <p:cNvSpPr txBox="1"/>
          <p:nvPr/>
        </p:nvSpPr>
        <p:spPr>
          <a:xfrm>
            <a:off x="80866" y="178465"/>
            <a:ext cx="8988490" cy="1631216"/>
          </a:xfrm>
          <a:prstGeom prst="rect">
            <a:avLst/>
          </a:prstGeom>
          <a:noFill/>
          <a:ln>
            <a:solidFill>
              <a:schemeClr val="accent1"/>
            </a:solidFill>
          </a:ln>
        </p:spPr>
        <p:txBody>
          <a:bodyPr wrap="square">
            <a:spAutoFit/>
          </a:bodyPr>
          <a:lstStyle/>
          <a:p>
            <a:r>
              <a:rPr lang="en-US" sz="2000" b="1" dirty="0"/>
              <a:t>Using pop() Method</a:t>
            </a:r>
          </a:p>
          <a:p>
            <a:r>
              <a:rPr lang="en-US" sz="2000" dirty="0"/>
              <a:t>pop() method removes and returns an arbitrary element from the set. This means we don't know which element will be removed. If the set is empty, it raises a </a:t>
            </a:r>
            <a:r>
              <a:rPr lang="en-US" sz="2000" dirty="0" err="1"/>
              <a:t>KeyError</a:t>
            </a:r>
            <a:r>
              <a:rPr lang="en-US" sz="2000" dirty="0"/>
              <a:t>.</a:t>
            </a:r>
          </a:p>
          <a:p>
            <a:r>
              <a:rPr lang="en-US" sz="2000" u="sng" dirty="0"/>
              <a:t>Note</a:t>
            </a:r>
            <a:r>
              <a:rPr lang="en-US" sz="2000" dirty="0"/>
              <a:t>: If the set is unordered then there's no such way to determine which element is popped by using the pop() function. </a:t>
            </a:r>
            <a:endParaRPr lang="en-GB" sz="2000" dirty="0"/>
          </a:p>
        </p:txBody>
      </p:sp>
      <p:sp>
        <p:nvSpPr>
          <p:cNvPr id="7" name="TextBox 6">
            <a:extLst>
              <a:ext uri="{FF2B5EF4-FFF2-40B4-BE49-F238E27FC236}">
                <a16:creationId xmlns:a16="http://schemas.microsoft.com/office/drawing/2014/main" id="{BF6AAD9C-887E-B237-6BFE-7736FE6BE710}"/>
              </a:ext>
            </a:extLst>
          </p:cNvPr>
          <p:cNvSpPr txBox="1"/>
          <p:nvPr/>
        </p:nvSpPr>
        <p:spPr>
          <a:xfrm>
            <a:off x="410547" y="1983853"/>
            <a:ext cx="4572000" cy="4801314"/>
          </a:xfrm>
          <a:prstGeom prst="rect">
            <a:avLst/>
          </a:prstGeom>
          <a:solidFill>
            <a:schemeClr val="accent6">
              <a:lumMod val="20000"/>
              <a:lumOff val="80000"/>
            </a:schemeClr>
          </a:solidFill>
        </p:spPr>
        <p:txBody>
          <a:bodyPr wrap="square">
            <a:spAutoFit/>
          </a:bodyPr>
          <a:lstStyle/>
          <a:p>
            <a:r>
              <a:rPr lang="en-GB" dirty="0"/>
              <a:t>set1 = {1, 2, 3, 4, 5}</a:t>
            </a:r>
          </a:p>
          <a:p>
            <a:r>
              <a:rPr lang="en-GB" dirty="0" err="1"/>
              <a:t>val</a:t>
            </a:r>
            <a:r>
              <a:rPr lang="en-GB" dirty="0"/>
              <a:t> = set1.pop()</a:t>
            </a:r>
          </a:p>
          <a:p>
            <a:r>
              <a:rPr lang="en-GB" dirty="0"/>
              <a:t>print(</a:t>
            </a:r>
            <a:r>
              <a:rPr lang="en-GB" dirty="0" err="1"/>
              <a:t>val</a:t>
            </a:r>
            <a:r>
              <a:rPr lang="en-GB" dirty="0"/>
              <a:t>)</a:t>
            </a:r>
          </a:p>
          <a:p>
            <a:r>
              <a:rPr lang="en-GB" dirty="0"/>
              <a:t>print(set1)</a:t>
            </a:r>
          </a:p>
          <a:p>
            <a:endParaRPr lang="en-GB" dirty="0"/>
          </a:p>
          <a:p>
            <a:r>
              <a:rPr lang="en-GB" b="1" dirty="0"/>
              <a:t># Using pop on an empty set</a:t>
            </a:r>
          </a:p>
          <a:p>
            <a:r>
              <a:rPr lang="en-GB" dirty="0"/>
              <a:t>set1.clear()  # Clear the set to make it empty</a:t>
            </a:r>
          </a:p>
          <a:p>
            <a:r>
              <a:rPr lang="en-GB" dirty="0"/>
              <a:t>try:</a:t>
            </a:r>
          </a:p>
          <a:p>
            <a:r>
              <a:rPr lang="en-GB" dirty="0"/>
              <a:t>    set1.pop()</a:t>
            </a:r>
          </a:p>
          <a:p>
            <a:r>
              <a:rPr lang="en-GB" dirty="0"/>
              <a:t>except </a:t>
            </a:r>
            <a:r>
              <a:rPr lang="en-GB" dirty="0" err="1"/>
              <a:t>KeyError</a:t>
            </a:r>
            <a:r>
              <a:rPr lang="en-GB" dirty="0"/>
              <a:t> as e:</a:t>
            </a:r>
          </a:p>
          <a:p>
            <a:r>
              <a:rPr lang="en-GB" dirty="0"/>
              <a:t>    print("Error:", e)</a:t>
            </a:r>
          </a:p>
          <a:p>
            <a:endParaRPr lang="en-GB" dirty="0"/>
          </a:p>
          <a:p>
            <a:r>
              <a:rPr lang="en-US" b="1" dirty="0"/>
              <a:t>Output</a:t>
            </a:r>
          </a:p>
          <a:p>
            <a:r>
              <a:rPr lang="en-US" dirty="0"/>
              <a:t>1</a:t>
            </a:r>
          </a:p>
          <a:p>
            <a:r>
              <a:rPr lang="en-US" dirty="0"/>
              <a:t>{2, 3, 4, 5}</a:t>
            </a:r>
          </a:p>
          <a:p>
            <a:r>
              <a:rPr lang="en-US" dirty="0"/>
              <a:t>Error: 'pop from an empty set'</a:t>
            </a:r>
            <a:endParaRPr lang="en-GB" dirty="0"/>
          </a:p>
          <a:p>
            <a:endParaRPr lang="en-GB" dirty="0"/>
          </a:p>
        </p:txBody>
      </p:sp>
      <p:sp>
        <p:nvSpPr>
          <p:cNvPr id="12" name="TextBox 11">
            <a:extLst>
              <a:ext uri="{FF2B5EF4-FFF2-40B4-BE49-F238E27FC236}">
                <a16:creationId xmlns:a16="http://schemas.microsoft.com/office/drawing/2014/main" id="{43DF68E4-C021-E732-E483-3454247FA07A}"/>
              </a:ext>
            </a:extLst>
          </p:cNvPr>
          <p:cNvSpPr txBox="1"/>
          <p:nvPr/>
        </p:nvSpPr>
        <p:spPr>
          <a:xfrm>
            <a:off x="5175380" y="2144810"/>
            <a:ext cx="3968620" cy="1323439"/>
          </a:xfrm>
          <a:prstGeom prst="rect">
            <a:avLst/>
          </a:prstGeom>
          <a:noFill/>
          <a:ln>
            <a:solidFill>
              <a:schemeClr val="accent1"/>
            </a:solidFill>
          </a:ln>
        </p:spPr>
        <p:txBody>
          <a:bodyPr wrap="square">
            <a:spAutoFit/>
          </a:bodyPr>
          <a:lstStyle/>
          <a:p>
            <a:r>
              <a:rPr lang="en-US" sz="2000" dirty="0"/>
              <a:t>Using clear() Method</a:t>
            </a:r>
          </a:p>
          <a:p>
            <a:r>
              <a:rPr lang="en-US" sz="2000" dirty="0"/>
              <a:t>clear() method removes all elements from the set, leaving it empty.</a:t>
            </a:r>
            <a:endParaRPr lang="en-GB" sz="2000" dirty="0"/>
          </a:p>
        </p:txBody>
      </p:sp>
      <p:sp>
        <p:nvSpPr>
          <p:cNvPr id="13" name="TextBox 12">
            <a:extLst>
              <a:ext uri="{FF2B5EF4-FFF2-40B4-BE49-F238E27FC236}">
                <a16:creationId xmlns:a16="http://schemas.microsoft.com/office/drawing/2014/main" id="{3CC60697-2FAF-C82D-D705-DE8120DEA491}"/>
              </a:ext>
            </a:extLst>
          </p:cNvPr>
          <p:cNvSpPr txBox="1"/>
          <p:nvPr/>
        </p:nvSpPr>
        <p:spPr>
          <a:xfrm>
            <a:off x="5175380" y="3709221"/>
            <a:ext cx="3436776" cy="1323439"/>
          </a:xfrm>
          <a:prstGeom prst="rect">
            <a:avLst/>
          </a:prstGeom>
          <a:solidFill>
            <a:schemeClr val="bg1">
              <a:lumMod val="95000"/>
            </a:schemeClr>
          </a:solidFill>
        </p:spPr>
        <p:txBody>
          <a:bodyPr wrap="square">
            <a:spAutoFit/>
          </a:bodyPr>
          <a:lstStyle/>
          <a:p>
            <a:r>
              <a:rPr lang="en-GB" sz="2000" dirty="0"/>
              <a:t>set1 = {1, "Facebook", 3, 4, 5}</a:t>
            </a:r>
          </a:p>
          <a:p>
            <a:r>
              <a:rPr lang="en-GB" sz="2000" dirty="0"/>
              <a:t>set1.clear()</a:t>
            </a:r>
          </a:p>
          <a:p>
            <a:r>
              <a:rPr lang="en-GB" sz="2000" dirty="0"/>
              <a:t>print(set1)</a:t>
            </a:r>
          </a:p>
          <a:p>
            <a:r>
              <a:rPr lang="en-GB" sz="2000" dirty="0"/>
              <a:t>Output : set()</a:t>
            </a:r>
          </a:p>
        </p:txBody>
      </p:sp>
    </p:spTree>
    <p:extLst>
      <p:ext uri="{BB962C8B-B14F-4D97-AF65-F5344CB8AC3E}">
        <p14:creationId xmlns:p14="http://schemas.microsoft.com/office/powerpoint/2010/main" val="3690608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fill="hold"/>
                                        <p:tgtEl>
                                          <p:spTgt spid="12"/>
                                        </p:tgtEl>
                                        <p:attrNameLst>
                                          <p:attrName>ppt_x</p:attrName>
                                        </p:attrNameLst>
                                      </p:cBhvr>
                                      <p:tavLst>
                                        <p:tav tm="0">
                                          <p:val>
                                            <p:strVal val="#ppt_x"/>
                                          </p:val>
                                        </p:tav>
                                        <p:tav tm="100000">
                                          <p:val>
                                            <p:strVal val="#ppt_x"/>
                                          </p:val>
                                        </p:tav>
                                      </p:tavLst>
                                    </p:anim>
                                    <p:anim calcmode="lin" valueType="num">
                                      <p:cBhvr additive="base">
                                        <p:cTn id="1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1000"/>
                                        <p:tgtEl>
                                          <p:spTgt spid="13"/>
                                        </p:tgtEl>
                                      </p:cBhvr>
                                    </p:animEffect>
                                    <p:anim calcmode="lin" valueType="num">
                                      <p:cBhvr>
                                        <p:cTn id="21" dur="1000" fill="hold"/>
                                        <p:tgtEl>
                                          <p:spTgt spid="13"/>
                                        </p:tgtEl>
                                        <p:attrNameLst>
                                          <p:attrName>ppt_x</p:attrName>
                                        </p:attrNameLst>
                                      </p:cBhvr>
                                      <p:tavLst>
                                        <p:tav tm="0">
                                          <p:val>
                                            <p:strVal val="#ppt_x"/>
                                          </p:val>
                                        </p:tav>
                                        <p:tav tm="100000">
                                          <p:val>
                                            <p:strVal val="#ppt_x"/>
                                          </p:val>
                                        </p:tav>
                                      </p:tavLst>
                                    </p:anim>
                                    <p:anim calcmode="lin" valueType="num">
                                      <p:cBhvr>
                                        <p:cTn id="2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D5E758-0F66-D7FD-8202-BE72F47E6799}"/>
              </a:ext>
            </a:extLst>
          </p:cNvPr>
          <p:cNvSpPr>
            <a:spLocks noGrp="1"/>
          </p:cNvSpPr>
          <p:nvPr>
            <p:ph type="title"/>
          </p:nvPr>
        </p:nvSpPr>
        <p:spPr>
          <a:xfrm>
            <a:off x="3973321" y="640080"/>
            <a:ext cx="4688333" cy="3566160"/>
          </a:xfrm>
        </p:spPr>
        <p:txBody>
          <a:bodyPr vert="horz" lIns="91440" tIns="45720" rIns="91440" bIns="45720" rtlCol="0" anchor="b">
            <a:normAutofit/>
          </a:bodyPr>
          <a:lstStyle/>
          <a:p>
            <a:pPr algn="l" defTabSz="914400">
              <a:lnSpc>
                <a:spcPct val="90000"/>
              </a:lnSpc>
            </a:pPr>
            <a:r>
              <a:rPr lang="en-US" sz="4700"/>
              <a:t>File handling</a:t>
            </a:r>
          </a:p>
        </p:txBody>
      </p:sp>
      <p:pic>
        <p:nvPicPr>
          <p:cNvPr id="4" name="Picture 3" descr="Stack of files">
            <a:extLst>
              <a:ext uri="{FF2B5EF4-FFF2-40B4-BE49-F238E27FC236}">
                <a16:creationId xmlns:a16="http://schemas.microsoft.com/office/drawing/2014/main" id="{31A67B26-EBA3-ADFE-EA03-92ABEFA8396C}"/>
              </a:ext>
            </a:extLst>
          </p:cNvPr>
          <p:cNvPicPr>
            <a:picLocks noChangeAspect="1"/>
          </p:cNvPicPr>
          <p:nvPr/>
        </p:nvPicPr>
        <p:blipFill>
          <a:blip r:embed="rId2"/>
          <a:srcRect l="34536" r="31466" b="-1"/>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0"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646" y="4409267"/>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3076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4A2BDDC-BDD3-59DA-0499-648841C85FE5}"/>
              </a:ext>
            </a:extLst>
          </p:cNvPr>
          <p:cNvSpPr txBox="1"/>
          <p:nvPr/>
        </p:nvSpPr>
        <p:spPr>
          <a:xfrm>
            <a:off x="805542" y="209795"/>
            <a:ext cx="7212564" cy="1692771"/>
          </a:xfrm>
          <a:prstGeom prst="rect">
            <a:avLst/>
          </a:prstGeom>
          <a:noFill/>
        </p:spPr>
        <p:txBody>
          <a:bodyPr wrap="square">
            <a:spAutoFit/>
          </a:bodyPr>
          <a:lstStyle/>
          <a:p>
            <a:r>
              <a:rPr lang="en-US" sz="2400" b="1" dirty="0"/>
              <a:t>Why do we need File Handling</a:t>
            </a:r>
          </a:p>
          <a:p>
            <a:pPr fontAlgn="base"/>
            <a:r>
              <a:rPr lang="en-US" sz="2000" dirty="0"/>
              <a:t>To store data permanently, even after the program ends.</a:t>
            </a:r>
          </a:p>
          <a:p>
            <a:pPr fontAlgn="base"/>
            <a:r>
              <a:rPr lang="en-US" sz="2000" dirty="0"/>
              <a:t>To access external files like </a:t>
            </a:r>
            <a:r>
              <a:rPr lang="en-US" sz="2000" dirty="0">
                <a:highlight>
                  <a:srgbClr val="FFFF00"/>
                </a:highlight>
              </a:rPr>
              <a:t>.txt, .csv, .</a:t>
            </a:r>
            <a:r>
              <a:rPr lang="en-US" sz="2000" dirty="0" err="1">
                <a:highlight>
                  <a:srgbClr val="FFFF00"/>
                </a:highlight>
              </a:rPr>
              <a:t>json</a:t>
            </a:r>
            <a:r>
              <a:rPr lang="en-US" sz="2000" dirty="0">
                <a:highlight>
                  <a:srgbClr val="FFFF00"/>
                </a:highlight>
              </a:rPr>
              <a:t>, </a:t>
            </a:r>
            <a:r>
              <a:rPr lang="en-US" sz="2000" dirty="0"/>
              <a:t>etc.</a:t>
            </a:r>
          </a:p>
          <a:p>
            <a:pPr fontAlgn="base"/>
            <a:r>
              <a:rPr lang="en-US" sz="2000" dirty="0"/>
              <a:t>To process large files efficiently without using much memory.</a:t>
            </a:r>
          </a:p>
          <a:p>
            <a:pPr fontAlgn="base"/>
            <a:r>
              <a:rPr lang="en-US" sz="2000" dirty="0"/>
              <a:t>To automate tasks like reading configs or saving outputs.</a:t>
            </a:r>
          </a:p>
        </p:txBody>
      </p:sp>
      <p:sp>
        <p:nvSpPr>
          <p:cNvPr id="15" name="TextBox 14">
            <a:extLst>
              <a:ext uri="{FF2B5EF4-FFF2-40B4-BE49-F238E27FC236}">
                <a16:creationId xmlns:a16="http://schemas.microsoft.com/office/drawing/2014/main" id="{B36098BB-CF00-CC4B-ACDA-D3695664C1C6}"/>
              </a:ext>
            </a:extLst>
          </p:cNvPr>
          <p:cNvSpPr txBox="1"/>
          <p:nvPr/>
        </p:nvSpPr>
        <p:spPr>
          <a:xfrm>
            <a:off x="961051" y="2032958"/>
            <a:ext cx="3744684" cy="1938992"/>
          </a:xfrm>
          <a:prstGeom prst="rect">
            <a:avLst/>
          </a:prstGeom>
          <a:solidFill>
            <a:schemeClr val="accent3">
              <a:lumMod val="20000"/>
              <a:lumOff val="80000"/>
            </a:schemeClr>
          </a:solidFill>
        </p:spPr>
        <p:txBody>
          <a:bodyPr wrap="square">
            <a:spAutoFit/>
          </a:bodyPr>
          <a:lstStyle/>
          <a:p>
            <a:r>
              <a:rPr lang="en-GB" sz="2000" b="1" dirty="0"/>
              <a:t>Opening Files</a:t>
            </a:r>
          </a:p>
          <a:p>
            <a:r>
              <a:rPr lang="en-GB" sz="2000" dirty="0"/>
              <a:t>	f = open("filename", "mode")</a:t>
            </a:r>
          </a:p>
          <a:p>
            <a:r>
              <a:rPr lang="en-GB" sz="2000" b="1" dirty="0"/>
              <a:t>Example</a:t>
            </a:r>
          </a:p>
          <a:p>
            <a:r>
              <a:rPr lang="en-US" sz="2000" dirty="0"/>
              <a:t>file = open(“script.txt", "r")</a:t>
            </a:r>
          </a:p>
          <a:p>
            <a:r>
              <a:rPr lang="en-US" sz="2000" dirty="0"/>
              <a:t># Perform file operations</a:t>
            </a:r>
          </a:p>
          <a:p>
            <a:r>
              <a:rPr lang="en-US" sz="2000" dirty="0" err="1"/>
              <a:t>file.close</a:t>
            </a:r>
            <a:r>
              <a:rPr lang="en-US" sz="2000" dirty="0"/>
              <a:t>()</a:t>
            </a:r>
            <a:endParaRPr lang="en-GB" sz="2000" dirty="0"/>
          </a:p>
        </p:txBody>
      </p:sp>
      <p:sp>
        <p:nvSpPr>
          <p:cNvPr id="17" name="TextBox 16">
            <a:extLst>
              <a:ext uri="{FF2B5EF4-FFF2-40B4-BE49-F238E27FC236}">
                <a16:creationId xmlns:a16="http://schemas.microsoft.com/office/drawing/2014/main" id="{05FCB35E-14E6-61B4-15A0-638B9B4E8991}"/>
              </a:ext>
            </a:extLst>
          </p:cNvPr>
          <p:cNvSpPr txBox="1"/>
          <p:nvPr/>
        </p:nvSpPr>
        <p:spPr>
          <a:xfrm>
            <a:off x="1184986" y="4084674"/>
            <a:ext cx="3209730" cy="2554545"/>
          </a:xfrm>
          <a:prstGeom prst="rect">
            <a:avLst/>
          </a:prstGeom>
          <a:solidFill>
            <a:schemeClr val="accent5">
              <a:lumMod val="20000"/>
              <a:lumOff val="80000"/>
            </a:schemeClr>
          </a:solidFill>
        </p:spPr>
        <p:txBody>
          <a:bodyPr wrap="square">
            <a:spAutoFit/>
          </a:bodyPr>
          <a:lstStyle/>
          <a:p>
            <a:r>
              <a:rPr lang="en-US" sz="2000" b="1" dirty="0"/>
              <a:t>Common File Modes</a:t>
            </a:r>
          </a:p>
          <a:p>
            <a:r>
              <a:rPr lang="en-US" sz="2000" dirty="0"/>
              <a:t>	"r" – read (default)</a:t>
            </a:r>
          </a:p>
          <a:p>
            <a:r>
              <a:rPr lang="en-US" sz="2000" dirty="0"/>
              <a:t>	"w" – write (overwrites)</a:t>
            </a:r>
          </a:p>
          <a:p>
            <a:r>
              <a:rPr lang="en-US" sz="2000" dirty="0"/>
              <a:t>	"a" – append</a:t>
            </a:r>
          </a:p>
          <a:p>
            <a:r>
              <a:rPr lang="en-US" sz="2000" dirty="0"/>
              <a:t>	"x" – create new file</a:t>
            </a:r>
          </a:p>
          <a:p>
            <a:r>
              <a:rPr lang="en-US" sz="2000" dirty="0"/>
              <a:t>	"b" – binary</a:t>
            </a:r>
          </a:p>
          <a:p>
            <a:r>
              <a:rPr lang="en-US" sz="2000" dirty="0"/>
              <a:t>	"t" – text (default)</a:t>
            </a:r>
          </a:p>
          <a:p>
            <a:r>
              <a:rPr lang="en-US" sz="2000" dirty="0"/>
              <a:t>	"r+", "w+" – read/write</a:t>
            </a:r>
            <a:endParaRPr lang="en-GB" sz="2000" dirty="0"/>
          </a:p>
        </p:txBody>
      </p:sp>
      <p:sp>
        <p:nvSpPr>
          <p:cNvPr id="19" name="TextBox 18">
            <a:extLst>
              <a:ext uri="{FF2B5EF4-FFF2-40B4-BE49-F238E27FC236}">
                <a16:creationId xmlns:a16="http://schemas.microsoft.com/office/drawing/2014/main" id="{A9F950FB-D9B7-3CE7-76EE-9DB336E6F29E}"/>
              </a:ext>
            </a:extLst>
          </p:cNvPr>
          <p:cNvSpPr txBox="1"/>
          <p:nvPr/>
        </p:nvSpPr>
        <p:spPr>
          <a:xfrm>
            <a:off x="5052526" y="3105844"/>
            <a:ext cx="3131976" cy="1631216"/>
          </a:xfrm>
          <a:prstGeom prst="rect">
            <a:avLst/>
          </a:prstGeom>
          <a:solidFill>
            <a:schemeClr val="accent4">
              <a:lumMod val="20000"/>
              <a:lumOff val="80000"/>
            </a:schemeClr>
          </a:solidFill>
        </p:spPr>
        <p:txBody>
          <a:bodyPr wrap="square">
            <a:spAutoFit/>
          </a:bodyPr>
          <a:lstStyle/>
          <a:p>
            <a:r>
              <a:rPr lang="en-US" sz="2000" b="1" dirty="0"/>
              <a:t>Reading Files</a:t>
            </a:r>
          </a:p>
          <a:p>
            <a:r>
              <a:rPr lang="en-US" sz="2000" dirty="0"/>
              <a:t>	read() – entire file</a:t>
            </a:r>
          </a:p>
          <a:p>
            <a:r>
              <a:rPr lang="en-US" sz="2000" dirty="0"/>
              <a:t>	read(n) – first n chars</a:t>
            </a:r>
          </a:p>
          <a:p>
            <a:r>
              <a:rPr lang="en-US" sz="2000" dirty="0"/>
              <a:t>	</a:t>
            </a:r>
            <a:r>
              <a:rPr lang="en-US" sz="2000" dirty="0" err="1"/>
              <a:t>readline</a:t>
            </a:r>
            <a:r>
              <a:rPr lang="en-US" sz="2000" dirty="0"/>
              <a:t>() – one line</a:t>
            </a:r>
          </a:p>
          <a:p>
            <a:r>
              <a:rPr lang="en-US" sz="2000" dirty="0"/>
              <a:t>	</a:t>
            </a:r>
            <a:r>
              <a:rPr lang="en-US" sz="2000" dirty="0" err="1"/>
              <a:t>readlines</a:t>
            </a:r>
            <a:r>
              <a:rPr lang="en-US" sz="2000" dirty="0"/>
              <a:t>() – list of lines</a:t>
            </a:r>
            <a:endParaRPr lang="en-GB" sz="2000" dirty="0"/>
          </a:p>
        </p:txBody>
      </p:sp>
    </p:spTree>
    <p:extLst>
      <p:ext uri="{BB962C8B-B14F-4D97-AF65-F5344CB8AC3E}">
        <p14:creationId xmlns:p14="http://schemas.microsoft.com/office/powerpoint/2010/main" val="3806284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234C221-06D5-03D8-DD21-F694E8463A09}"/>
              </a:ext>
            </a:extLst>
          </p:cNvPr>
          <p:cNvSpPr txBox="1"/>
          <p:nvPr/>
        </p:nvSpPr>
        <p:spPr>
          <a:xfrm>
            <a:off x="258152" y="778924"/>
            <a:ext cx="2998237" cy="2246769"/>
          </a:xfrm>
          <a:prstGeom prst="rect">
            <a:avLst/>
          </a:prstGeom>
          <a:solidFill>
            <a:schemeClr val="accent3">
              <a:lumMod val="20000"/>
              <a:lumOff val="80000"/>
            </a:schemeClr>
          </a:solidFill>
        </p:spPr>
        <p:txBody>
          <a:bodyPr wrap="square">
            <a:spAutoFit/>
          </a:bodyPr>
          <a:lstStyle/>
          <a:p>
            <a:r>
              <a:rPr lang="en-GB" sz="2000" b="1" dirty="0"/>
              <a:t>Checking File Properties</a:t>
            </a:r>
          </a:p>
          <a:p>
            <a:r>
              <a:rPr lang="en-US" sz="2000" dirty="0"/>
              <a:t>f = open("script.txt", "r")</a:t>
            </a:r>
          </a:p>
          <a:p>
            <a:r>
              <a:rPr lang="en-US" sz="2000" dirty="0"/>
              <a:t>print("Filename:", f.name)</a:t>
            </a:r>
          </a:p>
          <a:p>
            <a:r>
              <a:rPr lang="en-US" sz="2000" dirty="0"/>
              <a:t>print("Mode:", </a:t>
            </a:r>
            <a:r>
              <a:rPr lang="en-US" sz="2000" dirty="0" err="1"/>
              <a:t>f.mode</a:t>
            </a:r>
            <a:r>
              <a:rPr lang="en-US" sz="2000" dirty="0"/>
              <a:t>)</a:t>
            </a:r>
          </a:p>
          <a:p>
            <a:r>
              <a:rPr lang="en-US" sz="2000" dirty="0"/>
              <a:t>print("Is Closed?", </a:t>
            </a:r>
            <a:r>
              <a:rPr lang="en-US" sz="2000" dirty="0" err="1"/>
              <a:t>f.closed</a:t>
            </a:r>
            <a:r>
              <a:rPr lang="en-US" sz="2000" dirty="0"/>
              <a:t>)</a:t>
            </a:r>
          </a:p>
          <a:p>
            <a:r>
              <a:rPr lang="en-US" sz="2000" dirty="0" err="1"/>
              <a:t>f.close</a:t>
            </a:r>
            <a:r>
              <a:rPr lang="en-US" sz="2000" dirty="0"/>
              <a:t>()</a:t>
            </a:r>
          </a:p>
          <a:p>
            <a:r>
              <a:rPr lang="en-US" sz="2000" dirty="0"/>
              <a:t>print("Is Closed?", </a:t>
            </a:r>
            <a:r>
              <a:rPr lang="en-US" sz="2000" dirty="0" err="1"/>
              <a:t>f.closed</a:t>
            </a:r>
            <a:r>
              <a:rPr lang="en-US" sz="2000" dirty="0"/>
              <a:t>)</a:t>
            </a:r>
            <a:endParaRPr lang="en-GB" sz="2000" dirty="0"/>
          </a:p>
        </p:txBody>
      </p:sp>
      <p:sp>
        <p:nvSpPr>
          <p:cNvPr id="15" name="TextBox 14">
            <a:extLst>
              <a:ext uri="{FF2B5EF4-FFF2-40B4-BE49-F238E27FC236}">
                <a16:creationId xmlns:a16="http://schemas.microsoft.com/office/drawing/2014/main" id="{5BD7EF1A-C591-C60F-D344-111BF1651FE5}"/>
              </a:ext>
            </a:extLst>
          </p:cNvPr>
          <p:cNvSpPr txBox="1"/>
          <p:nvPr/>
        </p:nvSpPr>
        <p:spPr>
          <a:xfrm>
            <a:off x="3324811" y="873603"/>
            <a:ext cx="1819469" cy="1938992"/>
          </a:xfrm>
          <a:prstGeom prst="rect">
            <a:avLst/>
          </a:prstGeom>
          <a:solidFill>
            <a:schemeClr val="accent3">
              <a:lumMod val="20000"/>
              <a:lumOff val="80000"/>
            </a:schemeClr>
          </a:solidFill>
        </p:spPr>
        <p:txBody>
          <a:bodyPr wrap="square">
            <a:spAutoFit/>
          </a:bodyPr>
          <a:lstStyle/>
          <a:p>
            <a:r>
              <a:rPr lang="en-US" sz="2000" b="1" dirty="0"/>
              <a:t>Output</a:t>
            </a:r>
            <a:r>
              <a:rPr lang="en-US" sz="2000" dirty="0"/>
              <a:t>:</a:t>
            </a:r>
          </a:p>
          <a:p>
            <a:r>
              <a:rPr lang="en-US" sz="2000" dirty="0"/>
              <a:t>Filename: script.txt</a:t>
            </a:r>
          </a:p>
          <a:p>
            <a:r>
              <a:rPr lang="en-US" sz="2000" dirty="0"/>
              <a:t>Mode: r</a:t>
            </a:r>
          </a:p>
          <a:p>
            <a:r>
              <a:rPr lang="en-US" sz="2000" dirty="0"/>
              <a:t>Is Closed? False</a:t>
            </a:r>
          </a:p>
          <a:p>
            <a:r>
              <a:rPr lang="en-US" sz="2000" dirty="0"/>
              <a:t>Is Closed? True</a:t>
            </a:r>
            <a:endParaRPr lang="en-GB" sz="2000" dirty="0"/>
          </a:p>
        </p:txBody>
      </p:sp>
      <p:sp>
        <p:nvSpPr>
          <p:cNvPr id="17" name="TextBox 16">
            <a:extLst>
              <a:ext uri="{FF2B5EF4-FFF2-40B4-BE49-F238E27FC236}">
                <a16:creationId xmlns:a16="http://schemas.microsoft.com/office/drawing/2014/main" id="{F8B5F16A-11F8-7826-BED6-D34BA377E9B7}"/>
              </a:ext>
            </a:extLst>
          </p:cNvPr>
          <p:cNvSpPr txBox="1"/>
          <p:nvPr/>
        </p:nvSpPr>
        <p:spPr>
          <a:xfrm>
            <a:off x="5456854" y="262630"/>
            <a:ext cx="3069771" cy="3170099"/>
          </a:xfrm>
          <a:prstGeom prst="rect">
            <a:avLst/>
          </a:prstGeom>
          <a:solidFill>
            <a:schemeClr val="bg1">
              <a:lumMod val="95000"/>
            </a:schemeClr>
          </a:solidFill>
        </p:spPr>
        <p:txBody>
          <a:bodyPr wrap="square">
            <a:spAutoFit/>
          </a:bodyPr>
          <a:lstStyle/>
          <a:p>
            <a:r>
              <a:rPr lang="en-GB" sz="2000" b="1" dirty="0"/>
              <a:t>Reading a File</a:t>
            </a:r>
          </a:p>
          <a:p>
            <a:r>
              <a:rPr lang="en-US" sz="2000" dirty="0"/>
              <a:t>file = open(“script.txt", "r")</a:t>
            </a:r>
          </a:p>
          <a:p>
            <a:r>
              <a:rPr lang="en-US" sz="2000" dirty="0"/>
              <a:t>content = </a:t>
            </a:r>
            <a:r>
              <a:rPr lang="en-US" sz="2000" dirty="0" err="1"/>
              <a:t>file.read</a:t>
            </a:r>
            <a:r>
              <a:rPr lang="en-US" sz="2000" dirty="0"/>
              <a:t>()</a:t>
            </a:r>
          </a:p>
          <a:p>
            <a:r>
              <a:rPr lang="en-US" sz="2000" dirty="0"/>
              <a:t>print(content)</a:t>
            </a:r>
          </a:p>
          <a:p>
            <a:r>
              <a:rPr lang="en-US" sz="2000" dirty="0" err="1"/>
              <a:t>file.close</a:t>
            </a:r>
            <a:r>
              <a:rPr lang="en-US" sz="2000" dirty="0"/>
              <a:t>()</a:t>
            </a:r>
          </a:p>
          <a:p>
            <a:endParaRPr lang="en-US" sz="2000" dirty="0"/>
          </a:p>
          <a:p>
            <a:r>
              <a:rPr lang="en-US" sz="2000" b="1" dirty="0"/>
              <a:t>Output</a:t>
            </a:r>
            <a:r>
              <a:rPr lang="en-US" sz="2000" dirty="0"/>
              <a:t>:</a:t>
            </a:r>
          </a:p>
          <a:p>
            <a:r>
              <a:rPr lang="en-US" sz="2000" dirty="0"/>
              <a:t>Hello world</a:t>
            </a:r>
          </a:p>
          <a:p>
            <a:r>
              <a:rPr lang="en-US" sz="2000" dirty="0"/>
              <a:t>I am a student</a:t>
            </a:r>
          </a:p>
          <a:p>
            <a:r>
              <a:rPr lang="en-US" sz="2000" dirty="0"/>
              <a:t>123 456</a:t>
            </a:r>
            <a:endParaRPr lang="en-GB" sz="2000" dirty="0"/>
          </a:p>
        </p:txBody>
      </p:sp>
      <p:sp>
        <p:nvSpPr>
          <p:cNvPr id="23" name="TextBox 22">
            <a:extLst>
              <a:ext uri="{FF2B5EF4-FFF2-40B4-BE49-F238E27FC236}">
                <a16:creationId xmlns:a16="http://schemas.microsoft.com/office/drawing/2014/main" id="{DD149F6F-3B5A-54FB-1486-E7EB04AF9973}"/>
              </a:ext>
            </a:extLst>
          </p:cNvPr>
          <p:cNvSpPr txBox="1"/>
          <p:nvPr/>
        </p:nvSpPr>
        <p:spPr>
          <a:xfrm>
            <a:off x="520959" y="3780844"/>
            <a:ext cx="4026159" cy="2554545"/>
          </a:xfrm>
          <a:prstGeom prst="rect">
            <a:avLst/>
          </a:prstGeom>
          <a:solidFill>
            <a:schemeClr val="accent4">
              <a:lumMod val="20000"/>
              <a:lumOff val="80000"/>
            </a:schemeClr>
          </a:solidFill>
        </p:spPr>
        <p:txBody>
          <a:bodyPr wrap="square">
            <a:spAutoFit/>
          </a:bodyPr>
          <a:lstStyle/>
          <a:p>
            <a:r>
              <a:rPr lang="en-GB" sz="2000" b="1" dirty="0"/>
              <a:t>Writing a File</a:t>
            </a:r>
          </a:p>
          <a:p>
            <a:r>
              <a:rPr lang="en-US" sz="2000" dirty="0"/>
              <a:t>with open(“script.txt", "w") as file:</a:t>
            </a:r>
          </a:p>
          <a:p>
            <a:r>
              <a:rPr lang="en-US" sz="2000" dirty="0"/>
              <a:t>    </a:t>
            </a:r>
            <a:r>
              <a:rPr lang="en-US" sz="2000" dirty="0" err="1"/>
              <a:t>file.write</a:t>
            </a:r>
            <a:r>
              <a:rPr lang="en-US" sz="2000" dirty="0"/>
              <a:t>("Hello, Python!\n")</a:t>
            </a:r>
          </a:p>
          <a:p>
            <a:r>
              <a:rPr lang="en-US" sz="2000" dirty="0"/>
              <a:t>    </a:t>
            </a:r>
            <a:r>
              <a:rPr lang="en-US" sz="2000" dirty="0" err="1"/>
              <a:t>file.write</a:t>
            </a:r>
            <a:r>
              <a:rPr lang="en-US" sz="2000" dirty="0"/>
              <a:t>("File handling is easy.")</a:t>
            </a:r>
          </a:p>
          <a:p>
            <a:r>
              <a:rPr lang="en-US" sz="2000" dirty="0"/>
              <a:t>print("File written successfully")</a:t>
            </a:r>
          </a:p>
          <a:p>
            <a:endParaRPr lang="en-US" sz="2000" dirty="0"/>
          </a:p>
          <a:p>
            <a:r>
              <a:rPr lang="en-US" sz="2000" b="1" dirty="0"/>
              <a:t>Output</a:t>
            </a:r>
          </a:p>
          <a:p>
            <a:r>
              <a:rPr lang="en-GB" sz="2000" dirty="0"/>
              <a:t>File written successfully</a:t>
            </a:r>
          </a:p>
        </p:txBody>
      </p:sp>
      <p:sp>
        <p:nvSpPr>
          <p:cNvPr id="27" name="TextBox 26">
            <a:extLst>
              <a:ext uri="{FF2B5EF4-FFF2-40B4-BE49-F238E27FC236}">
                <a16:creationId xmlns:a16="http://schemas.microsoft.com/office/drawing/2014/main" id="{82F8AFEC-AEFA-B89A-7DDD-83D0C5988430}"/>
              </a:ext>
            </a:extLst>
          </p:cNvPr>
          <p:cNvSpPr txBox="1"/>
          <p:nvPr/>
        </p:nvSpPr>
        <p:spPr>
          <a:xfrm>
            <a:off x="5456854" y="3780844"/>
            <a:ext cx="3556518" cy="2246769"/>
          </a:xfrm>
          <a:prstGeom prst="rect">
            <a:avLst/>
          </a:prstGeom>
          <a:solidFill>
            <a:schemeClr val="accent6">
              <a:lumMod val="20000"/>
              <a:lumOff val="80000"/>
            </a:schemeClr>
          </a:solidFill>
        </p:spPr>
        <p:txBody>
          <a:bodyPr wrap="square">
            <a:spAutoFit/>
          </a:bodyPr>
          <a:lstStyle/>
          <a:p>
            <a:r>
              <a:rPr lang="en-GB" sz="2000" b="1" dirty="0"/>
              <a:t>Using with Statement</a:t>
            </a:r>
          </a:p>
          <a:p>
            <a:r>
              <a:rPr lang="en-US" sz="2000" dirty="0"/>
              <a:t>with open("geek.txt", "r") as file:</a:t>
            </a:r>
          </a:p>
          <a:p>
            <a:r>
              <a:rPr lang="en-US" sz="2000" dirty="0"/>
              <a:t>    content = </a:t>
            </a:r>
            <a:r>
              <a:rPr lang="en-US" sz="2000" dirty="0" err="1"/>
              <a:t>file.read</a:t>
            </a:r>
            <a:r>
              <a:rPr lang="en-US" sz="2000" dirty="0"/>
              <a:t>()</a:t>
            </a:r>
          </a:p>
          <a:p>
            <a:r>
              <a:rPr lang="en-US" sz="2000" dirty="0"/>
              <a:t>    print(content)</a:t>
            </a:r>
          </a:p>
          <a:p>
            <a:endParaRPr lang="en-US" sz="2000" dirty="0"/>
          </a:p>
          <a:p>
            <a:r>
              <a:rPr lang="en-GB" sz="2000" b="1" dirty="0"/>
              <a:t>Output:</a:t>
            </a:r>
            <a:endParaRPr lang="en-GB" sz="2000" dirty="0"/>
          </a:p>
          <a:p>
            <a:r>
              <a:rPr lang="en-GB" sz="2000" dirty="0"/>
              <a:t>Hello, World!</a:t>
            </a:r>
          </a:p>
        </p:txBody>
      </p:sp>
      <p:cxnSp>
        <p:nvCxnSpPr>
          <p:cNvPr id="29" name="Straight Connector 28">
            <a:extLst>
              <a:ext uri="{FF2B5EF4-FFF2-40B4-BE49-F238E27FC236}">
                <a16:creationId xmlns:a16="http://schemas.microsoft.com/office/drawing/2014/main" id="{3115C08A-AD89-8840-AB9F-A5F4629A371D}"/>
              </a:ext>
            </a:extLst>
          </p:cNvPr>
          <p:cNvCxnSpPr>
            <a:cxnSpLocks/>
          </p:cNvCxnSpPr>
          <p:nvPr/>
        </p:nvCxnSpPr>
        <p:spPr>
          <a:xfrm>
            <a:off x="5200261" y="485192"/>
            <a:ext cx="0" cy="5850197"/>
          </a:xfrm>
          <a:prstGeom prst="line">
            <a:avLst/>
          </a:prstGeom>
          <a:ln>
            <a:prstDash val="lgDash"/>
          </a:ln>
        </p:spPr>
        <p:style>
          <a:lnRef idx="1">
            <a:schemeClr val="accent6"/>
          </a:lnRef>
          <a:fillRef idx="0">
            <a:schemeClr val="accent6"/>
          </a:fillRef>
          <a:effectRef idx="0">
            <a:schemeClr val="accent6"/>
          </a:effectRef>
          <a:fontRef idx="minor">
            <a:schemeClr val="tx1"/>
          </a:fontRef>
        </p:style>
      </p:cxnSp>
      <p:cxnSp>
        <p:nvCxnSpPr>
          <p:cNvPr id="31" name="Straight Connector 30">
            <a:extLst>
              <a:ext uri="{FF2B5EF4-FFF2-40B4-BE49-F238E27FC236}">
                <a16:creationId xmlns:a16="http://schemas.microsoft.com/office/drawing/2014/main" id="{5D456205-42A0-291F-8CD7-77AD1D2F8633}"/>
              </a:ext>
            </a:extLst>
          </p:cNvPr>
          <p:cNvCxnSpPr>
            <a:cxnSpLocks/>
          </p:cNvCxnSpPr>
          <p:nvPr/>
        </p:nvCxnSpPr>
        <p:spPr>
          <a:xfrm rot="5400000">
            <a:off x="5352661" y="637592"/>
            <a:ext cx="0" cy="5850197"/>
          </a:xfrm>
          <a:prstGeom prst="line">
            <a:avLst/>
          </a:prstGeom>
          <a:ln>
            <a:prstDash val="lgDash"/>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576325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7" grpId="0" animBg="1"/>
      <p:bldP spid="23" grpId="0" animBg="1"/>
      <p:bldP spid="2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1512</TotalTime>
  <Words>3267</Words>
  <Application>Microsoft Office PowerPoint</Application>
  <PresentationFormat>On-screen Show (4:3)</PresentationFormat>
  <Paragraphs>508</Paragraphs>
  <Slides>29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Wingdings</vt:lpstr>
      <vt:lpstr>Office Theme</vt:lpstr>
      <vt:lpstr>Data structures</vt:lpstr>
      <vt:lpstr>Synopsis</vt:lpstr>
      <vt:lpstr>strings</vt:lpstr>
      <vt:lpstr>PowerPoint Presentation</vt:lpstr>
      <vt:lpstr>PowerPoint Presentation</vt:lpstr>
      <vt:lpstr>List</vt:lpstr>
      <vt:lpstr>PowerPoint Presentation</vt:lpstr>
      <vt:lpstr>Tuples</vt:lpstr>
      <vt:lpstr>PowerPoint Presentation</vt:lpstr>
      <vt:lpstr>Dictionary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File handling</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Sivakumar Krishnamoorthy</cp:lastModifiedBy>
  <cp:revision>345</cp:revision>
  <dcterms:created xsi:type="dcterms:W3CDTF">2013-01-27T09:14:16Z</dcterms:created>
  <dcterms:modified xsi:type="dcterms:W3CDTF">2025-11-23T03:35:14Z</dcterms:modified>
  <cp:category/>
</cp:coreProperties>
</file>