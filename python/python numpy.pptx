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69" r:id="rId4"/>
    <p:sldId id="270" r:id="rId5"/>
    <p:sldId id="271" r:id="rId6"/>
    <p:sldId id="278" r:id="rId7"/>
    <p:sldId id="275" r:id="rId8"/>
    <p:sldId id="266" r:id="rId9"/>
    <p:sldId id="274" r:id="rId10"/>
    <p:sldId id="279" r:id="rId11"/>
    <p:sldId id="272" r:id="rId12"/>
    <p:sldId id="280" r:id="rId13"/>
    <p:sldId id="257" r:id="rId14"/>
    <p:sldId id="273" r:id="rId15"/>
    <p:sldId id="281" r:id="rId16"/>
    <p:sldId id="282" r:id="rId17"/>
    <p:sldId id="259" r:id="rId18"/>
    <p:sldId id="261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38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60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7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23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99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46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96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09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44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33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07856-8F8A-4A47-A31A-4045B00C3737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4EF3C-1986-4A8E-A8AF-933D50593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66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2C1E4D-4EF0-DF96-9912-79FC702DD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200">
                <a:solidFill>
                  <a:srgbClr val="FFFFFF"/>
                </a:solidFill>
              </a:rPr>
              <a:t>Numpy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F3B2B62-5E19-47ED-60B8-E6F672756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(Numerical Python)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69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9FCF7D66-52F1-96A1-C4E7-997D1D36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7" r="50139" b="-2"/>
          <a:stretch>
            <a:fillRect/>
          </a:stretch>
        </p:blipFill>
        <p:spPr>
          <a:xfrm>
            <a:off x="0" y="58831"/>
            <a:ext cx="2715138" cy="4589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53DE7E-7BE1-719F-23AB-DD5B02617D68}"/>
              </a:ext>
            </a:extLst>
          </p:cNvPr>
          <p:cNvSpPr txBox="1"/>
          <p:nvPr/>
        </p:nvSpPr>
        <p:spPr>
          <a:xfrm>
            <a:off x="2872854" y="116006"/>
            <a:ext cx="5722581" cy="49755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Definition:</a:t>
            </a:r>
            <a:br>
              <a:rPr lang="en-US" sz="2000" dirty="0"/>
            </a:br>
            <a:r>
              <a:rPr lang="en-US" sz="2000" dirty="0"/>
              <a:t>NumPy is a Python library for high-performance numerical and scientific computing.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It provides fast operations on large arrays &amp; matrices and includes mathematical, statistical, and linear algebra functions.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Install: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highlight>
                  <a:srgbClr val="C0C0C0"/>
                </a:highlight>
              </a:rPr>
              <a:t>pip install </a:t>
            </a:r>
            <a:r>
              <a:rPr lang="en-US" sz="2000" dirty="0" err="1">
                <a:highlight>
                  <a:srgbClr val="C0C0C0"/>
                </a:highlight>
              </a:rPr>
              <a:t>numpy</a:t>
            </a:r>
            <a:endParaRPr lang="en-US" sz="2000" dirty="0">
              <a:highlight>
                <a:srgbClr val="C0C0C0"/>
              </a:highlight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Code: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highlight>
                  <a:srgbClr val="FFFF00"/>
                </a:highlight>
              </a:rPr>
              <a:t>import </a:t>
            </a:r>
            <a:r>
              <a:rPr lang="en-US" sz="2000" dirty="0" err="1">
                <a:highlight>
                  <a:srgbClr val="FFFF00"/>
                </a:highlight>
              </a:rPr>
              <a:t>numpy</a:t>
            </a:r>
            <a:r>
              <a:rPr lang="en-US" sz="2000" dirty="0">
                <a:highlight>
                  <a:srgbClr val="FFFF00"/>
                </a:highlight>
              </a:rPr>
              <a:t> as np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highlight>
                  <a:srgbClr val="FFFF00"/>
                </a:highlight>
              </a:rPr>
              <a:t>print(</a:t>
            </a:r>
            <a:r>
              <a:rPr lang="en-US" sz="2000" dirty="0" err="1">
                <a:highlight>
                  <a:srgbClr val="FFFF00"/>
                </a:highlight>
              </a:rPr>
              <a:t>np.__version</a:t>
            </a:r>
            <a:r>
              <a:rPr lang="en-US" sz="2000" dirty="0">
                <a:highlight>
                  <a:srgbClr val="FFFF00"/>
                </a:highlight>
              </a:rPr>
              <a:t>__)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Output: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2.1.0  (version may vary)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0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9A2A2-B359-0C21-2926-106F886D574C}"/>
              </a:ext>
            </a:extLst>
          </p:cNvPr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Why NumPy?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Faster than Python lists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Supports multidimensional arrays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Uses less memory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Contains built-in mathematical functions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Foundation for ML libraries like Pandas, TensorFlow, SciPy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Example: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car = </a:t>
            </a:r>
            <a:r>
              <a:rPr lang="en-US" sz="2000" dirty="0" err="1"/>
              <a:t>np.array</a:t>
            </a:r>
            <a:r>
              <a:rPr lang="en-US" sz="2000" dirty="0"/>
              <a:t>([1,2,3,4,5])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print(car)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Output: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[1 2 3 4 5]</a:t>
            </a:r>
          </a:p>
        </p:txBody>
      </p:sp>
    </p:spTree>
    <p:extLst>
      <p:ext uri="{BB962C8B-B14F-4D97-AF65-F5344CB8AC3E}">
        <p14:creationId xmlns:p14="http://schemas.microsoft.com/office/powerpoint/2010/main" val="86652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11E96-CD43-1827-DF8D-C3BC34E7968A}"/>
              </a:ext>
            </a:extLst>
          </p:cNvPr>
          <p:cNvSpPr txBox="1"/>
          <p:nvPr/>
        </p:nvSpPr>
        <p:spPr>
          <a:xfrm>
            <a:off x="505674" y="1974080"/>
            <a:ext cx="451229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Creating NumPy Arrays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 err="1">
                <a:highlight>
                  <a:srgbClr val="FFFF00"/>
                </a:highlight>
              </a:rPr>
              <a:t>np.array</a:t>
            </a:r>
            <a:r>
              <a:rPr lang="en-US" sz="2000" dirty="0">
                <a:highlight>
                  <a:srgbClr val="FFFF00"/>
                </a:highlight>
              </a:rPr>
              <a:t>() </a:t>
            </a:r>
            <a:r>
              <a:rPr lang="en-US" sz="2000" dirty="0"/>
              <a:t>converts list, tuple into array.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Code: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([10,20,30])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b = </a:t>
            </a:r>
            <a:r>
              <a:rPr lang="en-US" sz="2000" dirty="0" err="1"/>
              <a:t>np.array</a:t>
            </a:r>
            <a:r>
              <a:rPr lang="en-US" sz="2000" dirty="0"/>
              <a:t>([[1,2,3],[4,5,6]])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print(a)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print(b)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Output: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[10 20 30]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[[1 2 3]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 [4 5 6]]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1E483-399F-F6B4-425E-E5F05B121DB3}"/>
              </a:ext>
            </a:extLst>
          </p:cNvPr>
          <p:cNvSpPr txBox="1"/>
          <p:nvPr/>
        </p:nvSpPr>
        <p:spPr>
          <a:xfrm>
            <a:off x="5023402" y="2105913"/>
            <a:ext cx="3720352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000" b="1" dirty="0"/>
              <a:t>Array Types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/>
              <a:t>Check data type of array</a:t>
            </a:r>
            <a:endParaRPr lang="en-US" sz="2000" dirty="0"/>
          </a:p>
          <a:p>
            <a:pPr rtl="0">
              <a:spcAft>
                <a:spcPts val="600"/>
              </a:spcAft>
              <a:buNone/>
            </a:pPr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pPr rtl="0">
              <a:spcAft>
                <a:spcPts val="600"/>
              </a:spcAft>
              <a:buNone/>
            </a:pPr>
            <a:r>
              <a:rPr lang="en-US" sz="2000" dirty="0"/>
              <a:t>carry = </a:t>
            </a:r>
            <a:r>
              <a:rPr lang="en-US" sz="2000" dirty="0" err="1"/>
              <a:t>np.array</a:t>
            </a:r>
            <a:r>
              <a:rPr lang="en-US" sz="2000" dirty="0"/>
              <a:t>([1.5, 2.5, 3.5])</a:t>
            </a:r>
          </a:p>
          <a:p>
            <a:pPr rtl="0">
              <a:spcAft>
                <a:spcPts val="600"/>
              </a:spcAft>
              <a:buNone/>
            </a:pPr>
            <a:r>
              <a:rPr lang="en-US" sz="2000" dirty="0"/>
              <a:t>print(</a:t>
            </a:r>
            <a:r>
              <a:rPr lang="en-US" sz="2000" dirty="0" err="1"/>
              <a:t>carry.dtype</a:t>
            </a:r>
            <a:r>
              <a:rPr lang="en-US" sz="2000" dirty="0"/>
              <a:t>)</a:t>
            </a:r>
          </a:p>
          <a:p>
            <a:pPr rtl="0">
              <a:spcAft>
                <a:spcPts val="600"/>
              </a:spcAft>
              <a:buNone/>
            </a:pPr>
            <a:endParaRPr lang="en-US" sz="2000" dirty="0"/>
          </a:p>
          <a:p>
            <a:pPr>
              <a:spcAft>
                <a:spcPts val="600"/>
              </a:spcAft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spcAft>
                <a:spcPts val="600"/>
              </a:spcAft>
              <a:buNone/>
            </a:pPr>
            <a:r>
              <a:rPr lang="en-US" sz="2000" dirty="0"/>
              <a:t>float64</a:t>
            </a:r>
          </a:p>
          <a:p>
            <a:pPr rtl="0">
              <a:spcAft>
                <a:spcPts val="600"/>
              </a:spcAft>
              <a:buNone/>
            </a:pPr>
            <a:endParaRPr lang="en-US" sz="2000" dirty="0"/>
          </a:p>
          <a:p>
            <a:pPr>
              <a:spcAft>
                <a:spcPts val="600"/>
              </a:spcAft>
              <a:buNone/>
            </a:pPr>
            <a:r>
              <a:rPr lang="en-US" sz="2000" dirty="0"/>
              <a:t>You can specify datatype using </a:t>
            </a:r>
            <a:r>
              <a:rPr lang="en-US" sz="2000" dirty="0" err="1">
                <a:highlight>
                  <a:srgbClr val="FFFF00"/>
                </a:highlight>
              </a:rPr>
              <a:t>dtype</a:t>
            </a:r>
            <a:r>
              <a:rPr lang="en-US" sz="2000" dirty="0">
                <a:highlight>
                  <a:srgbClr val="FFFF00"/>
                </a:highlight>
              </a:rPr>
              <a:t>=.</a:t>
            </a:r>
          </a:p>
        </p:txBody>
      </p:sp>
    </p:spTree>
    <p:extLst>
      <p:ext uri="{BB962C8B-B14F-4D97-AF65-F5344CB8AC3E}">
        <p14:creationId xmlns:p14="http://schemas.microsoft.com/office/powerpoint/2010/main" val="388017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1B688A-4CED-FA59-B56B-77288CDCBF15}"/>
              </a:ext>
            </a:extLst>
          </p:cNvPr>
          <p:cNvSpPr txBox="1"/>
          <p:nvPr/>
        </p:nvSpPr>
        <p:spPr>
          <a:xfrm>
            <a:off x="2375648" y="490141"/>
            <a:ext cx="34215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/>
              <a:t>	</a:t>
            </a:r>
            <a:r>
              <a:rPr lang="en-GB" sz="2400" b="1" dirty="0"/>
              <a:t>Dimensions</a:t>
            </a:r>
            <a:endParaRPr lang="en-GB" sz="2000" b="1" dirty="0"/>
          </a:p>
          <a:p>
            <a:pPr algn="ctr">
              <a:buNone/>
            </a:pPr>
            <a:r>
              <a:rPr lang="en-GB" sz="2000" dirty="0"/>
              <a:t>number of axes in an array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16F065-FBB7-C0ED-65B2-2A0E6B318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427229"/>
              </p:ext>
            </p:extLst>
          </p:nvPr>
        </p:nvGraphicFramePr>
        <p:xfrm>
          <a:off x="1267012" y="1742487"/>
          <a:ext cx="6825129" cy="18288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504161">
                  <a:extLst>
                    <a:ext uri="{9D8B030D-6E8A-4147-A177-3AD203B41FA5}">
                      <a16:colId xmlns:a16="http://schemas.microsoft.com/office/drawing/2014/main" val="2408290595"/>
                    </a:ext>
                  </a:extLst>
                </a:gridCol>
                <a:gridCol w="2776429">
                  <a:extLst>
                    <a:ext uri="{9D8B030D-6E8A-4147-A177-3AD203B41FA5}">
                      <a16:colId xmlns:a16="http://schemas.microsoft.com/office/drawing/2014/main" val="2445583675"/>
                    </a:ext>
                  </a:extLst>
                </a:gridCol>
                <a:gridCol w="2544539">
                  <a:extLst>
                    <a:ext uri="{9D8B030D-6E8A-4147-A177-3AD203B41FA5}">
                      <a16:colId xmlns:a16="http://schemas.microsoft.com/office/drawing/2014/main" val="3214715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Dimension</a:t>
                      </a:r>
                      <a:endParaRPr lang="en-GB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  <a:endParaRPr lang="en-GB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  <a:endParaRPr lang="en-GB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563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0D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Scalar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 = </a:t>
                      </a:r>
                      <a:r>
                        <a:rPr lang="en-GB" dirty="0" err="1"/>
                        <a:t>np.array</a:t>
                      </a:r>
                      <a:r>
                        <a:rPr lang="en-GB" dirty="0"/>
                        <a:t>(10)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00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1D</a:t>
                      </a:r>
                      <a:endParaRPr lang="en-GB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Vector</a:t>
                      </a:r>
                      <a:endParaRPr lang="en-GB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 = </a:t>
                      </a:r>
                      <a:r>
                        <a:rPr lang="en-GB" dirty="0" err="1"/>
                        <a:t>np.array</a:t>
                      </a:r>
                      <a:r>
                        <a:rPr lang="en-GB" dirty="0"/>
                        <a:t>([1,2])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99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2D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Matrix/ T</a:t>
                      </a:r>
                      <a:r>
                        <a:rPr lang="en-GB" sz="1800" dirty="0"/>
                        <a:t>able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 = </a:t>
                      </a:r>
                      <a:r>
                        <a:rPr lang="en-GB" dirty="0" err="1"/>
                        <a:t>np.array</a:t>
                      </a:r>
                      <a:r>
                        <a:rPr lang="en-GB" dirty="0"/>
                        <a:t>([[1,2],[3,4]])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139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3D</a:t>
                      </a:r>
                      <a:endParaRPr lang="en-GB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Tensor/ </a:t>
                      </a:r>
                      <a:r>
                        <a:rPr lang="en-GB" sz="1800" dirty="0"/>
                        <a:t>Images, Videos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3D image array</a:t>
                      </a:r>
                      <a:endParaRPr lang="en-GB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2924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48443B-31B9-A740-EA2A-C745BFA611D5}"/>
              </a:ext>
            </a:extLst>
          </p:cNvPr>
          <p:cNvSpPr txBox="1"/>
          <p:nvPr/>
        </p:nvSpPr>
        <p:spPr>
          <a:xfrm>
            <a:off x="5507922" y="4084423"/>
            <a:ext cx="3276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a.ndim</a:t>
            </a:r>
            <a:r>
              <a:rPr lang="en-GB" sz="2000" dirty="0"/>
              <a:t>, </a:t>
            </a:r>
            <a:r>
              <a:rPr lang="en-GB" sz="2000" dirty="0" err="1"/>
              <a:t>b.ndim</a:t>
            </a:r>
            <a:r>
              <a:rPr lang="en-GB" sz="2000" dirty="0"/>
              <a:t>, </a:t>
            </a:r>
            <a:r>
              <a:rPr lang="en-GB" sz="2000" dirty="0" err="1"/>
              <a:t>c.ndim</a:t>
            </a:r>
            <a:r>
              <a:rPr lang="en-GB" sz="2000" dirty="0"/>
              <a:t>)</a:t>
            </a:r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0 1 2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EB5D1B-0C35-AA73-3197-8FC1869B9A44}"/>
              </a:ext>
            </a:extLst>
          </p:cNvPr>
          <p:cNvSpPr txBox="1"/>
          <p:nvPr/>
        </p:nvSpPr>
        <p:spPr>
          <a:xfrm>
            <a:off x="1297697" y="3975746"/>
            <a:ext cx="32422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Example: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([[1,2,3],[4,5,6]])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a.ndim</a:t>
            </a:r>
            <a:r>
              <a:rPr lang="en-US" sz="2000" dirty="0"/>
              <a:t>)</a:t>
            </a:r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126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2B2ECD8-6D12-A544-AE4B-E85C671C8591}"/>
              </a:ext>
            </a:extLst>
          </p:cNvPr>
          <p:cNvSpPr txBox="1"/>
          <p:nvPr/>
        </p:nvSpPr>
        <p:spPr>
          <a:xfrm>
            <a:off x="2889623" y="221733"/>
            <a:ext cx="2883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Shape, Size &amp; Bytes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F2D43-C351-D666-D0CE-E7CAF8AA36FF}"/>
              </a:ext>
            </a:extLst>
          </p:cNvPr>
          <p:cNvSpPr txBox="1"/>
          <p:nvPr/>
        </p:nvSpPr>
        <p:spPr>
          <a:xfrm>
            <a:off x="4285797" y="3291487"/>
            <a:ext cx="4769493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Reshape:</a:t>
            </a:r>
          </a:p>
          <a:p>
            <a:pPr>
              <a:buNone/>
            </a:pPr>
            <a:r>
              <a:rPr lang="en-US" sz="2000" dirty="0"/>
              <a:t>Reshaping modifies the structure (dimensions) without changing data.</a:t>
            </a:r>
            <a:endParaRPr lang="en-GB" sz="2000" b="1" dirty="0"/>
          </a:p>
          <a:p>
            <a:pPr rtl="0">
              <a:buNone/>
            </a:pPr>
            <a:r>
              <a:rPr lang="en-GB" sz="2000" dirty="0"/>
              <a:t>b = </a:t>
            </a:r>
            <a:r>
              <a:rPr lang="en-GB" sz="2000" dirty="0" err="1"/>
              <a:t>a.reshape</a:t>
            </a:r>
            <a:r>
              <a:rPr lang="en-GB" sz="2000" dirty="0"/>
              <a:t>(3,2)</a:t>
            </a:r>
          </a:p>
          <a:p>
            <a:pPr rtl="0">
              <a:buNone/>
            </a:pPr>
            <a:r>
              <a:rPr lang="en-GB" sz="2000" dirty="0"/>
              <a:t>print(b)</a:t>
            </a:r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r>
              <a:rPr lang="en-GB" sz="2000" dirty="0"/>
              <a:t>[[1 2]</a:t>
            </a:r>
          </a:p>
          <a:p>
            <a:r>
              <a:rPr lang="en-GB" sz="2000" dirty="0"/>
              <a:t> [3 4]</a:t>
            </a:r>
          </a:p>
          <a:p>
            <a:r>
              <a:rPr lang="en-GB" sz="2000" dirty="0"/>
              <a:t> [5 6]]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EC093-F2C0-581F-294F-DBC624FC0B7E}"/>
              </a:ext>
            </a:extLst>
          </p:cNvPr>
          <p:cNvSpPr txBox="1"/>
          <p:nvPr/>
        </p:nvSpPr>
        <p:spPr>
          <a:xfrm>
            <a:off x="285173" y="928418"/>
            <a:ext cx="515769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Shape, Size &amp; Bytes</a:t>
            </a:r>
          </a:p>
          <a:p>
            <a:pPr>
              <a:buNone/>
            </a:pPr>
            <a:r>
              <a:rPr lang="en-GB" sz="2000" dirty="0"/>
              <a:t>• </a:t>
            </a:r>
            <a:r>
              <a:rPr lang="en-GB" sz="2000" dirty="0">
                <a:highlight>
                  <a:srgbClr val="FFFF00"/>
                </a:highlight>
              </a:rPr>
              <a:t>.shape </a:t>
            </a:r>
            <a:r>
              <a:rPr lang="en-GB" sz="2000" dirty="0"/>
              <a:t>→ (rows, columns) # gives structure</a:t>
            </a:r>
            <a:br>
              <a:rPr lang="en-GB" sz="2000" dirty="0"/>
            </a:br>
            <a:r>
              <a:rPr lang="en-GB" sz="2000" dirty="0"/>
              <a:t>• </a:t>
            </a:r>
            <a:r>
              <a:rPr lang="en-GB" sz="2000" dirty="0">
                <a:highlight>
                  <a:srgbClr val="FFFF00"/>
                </a:highlight>
              </a:rPr>
              <a:t>.size </a:t>
            </a:r>
            <a:r>
              <a:rPr lang="en-GB" sz="2000" dirty="0"/>
              <a:t>→ total elements # number of elements</a:t>
            </a:r>
            <a:br>
              <a:rPr lang="en-GB" sz="2000" dirty="0"/>
            </a:br>
            <a:r>
              <a:rPr lang="en-GB" sz="2000" dirty="0"/>
              <a:t>• </a:t>
            </a:r>
            <a:r>
              <a:rPr lang="en-GB" sz="2000" dirty="0">
                <a:highlight>
                  <a:srgbClr val="FFFF00"/>
                </a:highlight>
              </a:rPr>
              <a:t>.</a:t>
            </a:r>
            <a:r>
              <a:rPr lang="en-GB" sz="2000" dirty="0" err="1">
                <a:highlight>
                  <a:srgbClr val="FFFF00"/>
                </a:highlight>
              </a:rPr>
              <a:t>nbytes</a:t>
            </a:r>
            <a:r>
              <a:rPr lang="en-GB" sz="2000" dirty="0">
                <a:highlight>
                  <a:srgbClr val="FFFF00"/>
                </a:highlight>
              </a:rPr>
              <a:t> </a:t>
            </a:r>
            <a:r>
              <a:rPr lang="en-GB" sz="2000" dirty="0"/>
              <a:t>→ memory usage in bytes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b="1" dirty="0"/>
              <a:t>Code:</a:t>
            </a:r>
            <a:endParaRPr lang="en-GB" sz="2000" dirty="0"/>
          </a:p>
          <a:p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([[1,2,3],[4,5,6]])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a.shape</a:t>
            </a:r>
            <a:r>
              <a:rPr lang="en-US" sz="2000" dirty="0"/>
              <a:t>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a.size</a:t>
            </a:r>
            <a:r>
              <a:rPr lang="en-US" sz="2000" dirty="0"/>
              <a:t>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a.nbytes</a:t>
            </a:r>
            <a:r>
              <a:rPr lang="en-US" sz="2000" dirty="0"/>
              <a:t>)</a:t>
            </a:r>
          </a:p>
          <a:p>
            <a:endParaRPr lang="en-US" sz="2000" b="1" dirty="0"/>
          </a:p>
          <a:p>
            <a:r>
              <a:rPr lang="en-GB" sz="2000" b="1" dirty="0"/>
              <a:t>Output:</a:t>
            </a:r>
            <a:br>
              <a:rPr lang="en-GB" sz="2000" dirty="0"/>
            </a:br>
            <a:r>
              <a:rPr lang="en-GB" sz="2000" dirty="0"/>
              <a:t>(2, 3)</a:t>
            </a:r>
          </a:p>
          <a:p>
            <a:r>
              <a:rPr lang="en-GB" sz="2000" dirty="0"/>
              <a:t>6</a:t>
            </a:r>
          </a:p>
          <a:p>
            <a:r>
              <a:rPr lang="en-GB" sz="2000" dirty="0"/>
              <a:t>48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CE1C0-E78D-AE65-F077-38FA57448988}"/>
              </a:ext>
            </a:extLst>
          </p:cNvPr>
          <p:cNvSpPr txBox="1"/>
          <p:nvPr/>
        </p:nvSpPr>
        <p:spPr>
          <a:xfrm>
            <a:off x="5629701" y="1280574"/>
            <a:ext cx="3398293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shape</a:t>
            </a:r>
          </a:p>
          <a:p>
            <a:pPr rtl="0">
              <a:buNone/>
            </a:pPr>
            <a:r>
              <a:rPr lang="en-GB" sz="2000" dirty="0"/>
              <a:t>a = </a:t>
            </a:r>
            <a:r>
              <a:rPr lang="en-GB" sz="2000" dirty="0" err="1"/>
              <a:t>np.array</a:t>
            </a:r>
            <a:r>
              <a:rPr lang="en-GB" sz="2000" dirty="0"/>
              <a:t>([[1,2,3],[4,5,6]])</a:t>
            </a:r>
          </a:p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a.shape</a:t>
            </a:r>
            <a:r>
              <a:rPr lang="en-GB" sz="2000" dirty="0"/>
              <a:t>)</a:t>
            </a:r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(2, 3)</a:t>
            </a:r>
          </a:p>
        </p:txBody>
      </p:sp>
    </p:spTree>
    <p:extLst>
      <p:ext uri="{BB962C8B-B14F-4D97-AF65-F5344CB8AC3E}">
        <p14:creationId xmlns:p14="http://schemas.microsoft.com/office/powerpoint/2010/main" val="39900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8BDF1-42F3-7C03-CF5C-449F703BFA50}"/>
              </a:ext>
            </a:extLst>
          </p:cNvPr>
          <p:cNvSpPr txBox="1"/>
          <p:nvPr/>
        </p:nvSpPr>
        <p:spPr>
          <a:xfrm>
            <a:off x="4675651" y="819948"/>
            <a:ext cx="3182471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Stacking</a:t>
            </a:r>
          </a:p>
          <a:p>
            <a:pPr rtl="0">
              <a:buNone/>
            </a:pPr>
            <a:r>
              <a:rPr lang="en-GB" sz="2000" dirty="0"/>
              <a:t>a = </a:t>
            </a:r>
            <a:r>
              <a:rPr lang="en-GB" sz="2000" dirty="0" err="1"/>
              <a:t>np.array</a:t>
            </a:r>
            <a:r>
              <a:rPr lang="en-GB" sz="2000" dirty="0"/>
              <a:t>([1,2])</a:t>
            </a:r>
          </a:p>
          <a:p>
            <a:pPr rtl="0">
              <a:buNone/>
            </a:pPr>
            <a:r>
              <a:rPr lang="en-GB" sz="2000" dirty="0"/>
              <a:t>b = </a:t>
            </a:r>
            <a:r>
              <a:rPr lang="en-GB" sz="2000" dirty="0" err="1"/>
              <a:t>np.array</a:t>
            </a:r>
            <a:r>
              <a:rPr lang="en-GB" sz="2000" dirty="0"/>
              <a:t>([3,4])</a:t>
            </a:r>
          </a:p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np.hstack</a:t>
            </a:r>
            <a:r>
              <a:rPr lang="en-GB" sz="2000" dirty="0"/>
              <a:t>((</a:t>
            </a:r>
            <a:r>
              <a:rPr lang="en-GB" sz="2000" dirty="0" err="1"/>
              <a:t>a,b</a:t>
            </a:r>
            <a:r>
              <a:rPr lang="en-GB" sz="2000" dirty="0"/>
              <a:t>)))</a:t>
            </a:r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[1 2 3 4]</a:t>
            </a:r>
          </a:p>
          <a:p>
            <a:pPr rtl="0">
              <a:buNone/>
            </a:pP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A93B6F-5040-FCFF-20A7-97E25E140F09}"/>
              </a:ext>
            </a:extLst>
          </p:cNvPr>
          <p:cNvSpPr txBox="1"/>
          <p:nvPr/>
        </p:nvSpPr>
        <p:spPr>
          <a:xfrm>
            <a:off x="686759" y="861441"/>
            <a:ext cx="289560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Matrix Operations</a:t>
            </a:r>
          </a:p>
          <a:p>
            <a:pPr rtl="0">
              <a:buNone/>
            </a:pPr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([[1,2],[3,4]])</a:t>
            </a:r>
          </a:p>
          <a:p>
            <a:pPr rtl="0">
              <a:buNone/>
            </a:pPr>
            <a:r>
              <a:rPr lang="en-US" sz="2000" dirty="0"/>
              <a:t>B = </a:t>
            </a:r>
            <a:r>
              <a:rPr lang="en-US" sz="2000" dirty="0" err="1"/>
              <a:t>np.array</a:t>
            </a:r>
            <a:r>
              <a:rPr lang="en-US" sz="2000" dirty="0"/>
              <a:t>([[5,6],[7,8]])</a:t>
            </a:r>
          </a:p>
          <a:p>
            <a:pPr rtl="0">
              <a:buNone/>
            </a:pPr>
            <a:r>
              <a:rPr lang="en-US" sz="2000" dirty="0"/>
              <a:t>print(A.dot(B))</a:t>
            </a:r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[[19 22]</a:t>
            </a:r>
          </a:p>
          <a:p>
            <a:pPr rtl="0">
              <a:buNone/>
            </a:pPr>
            <a:r>
              <a:rPr lang="en-US" sz="2000" dirty="0"/>
              <a:t> [43 50]]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9A6A6-DE06-1B11-1E65-87FE7442BD47}"/>
              </a:ext>
            </a:extLst>
          </p:cNvPr>
          <p:cNvSpPr txBox="1"/>
          <p:nvPr/>
        </p:nvSpPr>
        <p:spPr>
          <a:xfrm>
            <a:off x="4743801" y="3548161"/>
            <a:ext cx="2823882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Sorting</a:t>
            </a:r>
          </a:p>
          <a:p>
            <a:pPr rtl="0">
              <a:buNone/>
            </a:pPr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np.array</a:t>
            </a:r>
            <a:r>
              <a:rPr lang="en-US" sz="2000" dirty="0"/>
              <a:t>([3,1,5,2])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np.sort</a:t>
            </a:r>
            <a:r>
              <a:rPr lang="en-US" sz="2000" dirty="0"/>
              <a:t>(</a:t>
            </a:r>
            <a:r>
              <a:rPr lang="en-US" sz="2000" dirty="0" err="1"/>
              <a:t>arr</a:t>
            </a:r>
            <a:r>
              <a:rPr lang="en-US" sz="2000" dirty="0"/>
              <a:t>))</a:t>
            </a:r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[1 2 3 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49675-BE03-BC7A-7201-A4A45734A0EA}"/>
              </a:ext>
            </a:extLst>
          </p:cNvPr>
          <p:cNvSpPr txBox="1"/>
          <p:nvPr/>
        </p:nvSpPr>
        <p:spPr>
          <a:xfrm>
            <a:off x="675564" y="3577440"/>
            <a:ext cx="3370997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Splitting:</a:t>
            </a:r>
          </a:p>
          <a:p>
            <a:pPr rtl="0">
              <a:buNone/>
            </a:pPr>
            <a:r>
              <a:rPr lang="en-GB" sz="2000" dirty="0"/>
              <a:t>c = </a:t>
            </a:r>
            <a:r>
              <a:rPr lang="en-GB" sz="2000" dirty="0" err="1"/>
              <a:t>np.array</a:t>
            </a:r>
            <a:r>
              <a:rPr lang="en-GB" sz="2000" dirty="0"/>
              <a:t>([10,20,30,40])</a:t>
            </a:r>
          </a:p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np.split</a:t>
            </a:r>
            <a:r>
              <a:rPr lang="en-GB" sz="2000" dirty="0"/>
              <a:t>(c,2))</a:t>
            </a:r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[array([10,20]), array([30,40])]</a:t>
            </a:r>
          </a:p>
        </p:txBody>
      </p:sp>
    </p:spTree>
    <p:extLst>
      <p:ext uri="{BB962C8B-B14F-4D97-AF65-F5344CB8AC3E}">
        <p14:creationId xmlns:p14="http://schemas.microsoft.com/office/powerpoint/2010/main" val="230479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3E0F908-9005-284A-8F17-286BFDD6EF59}"/>
              </a:ext>
            </a:extLst>
          </p:cNvPr>
          <p:cNvSpPr txBox="1"/>
          <p:nvPr/>
        </p:nvSpPr>
        <p:spPr>
          <a:xfrm>
            <a:off x="1020462" y="1661459"/>
            <a:ext cx="3612776" cy="40934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1D:</a:t>
            </a:r>
          </a:p>
          <a:p>
            <a:pPr rtl="0">
              <a:buNone/>
            </a:pPr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np.array</a:t>
            </a:r>
            <a:r>
              <a:rPr lang="en-US" sz="2000" dirty="0"/>
              <a:t>([10,20,30,40])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arr</a:t>
            </a:r>
            <a:r>
              <a:rPr lang="en-US" sz="2000" dirty="0"/>
              <a:t>[2]) </a:t>
            </a:r>
          </a:p>
          <a:p>
            <a:pPr rtl="0">
              <a:buNone/>
            </a:pPr>
            <a:endParaRPr lang="en-US" sz="2000" b="1" dirty="0"/>
          </a:p>
          <a:p>
            <a:pPr rtl="0">
              <a:buNone/>
            </a:pPr>
            <a:r>
              <a:rPr lang="en-US" sz="2000" b="1" dirty="0"/>
              <a:t>Output: </a:t>
            </a:r>
          </a:p>
          <a:p>
            <a:pPr rtl="0">
              <a:buNone/>
            </a:pPr>
            <a:r>
              <a:rPr lang="en-US" sz="2000" dirty="0"/>
              <a:t>30</a:t>
            </a:r>
          </a:p>
          <a:p>
            <a:pPr rtl="0"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2D:</a:t>
            </a:r>
          </a:p>
          <a:p>
            <a:pPr rtl="0">
              <a:buNone/>
            </a:pPr>
            <a:r>
              <a:rPr lang="en-US" sz="2000" dirty="0"/>
              <a:t>b = </a:t>
            </a:r>
            <a:r>
              <a:rPr lang="en-US" sz="2000" dirty="0" err="1"/>
              <a:t>np.array</a:t>
            </a:r>
            <a:r>
              <a:rPr lang="en-US" sz="2000" dirty="0"/>
              <a:t>([[1, 2, 3],[4, 5, 6]])</a:t>
            </a:r>
          </a:p>
          <a:p>
            <a:pPr rtl="0">
              <a:buNone/>
            </a:pPr>
            <a:r>
              <a:rPr lang="en-US" sz="2000" dirty="0"/>
              <a:t>print(b[1,2])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B6D45-1D00-AB1F-FE18-B87C22FAB357}"/>
              </a:ext>
            </a:extLst>
          </p:cNvPr>
          <p:cNvSpPr txBox="1"/>
          <p:nvPr/>
        </p:nvSpPr>
        <p:spPr>
          <a:xfrm>
            <a:off x="5270712" y="1654466"/>
            <a:ext cx="3331882" cy="1631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Boolean Indexing</a:t>
            </a:r>
          </a:p>
          <a:p>
            <a:pPr rtl="0">
              <a:buNone/>
            </a:pPr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np.array</a:t>
            </a:r>
            <a:r>
              <a:rPr lang="en-US" sz="2000" dirty="0"/>
              <a:t>([10,15,20,25])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arr</a:t>
            </a:r>
            <a:r>
              <a:rPr lang="en-US" sz="2000" dirty="0"/>
              <a:t>[</a:t>
            </a:r>
            <a:r>
              <a:rPr lang="en-US" sz="2000" dirty="0" err="1"/>
              <a:t>arr</a:t>
            </a:r>
            <a:r>
              <a:rPr lang="en-US" sz="2000" dirty="0"/>
              <a:t> &gt; 15])</a:t>
            </a:r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[20 25]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91C12-1369-5FD1-9219-15134356ED3E}"/>
              </a:ext>
            </a:extLst>
          </p:cNvPr>
          <p:cNvSpPr txBox="1"/>
          <p:nvPr/>
        </p:nvSpPr>
        <p:spPr>
          <a:xfrm>
            <a:off x="3944203" y="569373"/>
            <a:ext cx="1521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75554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E7195-1706-A9F5-FA76-E6271A17C206}"/>
              </a:ext>
            </a:extLst>
          </p:cNvPr>
          <p:cNvSpPr txBox="1"/>
          <p:nvPr/>
        </p:nvSpPr>
        <p:spPr>
          <a:xfrm>
            <a:off x="525439" y="133637"/>
            <a:ext cx="8218137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dirty="0" err="1"/>
              <a:t>Arange</a:t>
            </a:r>
            <a:r>
              <a:rPr lang="en-GB" sz="2400" b="1" dirty="0"/>
              <a:t>() &amp; Random</a:t>
            </a:r>
          </a:p>
          <a:p>
            <a:pPr>
              <a:buNone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i="1" dirty="0" err="1">
                <a:highlight>
                  <a:srgbClr val="FFFF00"/>
                </a:highlight>
              </a:rPr>
              <a:t>np.arange</a:t>
            </a:r>
            <a:r>
              <a:rPr lang="en-US" sz="2000" i="1" dirty="0">
                <a:highlight>
                  <a:srgbClr val="FFFF00"/>
                </a:highlight>
              </a:rPr>
              <a:t>() </a:t>
            </a:r>
            <a:r>
              <a:rPr lang="en-US" sz="2000" dirty="0"/>
              <a:t>generates a sequence of numbers</a:t>
            </a:r>
            <a:br>
              <a:rPr lang="en-US" sz="2000" dirty="0"/>
            </a:br>
            <a:r>
              <a:rPr lang="en-US" sz="2000" dirty="0"/>
              <a:t>Random package helps generate random arrays for simulation &amp; ML.</a:t>
            </a:r>
            <a:endParaRPr lang="en-GB" sz="2000" dirty="0"/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b="1" dirty="0"/>
              <a:t>Code1: </a:t>
            </a:r>
            <a:r>
              <a:rPr lang="en-GB" sz="2000" dirty="0" err="1"/>
              <a:t>arr</a:t>
            </a:r>
            <a:r>
              <a:rPr lang="en-GB" sz="2000" dirty="0"/>
              <a:t> = </a:t>
            </a:r>
            <a:r>
              <a:rPr lang="en-GB" sz="2000" dirty="0" err="1"/>
              <a:t>np.arange</a:t>
            </a:r>
            <a:r>
              <a:rPr lang="en-GB" sz="2000" dirty="0"/>
              <a:t>(1,10,2)</a:t>
            </a:r>
          </a:p>
          <a:p>
            <a:r>
              <a:rPr lang="en-GB" sz="2000" dirty="0"/>
              <a:t>print(</a:t>
            </a:r>
            <a:r>
              <a:rPr lang="en-GB" sz="2000" dirty="0" err="1"/>
              <a:t>arr</a:t>
            </a:r>
            <a:r>
              <a:rPr lang="en-GB" sz="2000" dirty="0"/>
              <a:t>)</a:t>
            </a:r>
          </a:p>
          <a:p>
            <a:r>
              <a:rPr lang="en-GB" sz="2000" dirty="0"/>
              <a:t>[1 3 5 7 9]</a:t>
            </a:r>
          </a:p>
          <a:p>
            <a:endParaRPr lang="en-GB" sz="2000" dirty="0"/>
          </a:p>
          <a:p>
            <a:r>
              <a:rPr lang="en-GB" sz="2000" b="1" dirty="0"/>
              <a:t>Code 2:</a:t>
            </a:r>
          </a:p>
          <a:p>
            <a:r>
              <a:rPr lang="en-GB" sz="2000" dirty="0"/>
              <a:t>rand = </a:t>
            </a:r>
            <a:r>
              <a:rPr lang="en-GB" sz="2000" dirty="0" err="1"/>
              <a:t>np.random.rand</a:t>
            </a:r>
            <a:r>
              <a:rPr lang="en-GB" sz="2000" dirty="0"/>
              <a:t>(3) </a:t>
            </a:r>
            <a:r>
              <a:rPr lang="en-GB" sz="2000" u="sng" dirty="0"/>
              <a:t># random floats [0,1)</a:t>
            </a:r>
          </a:p>
          <a:p>
            <a:r>
              <a:rPr lang="en-GB" sz="2000" dirty="0"/>
              <a:t>print(rand)</a:t>
            </a:r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r>
              <a:rPr lang="en-GB" sz="2000" dirty="0"/>
              <a:t>[0.52 0.11 0.88]</a:t>
            </a:r>
          </a:p>
          <a:p>
            <a:endParaRPr lang="en-GB" sz="2000" dirty="0"/>
          </a:p>
          <a:p>
            <a:r>
              <a:rPr lang="en-GB" sz="2000" b="1" dirty="0"/>
              <a:t>Code 3:</a:t>
            </a:r>
          </a:p>
          <a:p>
            <a:r>
              <a:rPr lang="en-US" sz="2000" dirty="0"/>
              <a:t>from </a:t>
            </a:r>
            <a:r>
              <a:rPr lang="en-US" sz="2000" dirty="0" err="1"/>
              <a:t>numpy</a:t>
            </a:r>
            <a:r>
              <a:rPr lang="en-US" sz="2000" dirty="0"/>
              <a:t> import random</a:t>
            </a:r>
          </a:p>
          <a:p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random.randint</a:t>
            </a:r>
            <a:r>
              <a:rPr lang="en-US" sz="2000" dirty="0"/>
              <a:t>(1,100,5)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arr</a:t>
            </a:r>
            <a:r>
              <a:rPr lang="en-US" sz="2000" dirty="0"/>
              <a:t>)</a:t>
            </a:r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[23 78 12 65 44]</a:t>
            </a:r>
          </a:p>
        </p:txBody>
      </p:sp>
    </p:spTree>
    <p:extLst>
      <p:ext uri="{BB962C8B-B14F-4D97-AF65-F5344CB8AC3E}">
        <p14:creationId xmlns:p14="http://schemas.microsoft.com/office/powerpoint/2010/main" val="377396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ACA033D-24D3-78E8-CCC6-63AB16D9AB83}"/>
              </a:ext>
            </a:extLst>
          </p:cNvPr>
          <p:cNvSpPr txBox="1"/>
          <p:nvPr/>
        </p:nvSpPr>
        <p:spPr>
          <a:xfrm>
            <a:off x="1860547" y="414236"/>
            <a:ext cx="5514676" cy="390876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Combined Slicing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Extract rows &amp; columns using slicing ranges.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Code: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([[10,20,30],[40,50,60],[70,80,90]])</a:t>
            </a:r>
          </a:p>
          <a:p>
            <a:pPr rtl="0">
              <a:buNone/>
            </a:pPr>
            <a:r>
              <a:rPr lang="en-US" sz="2000" dirty="0"/>
              <a:t>print(a[0:2, 1:3])</a:t>
            </a:r>
          </a:p>
          <a:p>
            <a:pPr rtl="0"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Output:</a:t>
            </a:r>
            <a:br>
              <a:rPr lang="en-US" sz="2000" dirty="0"/>
            </a:br>
            <a:r>
              <a:rPr lang="en-US" sz="2000" dirty="0"/>
              <a:t>[[20 30]</a:t>
            </a:r>
          </a:p>
          <a:p>
            <a:pPr>
              <a:buNone/>
            </a:pPr>
            <a:r>
              <a:rPr lang="en-US" sz="2000" dirty="0"/>
              <a:t>[50 60]]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1A870-55E4-C71B-959C-CF0BDEEE5868}"/>
              </a:ext>
            </a:extLst>
          </p:cNvPr>
          <p:cNvSpPr txBox="1"/>
          <p:nvPr/>
        </p:nvSpPr>
        <p:spPr>
          <a:xfrm>
            <a:off x="852196" y="4466251"/>
            <a:ext cx="25379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     0     1    2</a:t>
            </a:r>
          </a:p>
          <a:p>
            <a:r>
              <a:rPr lang="en-US" sz="3200" b="1" dirty="0"/>
              <a:t>0 </a:t>
            </a:r>
            <a:r>
              <a:rPr lang="en-US" sz="3200" dirty="0"/>
              <a:t>[10,20,30]</a:t>
            </a:r>
          </a:p>
          <a:p>
            <a:r>
              <a:rPr lang="en-US" sz="3200" b="1" dirty="0"/>
              <a:t>1 </a:t>
            </a:r>
            <a:r>
              <a:rPr lang="en-US" sz="3200" dirty="0"/>
              <a:t>[40,50,60]</a:t>
            </a:r>
          </a:p>
          <a:p>
            <a:r>
              <a:rPr lang="en-US" sz="3200" b="1" dirty="0"/>
              <a:t>2 </a:t>
            </a:r>
            <a:r>
              <a:rPr lang="en-US" sz="3200" dirty="0"/>
              <a:t>[70,80,90]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D697D-C836-11E3-4B6B-3D7E42AB072F}"/>
              </a:ext>
            </a:extLst>
          </p:cNvPr>
          <p:cNvSpPr txBox="1"/>
          <p:nvPr/>
        </p:nvSpPr>
        <p:spPr>
          <a:xfrm>
            <a:off x="3878425" y="4824224"/>
            <a:ext cx="45688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a[0,0] = 10, a[0,1] = 20, a[1,2] = 60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row 0 → [10, 20, 30]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row 1 → [40, 50, 60]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column 1 → second column (values 20, 50, 80)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column 2 → third column (values 30, 60, 90)</a:t>
            </a:r>
            <a:endParaRPr lang="pt-BR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GB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58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321E56-5349-98BA-2A4D-3B0104CAE07E}"/>
              </a:ext>
            </a:extLst>
          </p:cNvPr>
          <p:cNvSpPr txBox="1"/>
          <p:nvPr/>
        </p:nvSpPr>
        <p:spPr>
          <a:xfrm>
            <a:off x="898657" y="1250791"/>
            <a:ext cx="5486399" cy="2862322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r>
              <a:rPr lang="en-GB" sz="2000" dirty="0"/>
              <a:t>Broadcasting → math with array + scalar. </a:t>
            </a:r>
          </a:p>
          <a:p>
            <a:r>
              <a:rPr lang="en-US" sz="2000" dirty="0"/>
              <a:t>Apply operations to entire array without loops.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b="1" dirty="0"/>
              <a:t>Code:</a:t>
            </a:r>
          </a:p>
          <a:p>
            <a:pPr>
              <a:buNone/>
            </a:pPr>
            <a:r>
              <a:rPr lang="en-US" sz="2000" dirty="0"/>
              <a:t>x = </a:t>
            </a:r>
            <a:r>
              <a:rPr lang="en-US" sz="2000" dirty="0" err="1"/>
              <a:t>np.array</a:t>
            </a:r>
            <a:r>
              <a:rPr lang="en-US" sz="2000" dirty="0"/>
              <a:t>([1,2,3])</a:t>
            </a:r>
          </a:p>
          <a:p>
            <a:pPr>
              <a:buNone/>
            </a:pPr>
            <a:r>
              <a:rPr lang="en-US" sz="2000" dirty="0"/>
              <a:t>print(x + 5)</a:t>
            </a:r>
          </a:p>
          <a:p>
            <a:pPr>
              <a:buNone/>
            </a:pPr>
            <a:endParaRPr lang="en-GB" sz="2000" dirty="0"/>
          </a:p>
          <a:p>
            <a:r>
              <a:rPr lang="en-GB" sz="2000" b="1" dirty="0"/>
              <a:t>Output:</a:t>
            </a:r>
            <a:endParaRPr lang="en-GB" sz="2000" dirty="0"/>
          </a:p>
          <a:p>
            <a:r>
              <a:rPr lang="en-GB" sz="2000" dirty="0"/>
              <a:t>[6 7 8]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24D8D-E696-0F4B-0ACB-4545B1D92811}"/>
              </a:ext>
            </a:extLst>
          </p:cNvPr>
          <p:cNvSpPr txBox="1"/>
          <p:nvPr/>
        </p:nvSpPr>
        <p:spPr>
          <a:xfrm>
            <a:off x="2831911" y="43971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Broadcasting &amp; Concatenation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6BDDD-25ED-64B5-7480-24AD3E7E216D}"/>
              </a:ext>
            </a:extLst>
          </p:cNvPr>
          <p:cNvSpPr txBox="1"/>
          <p:nvPr/>
        </p:nvSpPr>
        <p:spPr>
          <a:xfrm>
            <a:off x="3459706" y="3146131"/>
            <a:ext cx="5418161" cy="25545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Concatenation</a:t>
            </a:r>
            <a:r>
              <a:rPr lang="en-US" sz="2000" dirty="0"/>
              <a:t>:</a:t>
            </a:r>
            <a:r>
              <a:rPr lang="en-GB" sz="2000" dirty="0"/>
              <a:t> → join arrays together</a:t>
            </a:r>
          </a:p>
          <a:p>
            <a:endParaRPr lang="en-US" sz="2000" dirty="0"/>
          </a:p>
          <a:p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([1,2])</a:t>
            </a:r>
          </a:p>
          <a:p>
            <a:r>
              <a:rPr lang="en-US" sz="2000" dirty="0"/>
              <a:t>b = </a:t>
            </a:r>
            <a:r>
              <a:rPr lang="en-US" sz="2000" dirty="0" err="1"/>
              <a:t>np.array</a:t>
            </a:r>
            <a:r>
              <a:rPr lang="en-US" sz="2000" dirty="0"/>
              <a:t>([3,4])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np.concatenate</a:t>
            </a:r>
            <a:r>
              <a:rPr lang="en-US" sz="2000" dirty="0"/>
              <a:t>((</a:t>
            </a:r>
            <a:r>
              <a:rPr lang="en-US" sz="2000" dirty="0" err="1"/>
              <a:t>a,b</a:t>
            </a:r>
            <a:r>
              <a:rPr lang="en-US" sz="2000" dirty="0"/>
              <a:t>)))</a:t>
            </a:r>
          </a:p>
          <a:p>
            <a:endParaRPr lang="en-US" sz="2000" dirty="0"/>
          </a:p>
          <a:p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[1 2 3 4]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13044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7A212-685A-F553-F79F-9DC5E695CD36}"/>
              </a:ext>
            </a:extLst>
          </p:cNvPr>
          <p:cNvSpPr txBox="1"/>
          <p:nvPr/>
        </p:nvSpPr>
        <p:spPr>
          <a:xfrm>
            <a:off x="750627" y="1447591"/>
            <a:ext cx="80931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Explanation:</a:t>
            </a:r>
          </a:p>
          <a:p>
            <a:pPr>
              <a:buNone/>
            </a:pPr>
            <a:r>
              <a:rPr lang="en-US" sz="2000" dirty="0"/>
              <a:t>Filter values using logical condition</a:t>
            </a:r>
          </a:p>
          <a:p>
            <a:pPr>
              <a:buNone/>
            </a:pPr>
            <a:r>
              <a:rPr lang="en-US" sz="2000" dirty="0"/>
              <a:t>Masking filters values based on a condition → important in data cleaning.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Code:</a:t>
            </a:r>
            <a:endParaRPr lang="en-US" sz="2000" dirty="0"/>
          </a:p>
          <a:p>
            <a:pPr rtl="0">
              <a:buNone/>
            </a:pPr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np.array</a:t>
            </a:r>
            <a:r>
              <a:rPr lang="en-US" sz="2000" dirty="0"/>
              <a:t>([10,25,30,18,50])</a:t>
            </a:r>
          </a:p>
          <a:p>
            <a:r>
              <a:rPr lang="en-US" sz="2000" dirty="0"/>
              <a:t>mask = </a:t>
            </a:r>
            <a:r>
              <a:rPr lang="en-US" sz="2000" dirty="0" err="1"/>
              <a:t>arr</a:t>
            </a:r>
            <a:r>
              <a:rPr lang="en-US" sz="2000" dirty="0"/>
              <a:t> &gt; 20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arr</a:t>
            </a:r>
            <a:r>
              <a:rPr lang="en-US" sz="2000" dirty="0"/>
              <a:t>[mask])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Output:</a:t>
            </a:r>
            <a:br>
              <a:rPr lang="en-US" sz="2000" dirty="0"/>
            </a:br>
            <a:r>
              <a:rPr lang="en-US" sz="2000" dirty="0"/>
              <a:t>[25 30 50]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CF752-4EF7-D23F-7A57-EFCC664206C4}"/>
              </a:ext>
            </a:extLst>
          </p:cNvPr>
          <p:cNvSpPr txBox="1"/>
          <p:nvPr/>
        </p:nvSpPr>
        <p:spPr>
          <a:xfrm>
            <a:off x="2954740" y="7467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Masking </a:t>
            </a:r>
            <a:r>
              <a:rPr lang="en-GB" sz="2400" dirty="0"/>
              <a:t>(Boolean Filtering)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B7531-4ACB-A854-A238-E47FD74731C2}"/>
              </a:ext>
            </a:extLst>
          </p:cNvPr>
          <p:cNvSpPr txBox="1"/>
          <p:nvPr/>
        </p:nvSpPr>
        <p:spPr>
          <a:xfrm>
            <a:off x="4937725" y="3399002"/>
            <a:ext cx="2901576" cy="28623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Aggregate Functions</a:t>
            </a:r>
          </a:p>
          <a:p>
            <a:pPr rtl="0">
              <a:buNone/>
            </a:pPr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([10,20,30])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a.mean</a:t>
            </a:r>
            <a:r>
              <a:rPr lang="en-US" sz="2000" dirty="0"/>
              <a:t>())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a.max</a:t>
            </a:r>
            <a:r>
              <a:rPr lang="en-US" sz="2000" dirty="0"/>
              <a:t>())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a.min</a:t>
            </a:r>
            <a:r>
              <a:rPr lang="en-US" sz="2000" dirty="0"/>
              <a:t>())</a:t>
            </a:r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20.0</a:t>
            </a:r>
          </a:p>
          <a:p>
            <a:pPr rtl="0">
              <a:buNone/>
            </a:pPr>
            <a:r>
              <a:rPr lang="en-US" sz="2000" dirty="0"/>
              <a:t>30</a:t>
            </a:r>
          </a:p>
          <a:p>
            <a:pPr rtl="0">
              <a:buNone/>
            </a:pPr>
            <a:r>
              <a:rPr lang="en-US" sz="2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086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BE1FDFE-5A89-1EB4-B37A-707278779EDB}"/>
              </a:ext>
            </a:extLst>
          </p:cNvPr>
          <p:cNvSpPr txBox="1"/>
          <p:nvPr/>
        </p:nvSpPr>
        <p:spPr>
          <a:xfrm>
            <a:off x="542475" y="1014019"/>
            <a:ext cx="73254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operate on arrays element-wise → much faster than Python loops.</a:t>
            </a:r>
            <a:endParaRPr lang="en-GB" sz="2000" dirty="0"/>
          </a:p>
          <a:p>
            <a:pPr>
              <a:buNone/>
            </a:pPr>
            <a:r>
              <a:rPr lang="en-GB" sz="2000" dirty="0"/>
              <a:t>Common </a:t>
            </a:r>
            <a:r>
              <a:rPr lang="en-GB" sz="2000" dirty="0" err="1"/>
              <a:t>ufuncs</a:t>
            </a:r>
            <a:r>
              <a:rPr lang="en-GB" sz="2000" dirty="0"/>
              <a:t>: </a:t>
            </a:r>
            <a:r>
              <a:rPr lang="en-GB" sz="2000" dirty="0" err="1"/>
              <a:t>np.sqrt</a:t>
            </a:r>
            <a:r>
              <a:rPr lang="en-GB" sz="2000" dirty="0"/>
              <a:t>(), </a:t>
            </a:r>
            <a:r>
              <a:rPr lang="en-GB" sz="2000" dirty="0" err="1"/>
              <a:t>np.exp</a:t>
            </a:r>
            <a:r>
              <a:rPr lang="en-GB" sz="2000" dirty="0"/>
              <a:t>(), np.log()</a:t>
            </a:r>
          </a:p>
          <a:p>
            <a:pPr rtl="0">
              <a:buNone/>
            </a:pPr>
            <a:endParaRPr lang="en-GB" sz="2000" dirty="0"/>
          </a:p>
          <a:p>
            <a:pPr rtl="0">
              <a:buNone/>
            </a:pPr>
            <a:r>
              <a:rPr lang="en-GB" sz="2000" dirty="0" err="1"/>
              <a:t>arr</a:t>
            </a:r>
            <a:r>
              <a:rPr lang="en-GB" sz="2000" dirty="0"/>
              <a:t> = </a:t>
            </a:r>
            <a:r>
              <a:rPr lang="en-GB" sz="2000" dirty="0" err="1"/>
              <a:t>np.array</a:t>
            </a:r>
            <a:r>
              <a:rPr lang="en-GB" sz="2000" dirty="0"/>
              <a:t>([1,4,9])</a:t>
            </a:r>
          </a:p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np.sqrt</a:t>
            </a:r>
            <a:r>
              <a:rPr lang="en-GB" sz="2000" dirty="0"/>
              <a:t>(</a:t>
            </a:r>
            <a:r>
              <a:rPr lang="en-GB" sz="2000" dirty="0" err="1"/>
              <a:t>arr</a:t>
            </a:r>
            <a:r>
              <a:rPr lang="en-GB" sz="2000" dirty="0"/>
              <a:t>))</a:t>
            </a:r>
          </a:p>
          <a:p>
            <a:pPr>
              <a:buNone/>
            </a:pPr>
            <a:endParaRPr lang="en-GB" sz="2000" b="1" dirty="0"/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[1. 2. 3.]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6AC5A-0E27-1478-76B8-92E11574411F}"/>
              </a:ext>
            </a:extLst>
          </p:cNvPr>
          <p:cNvSpPr txBox="1"/>
          <p:nvPr/>
        </p:nvSpPr>
        <p:spPr>
          <a:xfrm>
            <a:off x="4028542" y="2864464"/>
            <a:ext cx="3907631" cy="3477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Speed Test:</a:t>
            </a:r>
          </a:p>
          <a:p>
            <a:pPr rtl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pPr rtl="0">
              <a:buNone/>
            </a:pPr>
            <a:r>
              <a:rPr lang="en-US" sz="2000" dirty="0"/>
              <a:t>import time</a:t>
            </a:r>
          </a:p>
          <a:p>
            <a:pPr rtl="0">
              <a:buNone/>
            </a:pPr>
            <a:endParaRPr lang="en-US" sz="2000" dirty="0"/>
          </a:p>
          <a:p>
            <a:pPr rtl="0">
              <a:buNone/>
            </a:pPr>
            <a:r>
              <a:rPr lang="en-US" sz="2000" dirty="0"/>
              <a:t>a = </a:t>
            </a:r>
            <a:r>
              <a:rPr lang="en-US" sz="2000" dirty="0" err="1"/>
              <a:t>np.arange</a:t>
            </a:r>
            <a:r>
              <a:rPr lang="en-US" sz="2000" dirty="0"/>
              <a:t>(1000000)</a:t>
            </a:r>
          </a:p>
          <a:p>
            <a:pPr rtl="0">
              <a:buNone/>
            </a:pPr>
            <a:r>
              <a:rPr lang="en-US" sz="2000" dirty="0"/>
              <a:t>start = </a:t>
            </a:r>
            <a:r>
              <a:rPr lang="en-US" sz="2000" dirty="0" err="1"/>
              <a:t>time.time</a:t>
            </a:r>
            <a:r>
              <a:rPr lang="en-US" sz="2000" dirty="0"/>
              <a:t>()</a:t>
            </a:r>
          </a:p>
          <a:p>
            <a:pPr rtl="0">
              <a:buNone/>
            </a:pPr>
            <a:r>
              <a:rPr lang="en-US" sz="2000" dirty="0"/>
              <a:t>a = a + 5</a:t>
            </a:r>
          </a:p>
          <a:p>
            <a:pPr rtl="0">
              <a:buNone/>
            </a:pPr>
            <a:r>
              <a:rPr lang="en-US" sz="2000" dirty="0"/>
              <a:t>print("Time:", </a:t>
            </a:r>
            <a:r>
              <a:rPr lang="en-US" sz="2000" dirty="0" err="1"/>
              <a:t>time.time</a:t>
            </a:r>
            <a:r>
              <a:rPr lang="en-US" sz="2000" dirty="0"/>
              <a:t>()-start)</a:t>
            </a:r>
          </a:p>
          <a:p>
            <a:pPr rtl="0"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Output Example: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Time: 0.005 seconds  (very fast!)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C709E-E557-9FD1-83F6-02CB9C0D7843}"/>
              </a:ext>
            </a:extLst>
          </p:cNvPr>
          <p:cNvSpPr txBox="1"/>
          <p:nvPr/>
        </p:nvSpPr>
        <p:spPr>
          <a:xfrm>
            <a:off x="2884796" y="368068"/>
            <a:ext cx="4102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Ufuncs</a:t>
            </a:r>
            <a:r>
              <a:rPr lang="en-US" sz="2400" b="1" dirty="0"/>
              <a:t> (universal functions)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40712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4288A-25DE-C027-2939-51CE5F9C4ECE}"/>
              </a:ext>
            </a:extLst>
          </p:cNvPr>
          <p:cNvSpPr txBox="1"/>
          <p:nvPr/>
        </p:nvSpPr>
        <p:spPr>
          <a:xfrm>
            <a:off x="370500" y="1195258"/>
            <a:ext cx="3792068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 err="1"/>
              <a:t>Ufuncs</a:t>
            </a:r>
            <a:r>
              <a:rPr lang="en-US" sz="2000" dirty="0"/>
              <a:t> support arithmetic operations on full arrays easily &amp; quickly.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Add, Sum &amp; Plus</a:t>
            </a:r>
          </a:p>
          <a:p>
            <a:pPr rtl="0">
              <a:buNone/>
            </a:pPr>
            <a:r>
              <a:rPr lang="en-US" sz="2000" dirty="0"/>
              <a:t>x = </a:t>
            </a:r>
            <a:r>
              <a:rPr lang="en-US" sz="2000" dirty="0" err="1"/>
              <a:t>np.array</a:t>
            </a:r>
            <a:r>
              <a:rPr lang="en-US" sz="2000" dirty="0"/>
              <a:t>([10,20,30])</a:t>
            </a:r>
          </a:p>
          <a:p>
            <a:pPr rtl="0">
              <a:buNone/>
            </a:pPr>
            <a:r>
              <a:rPr lang="en-US" sz="2000" dirty="0"/>
              <a:t>y = </a:t>
            </a:r>
            <a:r>
              <a:rPr lang="en-US" sz="2000" dirty="0" err="1"/>
              <a:t>np.array</a:t>
            </a:r>
            <a:r>
              <a:rPr lang="en-US" sz="2000" dirty="0"/>
              <a:t>([1,2,3])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x+y</a:t>
            </a:r>
            <a:r>
              <a:rPr lang="en-US" sz="2000" dirty="0"/>
              <a:t>)</a:t>
            </a:r>
          </a:p>
          <a:p>
            <a:pPr rtl="0">
              <a:buNone/>
            </a:pPr>
            <a:r>
              <a:rPr lang="en-US" sz="2000" dirty="0"/>
              <a:t>print(x*y)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np.sum</a:t>
            </a:r>
            <a:r>
              <a:rPr lang="en-US" sz="2000" dirty="0"/>
              <a:t>(x))</a:t>
            </a:r>
          </a:p>
          <a:p>
            <a:pPr rtl="0"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[11 22 33]</a:t>
            </a:r>
          </a:p>
          <a:p>
            <a:pPr rtl="0">
              <a:buNone/>
            </a:pPr>
            <a:r>
              <a:rPr lang="en-US" sz="2000" dirty="0"/>
              <a:t>[10 40 90]</a:t>
            </a:r>
          </a:p>
          <a:p>
            <a:pPr rtl="0">
              <a:buNone/>
            </a:pPr>
            <a:r>
              <a:rPr lang="en-US" sz="2000" dirty="0"/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E0114-8861-AB11-4EAC-BA993D344056}"/>
              </a:ext>
            </a:extLst>
          </p:cNvPr>
          <p:cNvSpPr txBox="1"/>
          <p:nvPr/>
        </p:nvSpPr>
        <p:spPr>
          <a:xfrm>
            <a:off x="4843885" y="1172750"/>
            <a:ext cx="3999864" cy="5016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Math </a:t>
            </a:r>
            <a:r>
              <a:rPr lang="en-US" sz="2000" dirty="0" err="1"/>
              <a:t>ufuncs</a:t>
            </a:r>
            <a:r>
              <a:rPr lang="en-US" sz="2000" dirty="0"/>
              <a:t> can perform exponent &amp; modular (remainder) operations efficiently.</a:t>
            </a:r>
          </a:p>
          <a:p>
            <a:pPr>
              <a:buNone/>
            </a:pPr>
            <a:endParaRPr lang="en-GB" sz="2000" b="1" dirty="0"/>
          </a:p>
          <a:p>
            <a:pPr>
              <a:buNone/>
            </a:pPr>
            <a:r>
              <a:rPr lang="en-GB" sz="2000" b="1" dirty="0"/>
              <a:t>Subtract, Power, Mod</a:t>
            </a:r>
          </a:p>
          <a:p>
            <a:pPr rtl="0">
              <a:buNone/>
            </a:pPr>
            <a:r>
              <a:rPr lang="en-GB" sz="2000" dirty="0"/>
              <a:t>a = </a:t>
            </a:r>
            <a:r>
              <a:rPr lang="en-GB" sz="2000" dirty="0" err="1"/>
              <a:t>np.array</a:t>
            </a:r>
            <a:r>
              <a:rPr lang="en-GB" sz="2000" dirty="0"/>
              <a:t>([10,20])</a:t>
            </a:r>
          </a:p>
          <a:p>
            <a:pPr rtl="0">
              <a:buNone/>
            </a:pPr>
            <a:r>
              <a:rPr lang="en-GB" sz="2000" dirty="0"/>
              <a:t>b = </a:t>
            </a:r>
            <a:r>
              <a:rPr lang="en-GB" sz="2000" dirty="0" err="1"/>
              <a:t>np.array</a:t>
            </a:r>
            <a:r>
              <a:rPr lang="en-GB" sz="2000" dirty="0"/>
              <a:t>([3,2])</a:t>
            </a:r>
          </a:p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np.subtract</a:t>
            </a:r>
            <a:r>
              <a:rPr lang="en-GB" sz="2000" dirty="0"/>
              <a:t>(</a:t>
            </a:r>
            <a:r>
              <a:rPr lang="en-GB" sz="2000" dirty="0" err="1"/>
              <a:t>a,b</a:t>
            </a:r>
            <a:r>
              <a:rPr lang="en-GB" sz="2000" dirty="0"/>
              <a:t>))</a:t>
            </a:r>
          </a:p>
          <a:p>
            <a:pPr rtl="0">
              <a:buNone/>
            </a:pPr>
            <a:r>
              <a:rPr lang="en-GB" sz="2000" dirty="0"/>
              <a:t>print(</a:t>
            </a:r>
            <a:r>
              <a:rPr lang="en-GB" sz="2000" dirty="0" err="1"/>
              <a:t>np.power</a:t>
            </a:r>
            <a:r>
              <a:rPr lang="en-GB" sz="2000" dirty="0"/>
              <a:t>(a,2))</a:t>
            </a:r>
          </a:p>
          <a:p>
            <a:pPr rtl="0">
              <a:buNone/>
            </a:pPr>
            <a:r>
              <a:rPr lang="en-GB" sz="2000" dirty="0"/>
              <a:t>print(np.mod(</a:t>
            </a:r>
            <a:r>
              <a:rPr lang="en-GB" sz="2000" dirty="0" err="1"/>
              <a:t>a,b</a:t>
            </a:r>
            <a:r>
              <a:rPr lang="en-GB" sz="2000" dirty="0"/>
              <a:t>))</a:t>
            </a:r>
          </a:p>
          <a:p>
            <a:pPr rtl="0">
              <a:buNone/>
            </a:pPr>
            <a:endParaRPr lang="en-GB" sz="2000" dirty="0"/>
          </a:p>
          <a:p>
            <a:pPr>
              <a:buNone/>
            </a:pPr>
            <a:r>
              <a:rPr lang="en-GB" sz="2000" b="1" dirty="0"/>
              <a:t>Output: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[7 18]</a:t>
            </a:r>
          </a:p>
          <a:p>
            <a:pPr rtl="0">
              <a:buNone/>
            </a:pPr>
            <a:r>
              <a:rPr lang="en-GB" sz="2000" dirty="0"/>
              <a:t>[100 400]</a:t>
            </a:r>
          </a:p>
          <a:p>
            <a:pPr rtl="0">
              <a:buNone/>
            </a:pPr>
            <a:r>
              <a:rPr lang="en-GB" sz="2000" dirty="0"/>
              <a:t>[1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C69D1-F9E8-8732-04DB-FEE2AE1C6046}"/>
              </a:ext>
            </a:extLst>
          </p:cNvPr>
          <p:cNvSpPr txBox="1"/>
          <p:nvPr/>
        </p:nvSpPr>
        <p:spPr>
          <a:xfrm>
            <a:off x="2913797" y="467014"/>
            <a:ext cx="3882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Mathematical Operations</a:t>
            </a:r>
          </a:p>
        </p:txBody>
      </p:sp>
    </p:spTree>
    <p:extLst>
      <p:ext uri="{BB962C8B-B14F-4D97-AF65-F5344CB8AC3E}">
        <p14:creationId xmlns:p14="http://schemas.microsoft.com/office/powerpoint/2010/main" val="254074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A866E8-ACCB-D8B4-B054-B0A8D532E5EC}"/>
              </a:ext>
            </a:extLst>
          </p:cNvPr>
          <p:cNvSpPr txBox="1"/>
          <p:nvPr/>
        </p:nvSpPr>
        <p:spPr>
          <a:xfrm>
            <a:off x="2040341" y="589844"/>
            <a:ext cx="4858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Comparisons &amp; Logical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5BDB0-9CC4-2E79-F073-BA37D32E326E}"/>
              </a:ext>
            </a:extLst>
          </p:cNvPr>
          <p:cNvSpPr txBox="1"/>
          <p:nvPr/>
        </p:nvSpPr>
        <p:spPr>
          <a:xfrm>
            <a:off x="1248770" y="1385797"/>
            <a:ext cx="6926239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Used for decision making in ML models, data filtering, etc.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Code:</a:t>
            </a:r>
            <a:endParaRPr lang="en-US" sz="2000" dirty="0"/>
          </a:p>
          <a:p>
            <a:pPr rtl="0">
              <a:buNone/>
            </a:pPr>
            <a:r>
              <a:rPr lang="en-US" sz="2000" dirty="0" err="1"/>
              <a:t>arr</a:t>
            </a:r>
            <a:r>
              <a:rPr lang="en-US" sz="2000" dirty="0"/>
              <a:t> = </a:t>
            </a:r>
            <a:r>
              <a:rPr lang="en-US" sz="2000" dirty="0" err="1"/>
              <a:t>np.array</a:t>
            </a:r>
            <a:r>
              <a:rPr lang="en-US" sz="2000" dirty="0"/>
              <a:t>([5,10,15])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arr</a:t>
            </a:r>
            <a:r>
              <a:rPr lang="en-US" sz="2000" dirty="0"/>
              <a:t>&gt;10)</a:t>
            </a:r>
          </a:p>
          <a:p>
            <a:pPr rtl="0">
              <a:buNone/>
            </a:pPr>
            <a:r>
              <a:rPr lang="en-US" sz="2000" dirty="0"/>
              <a:t>print(</a:t>
            </a:r>
            <a:r>
              <a:rPr lang="en-US" sz="2000" dirty="0" err="1"/>
              <a:t>np.logical_and</a:t>
            </a:r>
            <a:r>
              <a:rPr lang="en-US" sz="2000" dirty="0"/>
              <a:t>(</a:t>
            </a:r>
            <a:r>
              <a:rPr lang="en-US" sz="2000" dirty="0" err="1"/>
              <a:t>arr</a:t>
            </a:r>
            <a:r>
              <a:rPr lang="en-US" sz="2000" dirty="0"/>
              <a:t>&gt;5, </a:t>
            </a:r>
            <a:r>
              <a:rPr lang="en-US" sz="2000" dirty="0" err="1"/>
              <a:t>arr</a:t>
            </a:r>
            <a:r>
              <a:rPr lang="en-US" sz="2000" dirty="0"/>
              <a:t>&lt;15))</a:t>
            </a:r>
          </a:p>
          <a:p>
            <a:pPr rtl="0">
              <a:buNone/>
            </a:pPr>
            <a:endParaRPr lang="en-US" sz="2000" dirty="0"/>
          </a:p>
          <a:p>
            <a:r>
              <a:rPr lang="da-DK" sz="2000" b="1" dirty="0"/>
              <a:t>Output:</a:t>
            </a:r>
            <a:endParaRPr lang="da-DK" sz="2000" dirty="0"/>
          </a:p>
          <a:p>
            <a:r>
              <a:rPr lang="da-DK" sz="2000" dirty="0"/>
              <a:t>[False False  True]</a:t>
            </a:r>
          </a:p>
          <a:p>
            <a:r>
              <a:rPr lang="da-DK" sz="2000" dirty="0"/>
              <a:t>[False  True False]</a:t>
            </a:r>
          </a:p>
        </p:txBody>
      </p:sp>
    </p:spTree>
    <p:extLst>
      <p:ext uri="{BB962C8B-B14F-4D97-AF65-F5344CB8AC3E}">
        <p14:creationId xmlns:p14="http://schemas.microsoft.com/office/powerpoint/2010/main" val="3423960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5B96A7F-517B-7CE6-D6D9-1B5B90AC009F}"/>
              </a:ext>
            </a:extLst>
          </p:cNvPr>
          <p:cNvSpPr txBox="1"/>
          <p:nvPr/>
        </p:nvSpPr>
        <p:spPr>
          <a:xfrm>
            <a:off x="987168" y="1584224"/>
            <a:ext cx="7269728" cy="3754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We can store results directly in an existing array → saves memory.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Code:</a:t>
            </a:r>
            <a:endParaRPr lang="en-US" sz="2000" dirty="0"/>
          </a:p>
          <a:p>
            <a:pPr rtl="0">
              <a:buNone/>
            </a:pPr>
            <a:r>
              <a:rPr lang="en-US" sz="2000" dirty="0"/>
              <a:t>a = </a:t>
            </a:r>
            <a:r>
              <a:rPr lang="en-US" sz="2000" dirty="0" err="1"/>
              <a:t>np.array</a:t>
            </a:r>
            <a:r>
              <a:rPr lang="en-US" sz="2000" dirty="0"/>
              <a:t>([1,2,3])</a:t>
            </a:r>
          </a:p>
          <a:p>
            <a:pPr rtl="0">
              <a:buNone/>
            </a:pPr>
            <a:r>
              <a:rPr lang="en-US" sz="2000" dirty="0"/>
              <a:t>b = </a:t>
            </a:r>
            <a:r>
              <a:rPr lang="en-US" sz="2000" dirty="0" err="1"/>
              <a:t>np.array</a:t>
            </a:r>
            <a:r>
              <a:rPr lang="en-US" sz="2000" dirty="0"/>
              <a:t>([4,5,6])</a:t>
            </a:r>
          </a:p>
          <a:p>
            <a:pPr rtl="0">
              <a:buNone/>
            </a:pPr>
            <a:r>
              <a:rPr lang="en-US" sz="2000" dirty="0"/>
              <a:t>out = </a:t>
            </a:r>
            <a:r>
              <a:rPr lang="en-US" sz="2000" dirty="0" err="1"/>
              <a:t>np.empty</a:t>
            </a:r>
            <a:r>
              <a:rPr lang="en-US" sz="2000" dirty="0"/>
              <a:t>(3)</a:t>
            </a:r>
          </a:p>
          <a:p>
            <a:pPr rtl="0">
              <a:buNone/>
            </a:pPr>
            <a:r>
              <a:rPr lang="en-US" sz="2000" dirty="0" err="1"/>
              <a:t>np.add</a:t>
            </a:r>
            <a:r>
              <a:rPr lang="en-US" sz="2000" dirty="0"/>
              <a:t>(</a:t>
            </a:r>
            <a:r>
              <a:rPr lang="en-US" sz="2000" dirty="0" err="1"/>
              <a:t>a,b,out</a:t>
            </a:r>
            <a:r>
              <a:rPr lang="en-US" sz="2000" dirty="0"/>
              <a:t>=out)</a:t>
            </a:r>
          </a:p>
          <a:p>
            <a:pPr rtl="0">
              <a:buNone/>
            </a:pPr>
            <a:r>
              <a:rPr lang="en-US" sz="2000" dirty="0"/>
              <a:t>print(out)</a:t>
            </a:r>
          </a:p>
          <a:p>
            <a:pPr rtl="0">
              <a:buNone/>
            </a:pPr>
            <a:endParaRPr lang="en-US" sz="2000" dirty="0"/>
          </a:p>
          <a:p>
            <a:r>
              <a:rPr lang="en-GB" sz="2000" b="1" dirty="0"/>
              <a:t>Output:</a:t>
            </a:r>
            <a:endParaRPr lang="en-GB" sz="2000" dirty="0"/>
          </a:p>
          <a:p>
            <a:r>
              <a:rPr lang="en-GB" sz="2000" dirty="0"/>
              <a:t>[5. 7. 9.]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93F53-9D04-1CF4-3FE1-E10DC3C6B95B}"/>
              </a:ext>
            </a:extLst>
          </p:cNvPr>
          <p:cNvSpPr txBox="1"/>
          <p:nvPr/>
        </p:nvSpPr>
        <p:spPr>
          <a:xfrm>
            <a:off x="3098040" y="507958"/>
            <a:ext cx="2756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Output Argument</a:t>
            </a:r>
          </a:p>
        </p:txBody>
      </p:sp>
    </p:spTree>
    <p:extLst>
      <p:ext uri="{BB962C8B-B14F-4D97-AF65-F5344CB8AC3E}">
        <p14:creationId xmlns:p14="http://schemas.microsoft.com/office/powerpoint/2010/main" val="2537670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5E21C6A-7CDC-FBBB-4FE0-7B4566501107}"/>
              </a:ext>
            </a:extLst>
          </p:cNvPr>
          <p:cNvSpPr txBox="1"/>
          <p:nvPr/>
        </p:nvSpPr>
        <p:spPr>
          <a:xfrm>
            <a:off x="1044054" y="847381"/>
            <a:ext cx="7482673" cy="5324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Explanation:</a:t>
            </a:r>
            <a:br>
              <a:rPr lang="en-US" sz="2000" dirty="0"/>
            </a:br>
            <a:r>
              <a:rPr lang="en-US" sz="2000" dirty="0"/>
              <a:t>Stores mixed data types like database rows (ID, Name, Marks).</a:t>
            </a:r>
            <a:br>
              <a:rPr lang="en-US" sz="2000" dirty="0"/>
            </a:br>
            <a:r>
              <a:rPr lang="en-US" sz="2000" dirty="0"/>
              <a:t>Useful for scientific datasets.</a:t>
            </a:r>
          </a:p>
          <a:p>
            <a:r>
              <a:rPr lang="en-US" sz="2000" dirty="0"/>
              <a:t>Used to store </a:t>
            </a:r>
            <a:r>
              <a:rPr lang="en-US" sz="2000" b="1" dirty="0"/>
              <a:t>heterogeneous data</a:t>
            </a:r>
            <a:r>
              <a:rPr lang="en-US" sz="2000" dirty="0"/>
              <a:t> (like a table)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b="1" dirty="0"/>
              <a:t>Code:</a:t>
            </a:r>
            <a:endParaRPr lang="en-GB" sz="2000" dirty="0"/>
          </a:p>
          <a:p>
            <a:pPr rtl="0">
              <a:buNone/>
            </a:pPr>
            <a:r>
              <a:rPr lang="en-GB" sz="2000" dirty="0"/>
              <a:t>data = </a:t>
            </a:r>
            <a:r>
              <a:rPr lang="en-GB" sz="2000" dirty="0" err="1"/>
              <a:t>np.array</a:t>
            </a:r>
            <a:r>
              <a:rPr lang="en-GB" sz="2000" dirty="0"/>
              <a:t>([</a:t>
            </a:r>
          </a:p>
          <a:p>
            <a:pPr rtl="0">
              <a:buNone/>
            </a:pPr>
            <a:r>
              <a:rPr lang="en-GB" sz="2000" dirty="0"/>
              <a:t>		(1,'Alice',85.5),</a:t>
            </a:r>
          </a:p>
          <a:p>
            <a:pPr rtl="0">
              <a:buNone/>
            </a:pPr>
            <a:r>
              <a:rPr lang="en-GB" sz="2000" dirty="0"/>
              <a:t>		(2,'Bob',90.0)</a:t>
            </a:r>
          </a:p>
          <a:p>
            <a:pPr rtl="0">
              <a:buNone/>
            </a:pPr>
            <a:r>
              <a:rPr lang="en-GB" sz="2000" dirty="0"/>
              <a:t>	], </a:t>
            </a:r>
            <a:r>
              <a:rPr lang="en-GB" sz="2000" dirty="0" err="1"/>
              <a:t>dtype</a:t>
            </a:r>
            <a:r>
              <a:rPr lang="en-GB" sz="2000" dirty="0"/>
              <a:t>=[('id','i4'),('name','U10'),('marks','f4’)])</a:t>
            </a:r>
          </a:p>
          <a:p>
            <a:pPr rtl="0">
              <a:buNone/>
            </a:pPr>
            <a:endParaRPr lang="en-GB" sz="2000" dirty="0"/>
          </a:p>
          <a:p>
            <a:r>
              <a:rPr lang="nn-NO" sz="2000" dirty="0"/>
              <a:t>print(data['name'])</a:t>
            </a:r>
          </a:p>
          <a:p>
            <a:r>
              <a:rPr lang="nn-NO" sz="2000" dirty="0"/>
              <a:t>print(data['marks’])</a:t>
            </a:r>
          </a:p>
          <a:p>
            <a:endParaRPr lang="en-GB" sz="2000" dirty="0"/>
          </a:p>
          <a:p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['Alice' 'Bob']</a:t>
            </a:r>
          </a:p>
          <a:p>
            <a:r>
              <a:rPr lang="en-US" sz="2000" dirty="0"/>
              <a:t>[85.5 90.]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81F31-07FB-D7DD-7331-B5287F5D63D3}"/>
              </a:ext>
            </a:extLst>
          </p:cNvPr>
          <p:cNvSpPr txBox="1"/>
          <p:nvPr/>
        </p:nvSpPr>
        <p:spPr>
          <a:xfrm>
            <a:off x="3186752" y="275945"/>
            <a:ext cx="3193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Structured Arrays</a:t>
            </a:r>
          </a:p>
        </p:txBody>
      </p:sp>
    </p:spTree>
    <p:extLst>
      <p:ext uri="{BB962C8B-B14F-4D97-AF65-F5344CB8AC3E}">
        <p14:creationId xmlns:p14="http://schemas.microsoft.com/office/powerpoint/2010/main" val="1813757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B634AF-4C37-F0A5-3329-0B933C6EE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729456"/>
              </p:ext>
            </p:extLst>
          </p:nvPr>
        </p:nvGraphicFramePr>
        <p:xfrm>
          <a:off x="1290567" y="1372735"/>
          <a:ext cx="6038282" cy="3566160"/>
        </p:xfrm>
        <a:graphic>
          <a:graphicData uri="http://schemas.openxmlformats.org/drawingml/2006/table">
            <a:tbl>
              <a:tblPr/>
              <a:tblGrid>
                <a:gridCol w="3019141">
                  <a:extLst>
                    <a:ext uri="{9D8B030D-6E8A-4147-A177-3AD203B41FA5}">
                      <a16:colId xmlns:a16="http://schemas.microsoft.com/office/drawing/2014/main" val="1404297911"/>
                    </a:ext>
                  </a:extLst>
                </a:gridCol>
                <a:gridCol w="3019141">
                  <a:extLst>
                    <a:ext uri="{9D8B030D-6E8A-4147-A177-3AD203B41FA5}">
                      <a16:colId xmlns:a16="http://schemas.microsoft.com/office/drawing/2014/main" val="2023560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Why it matters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968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Array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Fast data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52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Masking &amp; slicing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Data cleaning &amp;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29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Ufuncs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Vectorized mathematics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34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Broadcasting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Avoid loops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456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Reshape, random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ML inputs &amp; simulations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2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Image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Computer vision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50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KNN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Intro to 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7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Structured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Scientific data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62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651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E30AD-4CCC-F11D-F503-3739B155604D}"/>
              </a:ext>
            </a:extLst>
          </p:cNvPr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Practical Example 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3EE15-6FB7-9C7E-2204-5E1DC7F32C34}"/>
              </a:ext>
            </a:extLst>
          </p:cNvPr>
          <p:cNvSpPr txBox="1"/>
          <p:nvPr/>
        </p:nvSpPr>
        <p:spPr>
          <a:xfrm>
            <a:off x="34120" y="2202191"/>
            <a:ext cx="4300752" cy="26632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Compute Student Scores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marks = </a:t>
            </a:r>
            <a:r>
              <a:rPr lang="en-US" sz="2000" dirty="0" err="1"/>
              <a:t>np.array</a:t>
            </a:r>
            <a:r>
              <a:rPr lang="en-US" sz="2000" dirty="0"/>
              <a:t>([75,82,90,68,95])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print("Average:", </a:t>
            </a:r>
            <a:r>
              <a:rPr lang="en-US" sz="2000" dirty="0" err="1"/>
              <a:t>marks.mean</a:t>
            </a:r>
            <a:r>
              <a:rPr lang="en-US" sz="2000" dirty="0"/>
              <a:t>())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print("Highest:", </a:t>
            </a:r>
            <a:r>
              <a:rPr lang="en-US" sz="2000" dirty="0" err="1"/>
              <a:t>marks.max</a:t>
            </a:r>
            <a:r>
              <a:rPr lang="en-US" sz="2000" dirty="0"/>
              <a:t>())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Output: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Average: 82.0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Highest: 95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8560E-216F-4A17-B6CA-A63CD4E41B15}"/>
              </a:ext>
            </a:extLst>
          </p:cNvPr>
          <p:cNvSpPr txBox="1"/>
          <p:nvPr/>
        </p:nvSpPr>
        <p:spPr>
          <a:xfrm>
            <a:off x="4087504" y="2206491"/>
            <a:ext cx="4790365" cy="26314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GB" sz="2000" b="1" dirty="0"/>
              <a:t>Playing with Images</a:t>
            </a:r>
          </a:p>
          <a:p>
            <a:pPr>
              <a:spcAft>
                <a:spcPts val="600"/>
              </a:spcAft>
              <a:buNone/>
            </a:pPr>
            <a:r>
              <a:rPr lang="en-GB" sz="2000" dirty="0"/>
              <a:t>Images are </a:t>
            </a:r>
            <a:r>
              <a:rPr lang="en-GB" sz="2000" b="1" dirty="0"/>
              <a:t>NumPy pixel arrays</a:t>
            </a:r>
            <a:br>
              <a:rPr lang="en-GB" sz="2000" dirty="0"/>
            </a:br>
            <a:r>
              <a:rPr lang="en-GB" sz="2000" dirty="0"/>
              <a:t>Editing array → edits image</a:t>
            </a:r>
          </a:p>
          <a:p>
            <a:pPr>
              <a:spcAft>
                <a:spcPts val="600"/>
              </a:spcAft>
              <a:buNone/>
            </a:pPr>
            <a:r>
              <a:rPr lang="en-GB" sz="2000" b="1" dirty="0"/>
              <a:t>Code:</a:t>
            </a:r>
            <a:endParaRPr lang="en-GB" sz="2000" dirty="0"/>
          </a:p>
          <a:p>
            <a:pPr rtl="0">
              <a:spcAft>
                <a:spcPts val="600"/>
              </a:spcAft>
              <a:buNone/>
            </a:pPr>
            <a:r>
              <a:rPr lang="en-GB" sz="2000" dirty="0" err="1"/>
              <a:t>img</a:t>
            </a:r>
            <a:r>
              <a:rPr lang="en-GB" sz="2000" dirty="0"/>
              <a:t> = </a:t>
            </a:r>
            <a:r>
              <a:rPr lang="en-GB" sz="2000" dirty="0" err="1"/>
              <a:t>np.random.randint</a:t>
            </a:r>
            <a:r>
              <a:rPr lang="en-GB" sz="2000" dirty="0"/>
              <a:t>(0,255,(100,100))</a:t>
            </a:r>
          </a:p>
          <a:p>
            <a:pPr rtl="0">
              <a:spcAft>
                <a:spcPts val="600"/>
              </a:spcAft>
              <a:buNone/>
            </a:pPr>
            <a:r>
              <a:rPr lang="en-GB" sz="2000" dirty="0" err="1"/>
              <a:t>plt.imshow</a:t>
            </a:r>
            <a:r>
              <a:rPr lang="en-GB" sz="2000" dirty="0"/>
              <a:t>(</a:t>
            </a:r>
            <a:r>
              <a:rPr lang="en-GB" sz="2000" dirty="0" err="1"/>
              <a:t>img</a:t>
            </a:r>
            <a:r>
              <a:rPr lang="en-GB" sz="2000" dirty="0"/>
              <a:t>, </a:t>
            </a:r>
            <a:r>
              <a:rPr lang="en-GB" sz="2000" dirty="0" err="1"/>
              <a:t>cmap</a:t>
            </a:r>
            <a:r>
              <a:rPr lang="en-GB" sz="2000" dirty="0"/>
              <a:t>='</a:t>
            </a:r>
            <a:r>
              <a:rPr lang="en-GB" sz="2000" dirty="0" err="1"/>
              <a:t>gray</a:t>
            </a:r>
            <a:r>
              <a:rPr lang="en-GB" sz="2000" dirty="0"/>
              <a:t>')</a:t>
            </a:r>
          </a:p>
          <a:p>
            <a:pPr rtl="0">
              <a:spcAft>
                <a:spcPts val="600"/>
              </a:spcAft>
              <a:buNone/>
            </a:pPr>
            <a:r>
              <a:rPr lang="en-GB" sz="2000" dirty="0" err="1"/>
              <a:t>plt.axis</a:t>
            </a:r>
            <a:r>
              <a:rPr lang="en-GB" sz="2000" dirty="0"/>
              <a:t>('off')</a:t>
            </a:r>
          </a:p>
        </p:txBody>
      </p:sp>
    </p:spTree>
    <p:extLst>
      <p:ext uri="{BB962C8B-B14F-4D97-AF65-F5344CB8AC3E}">
        <p14:creationId xmlns:p14="http://schemas.microsoft.com/office/powerpoint/2010/main" val="226555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</TotalTime>
  <Words>1690</Words>
  <Application>Microsoft Office PowerPoint</Application>
  <PresentationFormat>On-screen Show (4:3)</PresentationFormat>
  <Paragraphs>339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 Light</vt:lpstr>
      <vt:lpstr>Office Theme</vt:lpstr>
      <vt:lpstr>Numpy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Sivakumar Krishnamoorthy</dc:creator>
  <cp:lastModifiedBy>Sivakumar Krishnamoorthy</cp:lastModifiedBy>
  <cp:revision>184</cp:revision>
  <dcterms:created xsi:type="dcterms:W3CDTF">2025-11-25T04:35:27Z</dcterms:created>
  <dcterms:modified xsi:type="dcterms:W3CDTF">2025-11-30T15:13:58Z</dcterms:modified>
</cp:coreProperties>
</file>